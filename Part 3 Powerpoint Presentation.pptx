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80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413" autoAdjust="0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7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170102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18" Type="http://schemas.openxmlformats.org/officeDocument/2006/relationships/image" Target="../media/image21.png"/><Relationship Id="rId3" Type="http://schemas.openxmlformats.org/officeDocument/2006/relationships/image" Target="../media/image6.png"/><Relationship Id="rId21" Type="http://schemas.openxmlformats.org/officeDocument/2006/relationships/image" Target="../media/image24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17" Type="http://schemas.openxmlformats.org/officeDocument/2006/relationships/image" Target="../media/image20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9.png"/><Relationship Id="rId20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10" Type="http://schemas.openxmlformats.org/officeDocument/2006/relationships/image" Target="../media/image13.png"/><Relationship Id="rId19" Type="http://schemas.openxmlformats.org/officeDocument/2006/relationships/image" Target="../media/image22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Relationship Id="rId22" Type="http://schemas.openxmlformats.org/officeDocument/2006/relationships/image" Target="../media/image2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5.png"/><Relationship Id="rId18" Type="http://schemas.openxmlformats.org/officeDocument/2006/relationships/image" Target="../media/image40.png"/><Relationship Id="rId3" Type="http://schemas.openxmlformats.org/officeDocument/2006/relationships/image" Target="../media/image6.png"/><Relationship Id="rId7" Type="http://schemas.openxmlformats.org/officeDocument/2006/relationships/image" Target="../media/image29.png"/><Relationship Id="rId12" Type="http://schemas.openxmlformats.org/officeDocument/2006/relationships/image" Target="../media/image34.png"/><Relationship Id="rId17" Type="http://schemas.openxmlformats.org/officeDocument/2006/relationships/image" Target="../media/image39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3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5" Type="http://schemas.openxmlformats.org/officeDocument/2006/relationships/image" Target="../media/image37.png"/><Relationship Id="rId10" Type="http://schemas.openxmlformats.org/officeDocument/2006/relationships/image" Target="../media/image32.png"/><Relationship Id="rId19" Type="http://schemas.openxmlformats.org/officeDocument/2006/relationships/image" Target="../media/image25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Relationship Id="rId14" Type="http://schemas.openxmlformats.org/officeDocument/2006/relationships/image" Target="../media/image3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50.png"/><Relationship Id="rId18" Type="http://schemas.openxmlformats.org/officeDocument/2006/relationships/image" Target="../media/image55.png"/><Relationship Id="rId3" Type="http://schemas.openxmlformats.org/officeDocument/2006/relationships/image" Target="../media/image6.png"/><Relationship Id="rId21" Type="http://schemas.openxmlformats.org/officeDocument/2006/relationships/image" Target="../media/image58.png"/><Relationship Id="rId7" Type="http://schemas.openxmlformats.org/officeDocument/2006/relationships/image" Target="../media/image44.png"/><Relationship Id="rId12" Type="http://schemas.openxmlformats.org/officeDocument/2006/relationships/image" Target="../media/image49.png"/><Relationship Id="rId17" Type="http://schemas.openxmlformats.org/officeDocument/2006/relationships/image" Target="../media/image54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53.png"/><Relationship Id="rId20" Type="http://schemas.openxmlformats.org/officeDocument/2006/relationships/image" Target="../media/image5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11" Type="http://schemas.openxmlformats.org/officeDocument/2006/relationships/image" Target="../media/image48.png"/><Relationship Id="rId24" Type="http://schemas.openxmlformats.org/officeDocument/2006/relationships/image" Target="../media/image25.png"/><Relationship Id="rId5" Type="http://schemas.openxmlformats.org/officeDocument/2006/relationships/image" Target="../media/image42.png"/><Relationship Id="rId15" Type="http://schemas.openxmlformats.org/officeDocument/2006/relationships/image" Target="../media/image52.png"/><Relationship Id="rId23" Type="http://schemas.openxmlformats.org/officeDocument/2006/relationships/image" Target="../media/image60.png"/><Relationship Id="rId10" Type="http://schemas.openxmlformats.org/officeDocument/2006/relationships/image" Target="../media/image47.png"/><Relationship Id="rId19" Type="http://schemas.openxmlformats.org/officeDocument/2006/relationships/image" Target="../media/image56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Relationship Id="rId14" Type="http://schemas.openxmlformats.org/officeDocument/2006/relationships/image" Target="../media/image51.png"/><Relationship Id="rId22" Type="http://schemas.openxmlformats.org/officeDocument/2006/relationships/image" Target="../media/image5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13" Type="http://schemas.openxmlformats.org/officeDocument/2006/relationships/image" Target="../media/image68.png"/><Relationship Id="rId18" Type="http://schemas.openxmlformats.org/officeDocument/2006/relationships/image" Target="../media/image72.png"/><Relationship Id="rId3" Type="http://schemas.openxmlformats.org/officeDocument/2006/relationships/image" Target="../media/image6.png"/><Relationship Id="rId21" Type="http://schemas.openxmlformats.org/officeDocument/2006/relationships/image" Target="../media/image75.png"/><Relationship Id="rId7" Type="http://schemas.openxmlformats.org/officeDocument/2006/relationships/image" Target="../media/image63.png"/><Relationship Id="rId12" Type="http://schemas.openxmlformats.org/officeDocument/2006/relationships/image" Target="../media/image67.png"/><Relationship Id="rId17" Type="http://schemas.openxmlformats.org/officeDocument/2006/relationships/image" Target="../media/image71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48.png"/><Relationship Id="rId20" Type="http://schemas.openxmlformats.org/officeDocument/2006/relationships/image" Target="../media/image7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11" Type="http://schemas.openxmlformats.org/officeDocument/2006/relationships/image" Target="../media/image66.png"/><Relationship Id="rId24" Type="http://schemas.openxmlformats.org/officeDocument/2006/relationships/image" Target="../media/image25.png"/><Relationship Id="rId5" Type="http://schemas.openxmlformats.org/officeDocument/2006/relationships/image" Target="../media/image62.png"/><Relationship Id="rId15" Type="http://schemas.openxmlformats.org/officeDocument/2006/relationships/image" Target="../media/image70.png"/><Relationship Id="rId23" Type="http://schemas.openxmlformats.org/officeDocument/2006/relationships/image" Target="../media/image77.png"/><Relationship Id="rId10" Type="http://schemas.openxmlformats.org/officeDocument/2006/relationships/image" Target="../media/image65.png"/><Relationship Id="rId19" Type="http://schemas.openxmlformats.org/officeDocument/2006/relationships/image" Target="../media/image73.png"/><Relationship Id="rId4" Type="http://schemas.openxmlformats.org/officeDocument/2006/relationships/image" Target="../media/image61.png"/><Relationship Id="rId9" Type="http://schemas.openxmlformats.org/officeDocument/2006/relationships/image" Target="../media/image56.png"/><Relationship Id="rId14" Type="http://schemas.openxmlformats.org/officeDocument/2006/relationships/image" Target="../media/image69.png"/><Relationship Id="rId22" Type="http://schemas.openxmlformats.org/officeDocument/2006/relationships/image" Target="../media/image7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13" Type="http://schemas.openxmlformats.org/officeDocument/2006/relationships/image" Target="../media/image84.png"/><Relationship Id="rId18" Type="http://schemas.openxmlformats.org/officeDocument/2006/relationships/image" Target="../media/image88.png"/><Relationship Id="rId3" Type="http://schemas.openxmlformats.org/officeDocument/2006/relationships/image" Target="../media/image6.png"/><Relationship Id="rId21" Type="http://schemas.openxmlformats.org/officeDocument/2006/relationships/image" Target="../media/image91.png"/><Relationship Id="rId7" Type="http://schemas.openxmlformats.org/officeDocument/2006/relationships/image" Target="../media/image79.png"/><Relationship Id="rId12" Type="http://schemas.openxmlformats.org/officeDocument/2006/relationships/image" Target="../media/image83.png"/><Relationship Id="rId17" Type="http://schemas.openxmlformats.org/officeDocument/2006/relationships/image" Target="../media/image87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86.png"/><Relationship Id="rId20" Type="http://schemas.openxmlformats.org/officeDocument/2006/relationships/image" Target="../media/image9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11" Type="http://schemas.openxmlformats.org/officeDocument/2006/relationships/image" Target="../media/image82.png"/><Relationship Id="rId5" Type="http://schemas.openxmlformats.org/officeDocument/2006/relationships/image" Target="../media/image42.png"/><Relationship Id="rId15" Type="http://schemas.openxmlformats.org/officeDocument/2006/relationships/image" Target="../media/image85.png"/><Relationship Id="rId10" Type="http://schemas.openxmlformats.org/officeDocument/2006/relationships/image" Target="../media/image16.png"/><Relationship Id="rId19" Type="http://schemas.openxmlformats.org/officeDocument/2006/relationships/image" Target="../media/image89.png"/><Relationship Id="rId4" Type="http://schemas.openxmlformats.org/officeDocument/2006/relationships/image" Target="../media/image78.png"/><Relationship Id="rId9" Type="http://schemas.openxmlformats.org/officeDocument/2006/relationships/image" Target="../media/image81.png"/><Relationship Id="rId14" Type="http://schemas.openxmlformats.org/officeDocument/2006/relationships/image" Target="../media/image72.png"/><Relationship Id="rId22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png"/><Relationship Id="rId13" Type="http://schemas.openxmlformats.org/officeDocument/2006/relationships/image" Target="../media/image101.png"/><Relationship Id="rId18" Type="http://schemas.openxmlformats.org/officeDocument/2006/relationships/image" Target="../media/image105.png"/><Relationship Id="rId3" Type="http://schemas.openxmlformats.org/officeDocument/2006/relationships/image" Target="../media/image6.png"/><Relationship Id="rId21" Type="http://schemas.openxmlformats.org/officeDocument/2006/relationships/image" Target="../media/image108.png"/><Relationship Id="rId7" Type="http://schemas.openxmlformats.org/officeDocument/2006/relationships/image" Target="../media/image95.png"/><Relationship Id="rId12" Type="http://schemas.openxmlformats.org/officeDocument/2006/relationships/image" Target="../media/image100.png"/><Relationship Id="rId17" Type="http://schemas.openxmlformats.org/officeDocument/2006/relationships/image" Target="../media/image67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104.png"/><Relationship Id="rId20" Type="http://schemas.openxmlformats.org/officeDocument/2006/relationships/image" Target="../media/image10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4.png"/><Relationship Id="rId11" Type="http://schemas.openxmlformats.org/officeDocument/2006/relationships/image" Target="../media/image99.png"/><Relationship Id="rId5" Type="http://schemas.openxmlformats.org/officeDocument/2006/relationships/image" Target="../media/image93.png"/><Relationship Id="rId15" Type="http://schemas.openxmlformats.org/officeDocument/2006/relationships/image" Target="../media/image103.png"/><Relationship Id="rId23" Type="http://schemas.openxmlformats.org/officeDocument/2006/relationships/image" Target="../media/image25.png"/><Relationship Id="rId10" Type="http://schemas.openxmlformats.org/officeDocument/2006/relationships/image" Target="../media/image98.png"/><Relationship Id="rId19" Type="http://schemas.openxmlformats.org/officeDocument/2006/relationships/image" Target="../media/image106.png"/><Relationship Id="rId4" Type="http://schemas.openxmlformats.org/officeDocument/2006/relationships/image" Target="../media/image92.png"/><Relationship Id="rId9" Type="http://schemas.openxmlformats.org/officeDocument/2006/relationships/image" Target="../media/image97.png"/><Relationship Id="rId14" Type="http://schemas.openxmlformats.org/officeDocument/2006/relationships/image" Target="../media/image102.png"/><Relationship Id="rId22" Type="http://schemas.openxmlformats.org/officeDocument/2006/relationships/image" Target="../media/image10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4.png"/><Relationship Id="rId13" Type="http://schemas.openxmlformats.org/officeDocument/2006/relationships/image" Target="../media/image119.png"/><Relationship Id="rId18" Type="http://schemas.openxmlformats.org/officeDocument/2006/relationships/image" Target="../media/image124.png"/><Relationship Id="rId26" Type="http://schemas.openxmlformats.org/officeDocument/2006/relationships/image" Target="../media/image132.png"/><Relationship Id="rId3" Type="http://schemas.openxmlformats.org/officeDocument/2006/relationships/image" Target="../media/image6.png"/><Relationship Id="rId21" Type="http://schemas.openxmlformats.org/officeDocument/2006/relationships/image" Target="../media/image127.png"/><Relationship Id="rId7" Type="http://schemas.openxmlformats.org/officeDocument/2006/relationships/image" Target="../media/image113.png"/><Relationship Id="rId12" Type="http://schemas.openxmlformats.org/officeDocument/2006/relationships/image" Target="../media/image118.png"/><Relationship Id="rId17" Type="http://schemas.openxmlformats.org/officeDocument/2006/relationships/image" Target="../media/image123.png"/><Relationship Id="rId25" Type="http://schemas.openxmlformats.org/officeDocument/2006/relationships/image" Target="../media/image131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122.png"/><Relationship Id="rId20" Type="http://schemas.openxmlformats.org/officeDocument/2006/relationships/image" Target="../media/image12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2.png"/><Relationship Id="rId11" Type="http://schemas.openxmlformats.org/officeDocument/2006/relationships/image" Target="../media/image117.png"/><Relationship Id="rId24" Type="http://schemas.openxmlformats.org/officeDocument/2006/relationships/image" Target="../media/image130.png"/><Relationship Id="rId5" Type="http://schemas.openxmlformats.org/officeDocument/2006/relationships/image" Target="../media/image111.png"/><Relationship Id="rId15" Type="http://schemas.openxmlformats.org/officeDocument/2006/relationships/image" Target="../media/image121.png"/><Relationship Id="rId23" Type="http://schemas.openxmlformats.org/officeDocument/2006/relationships/image" Target="../media/image129.png"/><Relationship Id="rId28" Type="http://schemas.openxmlformats.org/officeDocument/2006/relationships/image" Target="../media/image25.png"/><Relationship Id="rId10" Type="http://schemas.openxmlformats.org/officeDocument/2006/relationships/image" Target="../media/image116.png"/><Relationship Id="rId19" Type="http://schemas.openxmlformats.org/officeDocument/2006/relationships/image" Target="../media/image125.png"/><Relationship Id="rId4" Type="http://schemas.openxmlformats.org/officeDocument/2006/relationships/image" Target="../media/image110.png"/><Relationship Id="rId9" Type="http://schemas.openxmlformats.org/officeDocument/2006/relationships/image" Target="../media/image115.png"/><Relationship Id="rId14" Type="http://schemas.openxmlformats.org/officeDocument/2006/relationships/image" Target="../media/image120.png"/><Relationship Id="rId22" Type="http://schemas.openxmlformats.org/officeDocument/2006/relationships/image" Target="../media/image128.png"/><Relationship Id="rId27" Type="http://schemas.openxmlformats.org/officeDocument/2006/relationships/image" Target="../media/image13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4.png"/><Relationship Id="rId13" Type="http://schemas.openxmlformats.org/officeDocument/2006/relationships/image" Target="../media/image142.png"/><Relationship Id="rId3" Type="http://schemas.openxmlformats.org/officeDocument/2006/relationships/image" Target="../media/image6.png"/><Relationship Id="rId7" Type="http://schemas.openxmlformats.org/officeDocument/2006/relationships/image" Target="../media/image137.png"/><Relationship Id="rId12" Type="http://schemas.openxmlformats.org/officeDocument/2006/relationships/image" Target="../media/image141.png"/><Relationship Id="rId17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14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6.png"/><Relationship Id="rId11" Type="http://schemas.openxmlformats.org/officeDocument/2006/relationships/image" Target="../media/image140.png"/><Relationship Id="rId5" Type="http://schemas.openxmlformats.org/officeDocument/2006/relationships/image" Target="../media/image135.png"/><Relationship Id="rId15" Type="http://schemas.openxmlformats.org/officeDocument/2006/relationships/image" Target="../media/image144.png"/><Relationship Id="rId10" Type="http://schemas.openxmlformats.org/officeDocument/2006/relationships/image" Target="../media/image139.png"/><Relationship Id="rId4" Type="http://schemas.openxmlformats.org/officeDocument/2006/relationships/image" Target="../media/image134.png"/><Relationship Id="rId9" Type="http://schemas.openxmlformats.org/officeDocument/2006/relationships/image" Target="../media/image138.png"/><Relationship Id="rId14" Type="http://schemas.openxmlformats.org/officeDocument/2006/relationships/image" Target="../media/image14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0.png"/><Relationship Id="rId13" Type="http://schemas.openxmlformats.org/officeDocument/2006/relationships/image" Target="../media/image155.png"/><Relationship Id="rId3" Type="http://schemas.openxmlformats.org/officeDocument/2006/relationships/image" Target="../media/image6.png"/><Relationship Id="rId7" Type="http://schemas.openxmlformats.org/officeDocument/2006/relationships/image" Target="../media/image149.png"/><Relationship Id="rId12" Type="http://schemas.openxmlformats.org/officeDocument/2006/relationships/image" Target="../media/image15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8.png"/><Relationship Id="rId11" Type="http://schemas.openxmlformats.org/officeDocument/2006/relationships/image" Target="../media/image153.png"/><Relationship Id="rId5" Type="http://schemas.openxmlformats.org/officeDocument/2006/relationships/image" Target="../media/image147.png"/><Relationship Id="rId15" Type="http://schemas.openxmlformats.org/officeDocument/2006/relationships/image" Target="../media/image25.png"/><Relationship Id="rId10" Type="http://schemas.openxmlformats.org/officeDocument/2006/relationships/image" Target="../media/image152.png"/><Relationship Id="rId4" Type="http://schemas.openxmlformats.org/officeDocument/2006/relationships/image" Target="../media/image146.png"/><Relationship Id="rId9" Type="http://schemas.openxmlformats.org/officeDocument/2006/relationships/image" Target="../media/image151.png"/><Relationship Id="rId14" Type="http://schemas.openxmlformats.org/officeDocument/2006/relationships/image" Target="../media/image15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1.png"/><Relationship Id="rId13" Type="http://schemas.openxmlformats.org/officeDocument/2006/relationships/image" Target="../media/image166.png"/><Relationship Id="rId18" Type="http://schemas.openxmlformats.org/officeDocument/2006/relationships/image" Target="../media/image25.png"/><Relationship Id="rId3" Type="http://schemas.openxmlformats.org/officeDocument/2006/relationships/image" Target="../media/image6.png"/><Relationship Id="rId7" Type="http://schemas.openxmlformats.org/officeDocument/2006/relationships/image" Target="../media/image160.png"/><Relationship Id="rId12" Type="http://schemas.openxmlformats.org/officeDocument/2006/relationships/image" Target="../media/image165.png"/><Relationship Id="rId17" Type="http://schemas.openxmlformats.org/officeDocument/2006/relationships/image" Target="../media/image170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16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9.png"/><Relationship Id="rId11" Type="http://schemas.openxmlformats.org/officeDocument/2006/relationships/image" Target="../media/image164.png"/><Relationship Id="rId5" Type="http://schemas.openxmlformats.org/officeDocument/2006/relationships/image" Target="../media/image158.png"/><Relationship Id="rId15" Type="http://schemas.openxmlformats.org/officeDocument/2006/relationships/image" Target="../media/image168.png"/><Relationship Id="rId10" Type="http://schemas.openxmlformats.org/officeDocument/2006/relationships/image" Target="../media/image163.png"/><Relationship Id="rId4" Type="http://schemas.openxmlformats.org/officeDocument/2006/relationships/image" Target="../media/image157.png"/><Relationship Id="rId9" Type="http://schemas.openxmlformats.org/officeDocument/2006/relationships/image" Target="../media/image162.png"/><Relationship Id="rId14" Type="http://schemas.openxmlformats.org/officeDocument/2006/relationships/image" Target="../media/image16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3.png"/><Relationship Id="rId13" Type="http://schemas.openxmlformats.org/officeDocument/2006/relationships/image" Target="../media/image178.png"/><Relationship Id="rId18" Type="http://schemas.openxmlformats.org/officeDocument/2006/relationships/image" Target="../media/image25.png"/><Relationship Id="rId3" Type="http://schemas.openxmlformats.org/officeDocument/2006/relationships/image" Target="../media/image6.png"/><Relationship Id="rId7" Type="http://schemas.openxmlformats.org/officeDocument/2006/relationships/image" Target="../media/image124.png"/><Relationship Id="rId12" Type="http://schemas.openxmlformats.org/officeDocument/2006/relationships/image" Target="../media/image177.png"/><Relationship Id="rId17" Type="http://schemas.openxmlformats.org/officeDocument/2006/relationships/image" Target="../media/image181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18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2.png"/><Relationship Id="rId11" Type="http://schemas.openxmlformats.org/officeDocument/2006/relationships/image" Target="../media/image176.png"/><Relationship Id="rId5" Type="http://schemas.openxmlformats.org/officeDocument/2006/relationships/image" Target="../media/image172.png"/><Relationship Id="rId15" Type="http://schemas.openxmlformats.org/officeDocument/2006/relationships/image" Target="../media/image179.png"/><Relationship Id="rId10" Type="http://schemas.openxmlformats.org/officeDocument/2006/relationships/image" Target="../media/image175.png"/><Relationship Id="rId4" Type="http://schemas.openxmlformats.org/officeDocument/2006/relationships/image" Target="../media/image171.png"/><Relationship Id="rId9" Type="http://schemas.openxmlformats.org/officeDocument/2006/relationships/image" Target="../media/image174.png"/><Relationship Id="rId14" Type="http://schemas.openxmlformats.org/officeDocument/2006/relationships/image" Target="../media/image6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6.png"/><Relationship Id="rId13" Type="http://schemas.openxmlformats.org/officeDocument/2006/relationships/image" Target="../media/image191.png"/><Relationship Id="rId18" Type="http://schemas.openxmlformats.org/officeDocument/2006/relationships/image" Target="../media/image196.png"/><Relationship Id="rId3" Type="http://schemas.openxmlformats.org/officeDocument/2006/relationships/image" Target="../media/image6.png"/><Relationship Id="rId7" Type="http://schemas.openxmlformats.org/officeDocument/2006/relationships/image" Target="../media/image185.png"/><Relationship Id="rId12" Type="http://schemas.openxmlformats.org/officeDocument/2006/relationships/image" Target="../media/image190.png"/><Relationship Id="rId17" Type="http://schemas.openxmlformats.org/officeDocument/2006/relationships/image" Target="../media/image195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194.png"/><Relationship Id="rId20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4.png"/><Relationship Id="rId11" Type="http://schemas.openxmlformats.org/officeDocument/2006/relationships/image" Target="../media/image189.png"/><Relationship Id="rId5" Type="http://schemas.openxmlformats.org/officeDocument/2006/relationships/image" Target="../media/image183.png"/><Relationship Id="rId15" Type="http://schemas.openxmlformats.org/officeDocument/2006/relationships/image" Target="../media/image193.png"/><Relationship Id="rId10" Type="http://schemas.openxmlformats.org/officeDocument/2006/relationships/image" Target="../media/image188.png"/><Relationship Id="rId19" Type="http://schemas.openxmlformats.org/officeDocument/2006/relationships/image" Target="../media/image197.png"/><Relationship Id="rId4" Type="http://schemas.openxmlformats.org/officeDocument/2006/relationships/image" Target="../media/image182.png"/><Relationship Id="rId9" Type="http://schemas.openxmlformats.org/officeDocument/2006/relationships/image" Target="../media/image187.png"/><Relationship Id="rId14" Type="http://schemas.openxmlformats.org/officeDocument/2006/relationships/image" Target="../media/image19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2.png"/><Relationship Id="rId13" Type="http://schemas.openxmlformats.org/officeDocument/2006/relationships/image" Target="../media/image207.png"/><Relationship Id="rId18" Type="http://schemas.openxmlformats.org/officeDocument/2006/relationships/image" Target="../media/image212.png"/><Relationship Id="rId3" Type="http://schemas.openxmlformats.org/officeDocument/2006/relationships/image" Target="../media/image6.png"/><Relationship Id="rId21" Type="http://schemas.openxmlformats.org/officeDocument/2006/relationships/image" Target="../media/image215.png"/><Relationship Id="rId7" Type="http://schemas.openxmlformats.org/officeDocument/2006/relationships/image" Target="../media/image201.png"/><Relationship Id="rId12" Type="http://schemas.openxmlformats.org/officeDocument/2006/relationships/image" Target="../media/image206.png"/><Relationship Id="rId17" Type="http://schemas.openxmlformats.org/officeDocument/2006/relationships/image" Target="../media/image211.png"/><Relationship Id="rId25" Type="http://schemas.openxmlformats.org/officeDocument/2006/relationships/image" Target="../media/image25.png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210.png"/><Relationship Id="rId20" Type="http://schemas.openxmlformats.org/officeDocument/2006/relationships/image" Target="../media/image2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0.png"/><Relationship Id="rId11" Type="http://schemas.openxmlformats.org/officeDocument/2006/relationships/image" Target="../media/image205.png"/><Relationship Id="rId24" Type="http://schemas.openxmlformats.org/officeDocument/2006/relationships/image" Target="../media/image218.png"/><Relationship Id="rId5" Type="http://schemas.openxmlformats.org/officeDocument/2006/relationships/image" Target="../media/image199.png"/><Relationship Id="rId15" Type="http://schemas.openxmlformats.org/officeDocument/2006/relationships/image" Target="../media/image209.png"/><Relationship Id="rId23" Type="http://schemas.openxmlformats.org/officeDocument/2006/relationships/image" Target="../media/image217.png"/><Relationship Id="rId10" Type="http://schemas.openxmlformats.org/officeDocument/2006/relationships/image" Target="../media/image204.png"/><Relationship Id="rId19" Type="http://schemas.openxmlformats.org/officeDocument/2006/relationships/image" Target="../media/image213.png"/><Relationship Id="rId4" Type="http://schemas.openxmlformats.org/officeDocument/2006/relationships/image" Target="../media/image198.png"/><Relationship Id="rId9" Type="http://schemas.openxmlformats.org/officeDocument/2006/relationships/image" Target="../media/image203.png"/><Relationship Id="rId14" Type="http://schemas.openxmlformats.org/officeDocument/2006/relationships/image" Target="../media/image208.png"/><Relationship Id="rId22" Type="http://schemas.openxmlformats.org/officeDocument/2006/relationships/image" Target="../media/image216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3.png"/><Relationship Id="rId13" Type="http://schemas.openxmlformats.org/officeDocument/2006/relationships/image" Target="../media/image109.png"/><Relationship Id="rId18" Type="http://schemas.openxmlformats.org/officeDocument/2006/relationships/image" Target="../media/image231.png"/><Relationship Id="rId3" Type="http://schemas.openxmlformats.org/officeDocument/2006/relationships/image" Target="../media/image6.png"/><Relationship Id="rId21" Type="http://schemas.openxmlformats.org/officeDocument/2006/relationships/image" Target="../media/image234.png"/><Relationship Id="rId7" Type="http://schemas.openxmlformats.org/officeDocument/2006/relationships/image" Target="../media/image222.png"/><Relationship Id="rId12" Type="http://schemas.openxmlformats.org/officeDocument/2006/relationships/image" Target="../media/image108.png"/><Relationship Id="rId17" Type="http://schemas.openxmlformats.org/officeDocument/2006/relationships/image" Target="../media/image230.png"/><Relationship Id="rId2" Type="http://schemas.openxmlformats.org/officeDocument/2006/relationships/notesSlide" Target="../notesSlides/notesSlide15.xml"/><Relationship Id="rId16" Type="http://schemas.openxmlformats.org/officeDocument/2006/relationships/image" Target="../media/image229.png"/><Relationship Id="rId20" Type="http://schemas.openxmlformats.org/officeDocument/2006/relationships/image" Target="../media/image23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1.png"/><Relationship Id="rId11" Type="http://schemas.openxmlformats.org/officeDocument/2006/relationships/image" Target="../media/image226.png"/><Relationship Id="rId5" Type="http://schemas.openxmlformats.org/officeDocument/2006/relationships/image" Target="../media/image220.png"/><Relationship Id="rId15" Type="http://schemas.openxmlformats.org/officeDocument/2006/relationships/image" Target="../media/image228.png"/><Relationship Id="rId10" Type="http://schemas.openxmlformats.org/officeDocument/2006/relationships/image" Target="../media/image225.png"/><Relationship Id="rId19" Type="http://schemas.openxmlformats.org/officeDocument/2006/relationships/image" Target="../media/image232.png"/><Relationship Id="rId4" Type="http://schemas.openxmlformats.org/officeDocument/2006/relationships/image" Target="../media/image219.png"/><Relationship Id="rId9" Type="http://schemas.openxmlformats.org/officeDocument/2006/relationships/image" Target="../media/image224.png"/><Relationship Id="rId14" Type="http://schemas.openxmlformats.org/officeDocument/2006/relationships/image" Target="../media/image227.png"/><Relationship Id="rId22" Type="http://schemas.openxmlformats.org/officeDocument/2006/relationships/image" Target="../media/image235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8.png"/><Relationship Id="rId13" Type="http://schemas.openxmlformats.org/officeDocument/2006/relationships/image" Target="../media/image243.png"/><Relationship Id="rId18" Type="http://schemas.openxmlformats.org/officeDocument/2006/relationships/image" Target="../media/image247.png"/><Relationship Id="rId3" Type="http://schemas.openxmlformats.org/officeDocument/2006/relationships/image" Target="../media/image6.png"/><Relationship Id="rId21" Type="http://schemas.openxmlformats.org/officeDocument/2006/relationships/image" Target="../media/image250.png"/><Relationship Id="rId7" Type="http://schemas.openxmlformats.org/officeDocument/2006/relationships/image" Target="../media/image124.png"/><Relationship Id="rId12" Type="http://schemas.openxmlformats.org/officeDocument/2006/relationships/image" Target="../media/image242.png"/><Relationship Id="rId17" Type="http://schemas.openxmlformats.org/officeDocument/2006/relationships/image" Target="../media/image176.png"/><Relationship Id="rId2" Type="http://schemas.openxmlformats.org/officeDocument/2006/relationships/notesSlide" Target="../notesSlides/notesSlide16.xml"/><Relationship Id="rId16" Type="http://schemas.openxmlformats.org/officeDocument/2006/relationships/image" Target="../media/image246.png"/><Relationship Id="rId20" Type="http://schemas.openxmlformats.org/officeDocument/2006/relationships/image" Target="../media/image24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4.png"/><Relationship Id="rId11" Type="http://schemas.openxmlformats.org/officeDocument/2006/relationships/image" Target="../media/image241.png"/><Relationship Id="rId5" Type="http://schemas.openxmlformats.org/officeDocument/2006/relationships/image" Target="../media/image237.png"/><Relationship Id="rId15" Type="http://schemas.openxmlformats.org/officeDocument/2006/relationships/image" Target="../media/image245.png"/><Relationship Id="rId10" Type="http://schemas.openxmlformats.org/officeDocument/2006/relationships/image" Target="../media/image240.png"/><Relationship Id="rId19" Type="http://schemas.openxmlformats.org/officeDocument/2006/relationships/image" Target="../media/image248.png"/><Relationship Id="rId4" Type="http://schemas.openxmlformats.org/officeDocument/2006/relationships/image" Target="../media/image236.png"/><Relationship Id="rId9" Type="http://schemas.openxmlformats.org/officeDocument/2006/relationships/image" Target="../media/image239.png"/><Relationship Id="rId14" Type="http://schemas.openxmlformats.org/officeDocument/2006/relationships/image" Target="../media/image244.png"/><Relationship Id="rId22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60.png"/><Relationship Id="rId18" Type="http://schemas.openxmlformats.org/officeDocument/2006/relationships/image" Target="../media/image265.png"/><Relationship Id="rId26" Type="http://schemas.openxmlformats.org/officeDocument/2006/relationships/image" Target="../media/image273.png"/><Relationship Id="rId39" Type="http://schemas.openxmlformats.org/officeDocument/2006/relationships/image" Target="../media/image163.png"/><Relationship Id="rId21" Type="http://schemas.openxmlformats.org/officeDocument/2006/relationships/image" Target="../media/image268.png"/><Relationship Id="rId34" Type="http://schemas.openxmlformats.org/officeDocument/2006/relationships/image" Target="../media/image281.png"/><Relationship Id="rId42" Type="http://schemas.openxmlformats.org/officeDocument/2006/relationships/image" Target="../media/image25.png"/><Relationship Id="rId7" Type="http://schemas.openxmlformats.org/officeDocument/2006/relationships/image" Target="../media/image254.png"/><Relationship Id="rId2" Type="http://schemas.openxmlformats.org/officeDocument/2006/relationships/notesSlide" Target="../notesSlides/notesSlide17.xml"/><Relationship Id="rId16" Type="http://schemas.openxmlformats.org/officeDocument/2006/relationships/image" Target="../media/image263.png"/><Relationship Id="rId20" Type="http://schemas.openxmlformats.org/officeDocument/2006/relationships/image" Target="../media/image267.png"/><Relationship Id="rId29" Type="http://schemas.openxmlformats.org/officeDocument/2006/relationships/image" Target="../media/image276.png"/><Relationship Id="rId41" Type="http://schemas.openxmlformats.org/officeDocument/2006/relationships/image" Target="../media/image28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3.png"/><Relationship Id="rId11" Type="http://schemas.openxmlformats.org/officeDocument/2006/relationships/image" Target="../media/image258.png"/><Relationship Id="rId24" Type="http://schemas.openxmlformats.org/officeDocument/2006/relationships/image" Target="../media/image271.png"/><Relationship Id="rId32" Type="http://schemas.openxmlformats.org/officeDocument/2006/relationships/image" Target="../media/image279.png"/><Relationship Id="rId37" Type="http://schemas.openxmlformats.org/officeDocument/2006/relationships/image" Target="../media/image284.png"/><Relationship Id="rId40" Type="http://schemas.openxmlformats.org/officeDocument/2006/relationships/image" Target="../media/image286.png"/><Relationship Id="rId5" Type="http://schemas.openxmlformats.org/officeDocument/2006/relationships/image" Target="../media/image252.png"/><Relationship Id="rId15" Type="http://schemas.openxmlformats.org/officeDocument/2006/relationships/image" Target="../media/image262.png"/><Relationship Id="rId23" Type="http://schemas.openxmlformats.org/officeDocument/2006/relationships/image" Target="../media/image270.png"/><Relationship Id="rId28" Type="http://schemas.openxmlformats.org/officeDocument/2006/relationships/image" Target="../media/image275.png"/><Relationship Id="rId36" Type="http://schemas.openxmlformats.org/officeDocument/2006/relationships/image" Target="../media/image283.png"/><Relationship Id="rId10" Type="http://schemas.openxmlformats.org/officeDocument/2006/relationships/image" Target="../media/image257.png"/><Relationship Id="rId19" Type="http://schemas.openxmlformats.org/officeDocument/2006/relationships/image" Target="../media/image266.png"/><Relationship Id="rId31" Type="http://schemas.openxmlformats.org/officeDocument/2006/relationships/image" Target="../media/image278.png"/><Relationship Id="rId4" Type="http://schemas.openxmlformats.org/officeDocument/2006/relationships/image" Target="../media/image251.png"/><Relationship Id="rId9" Type="http://schemas.openxmlformats.org/officeDocument/2006/relationships/image" Target="../media/image256.png"/><Relationship Id="rId14" Type="http://schemas.openxmlformats.org/officeDocument/2006/relationships/image" Target="../media/image261.png"/><Relationship Id="rId22" Type="http://schemas.openxmlformats.org/officeDocument/2006/relationships/image" Target="../media/image269.png"/><Relationship Id="rId27" Type="http://schemas.openxmlformats.org/officeDocument/2006/relationships/image" Target="../media/image274.png"/><Relationship Id="rId30" Type="http://schemas.openxmlformats.org/officeDocument/2006/relationships/image" Target="../media/image277.png"/><Relationship Id="rId35" Type="http://schemas.openxmlformats.org/officeDocument/2006/relationships/image" Target="../media/image282.png"/><Relationship Id="rId8" Type="http://schemas.openxmlformats.org/officeDocument/2006/relationships/image" Target="../media/image255.png"/><Relationship Id="rId3" Type="http://schemas.openxmlformats.org/officeDocument/2006/relationships/image" Target="../media/image6.png"/><Relationship Id="rId12" Type="http://schemas.openxmlformats.org/officeDocument/2006/relationships/image" Target="../media/image259.png"/><Relationship Id="rId17" Type="http://schemas.openxmlformats.org/officeDocument/2006/relationships/image" Target="../media/image264.png"/><Relationship Id="rId25" Type="http://schemas.openxmlformats.org/officeDocument/2006/relationships/image" Target="../media/image272.png"/><Relationship Id="rId33" Type="http://schemas.openxmlformats.org/officeDocument/2006/relationships/image" Target="../media/image280.png"/><Relationship Id="rId38" Type="http://schemas.openxmlformats.org/officeDocument/2006/relationships/image" Target="../media/image285.png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97.png"/><Relationship Id="rId18" Type="http://schemas.openxmlformats.org/officeDocument/2006/relationships/image" Target="../media/image301.png"/><Relationship Id="rId26" Type="http://schemas.openxmlformats.org/officeDocument/2006/relationships/image" Target="../media/image309.png"/><Relationship Id="rId3" Type="http://schemas.openxmlformats.org/officeDocument/2006/relationships/image" Target="../media/image6.png"/><Relationship Id="rId21" Type="http://schemas.openxmlformats.org/officeDocument/2006/relationships/image" Target="../media/image304.png"/><Relationship Id="rId34" Type="http://schemas.openxmlformats.org/officeDocument/2006/relationships/image" Target="../media/image317.png"/><Relationship Id="rId7" Type="http://schemas.openxmlformats.org/officeDocument/2006/relationships/image" Target="../media/image291.png"/><Relationship Id="rId12" Type="http://schemas.openxmlformats.org/officeDocument/2006/relationships/image" Target="../media/image296.png"/><Relationship Id="rId17" Type="http://schemas.openxmlformats.org/officeDocument/2006/relationships/image" Target="../media/image300.png"/><Relationship Id="rId25" Type="http://schemas.openxmlformats.org/officeDocument/2006/relationships/image" Target="../media/image308.png"/><Relationship Id="rId33" Type="http://schemas.openxmlformats.org/officeDocument/2006/relationships/image" Target="../media/image316.png"/><Relationship Id="rId2" Type="http://schemas.openxmlformats.org/officeDocument/2006/relationships/notesSlide" Target="../notesSlides/notesSlide18.xml"/><Relationship Id="rId16" Type="http://schemas.openxmlformats.org/officeDocument/2006/relationships/image" Target="../media/image299.png"/><Relationship Id="rId20" Type="http://schemas.openxmlformats.org/officeDocument/2006/relationships/image" Target="../media/image303.png"/><Relationship Id="rId29" Type="http://schemas.openxmlformats.org/officeDocument/2006/relationships/image" Target="../media/image3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0.png"/><Relationship Id="rId11" Type="http://schemas.openxmlformats.org/officeDocument/2006/relationships/image" Target="../media/image295.png"/><Relationship Id="rId24" Type="http://schemas.openxmlformats.org/officeDocument/2006/relationships/image" Target="../media/image307.png"/><Relationship Id="rId32" Type="http://schemas.openxmlformats.org/officeDocument/2006/relationships/image" Target="../media/image315.png"/><Relationship Id="rId5" Type="http://schemas.openxmlformats.org/officeDocument/2006/relationships/image" Target="../media/image289.png"/><Relationship Id="rId15" Type="http://schemas.openxmlformats.org/officeDocument/2006/relationships/image" Target="../media/image159.png"/><Relationship Id="rId23" Type="http://schemas.openxmlformats.org/officeDocument/2006/relationships/image" Target="../media/image306.png"/><Relationship Id="rId28" Type="http://schemas.openxmlformats.org/officeDocument/2006/relationships/image" Target="../media/image311.png"/><Relationship Id="rId10" Type="http://schemas.openxmlformats.org/officeDocument/2006/relationships/image" Target="../media/image294.png"/><Relationship Id="rId19" Type="http://schemas.openxmlformats.org/officeDocument/2006/relationships/image" Target="../media/image302.png"/><Relationship Id="rId31" Type="http://schemas.openxmlformats.org/officeDocument/2006/relationships/image" Target="../media/image314.png"/><Relationship Id="rId4" Type="http://schemas.openxmlformats.org/officeDocument/2006/relationships/image" Target="../media/image288.png"/><Relationship Id="rId9" Type="http://schemas.openxmlformats.org/officeDocument/2006/relationships/image" Target="../media/image293.png"/><Relationship Id="rId14" Type="http://schemas.openxmlformats.org/officeDocument/2006/relationships/image" Target="../media/image298.png"/><Relationship Id="rId22" Type="http://schemas.openxmlformats.org/officeDocument/2006/relationships/image" Target="../media/image305.png"/><Relationship Id="rId27" Type="http://schemas.openxmlformats.org/officeDocument/2006/relationships/image" Target="../media/image310.png"/><Relationship Id="rId30" Type="http://schemas.openxmlformats.org/officeDocument/2006/relationships/image" Target="../media/image313.png"/><Relationship Id="rId35" Type="http://schemas.openxmlformats.org/officeDocument/2006/relationships/image" Target="../media/image25.png"/><Relationship Id="rId8" Type="http://schemas.openxmlformats.org/officeDocument/2006/relationships/image" Target="../media/image292.png"/></Relationships>
</file>

<file path=ppt/slides/_rels/slide1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27.png"/><Relationship Id="rId18" Type="http://schemas.openxmlformats.org/officeDocument/2006/relationships/image" Target="../media/image332.png"/><Relationship Id="rId26" Type="http://schemas.openxmlformats.org/officeDocument/2006/relationships/image" Target="../media/image340.png"/><Relationship Id="rId39" Type="http://schemas.openxmlformats.org/officeDocument/2006/relationships/image" Target="../media/image353.png"/><Relationship Id="rId21" Type="http://schemas.openxmlformats.org/officeDocument/2006/relationships/image" Target="../media/image335.png"/><Relationship Id="rId34" Type="http://schemas.openxmlformats.org/officeDocument/2006/relationships/image" Target="../media/image348.png"/><Relationship Id="rId42" Type="http://schemas.openxmlformats.org/officeDocument/2006/relationships/image" Target="../media/image25.png"/><Relationship Id="rId7" Type="http://schemas.openxmlformats.org/officeDocument/2006/relationships/image" Target="../media/image321.png"/><Relationship Id="rId2" Type="http://schemas.openxmlformats.org/officeDocument/2006/relationships/notesSlide" Target="../notesSlides/notesSlide19.xml"/><Relationship Id="rId16" Type="http://schemas.openxmlformats.org/officeDocument/2006/relationships/image" Target="../media/image330.png"/><Relationship Id="rId20" Type="http://schemas.openxmlformats.org/officeDocument/2006/relationships/image" Target="../media/image334.png"/><Relationship Id="rId29" Type="http://schemas.openxmlformats.org/officeDocument/2006/relationships/image" Target="../media/image343.png"/><Relationship Id="rId41" Type="http://schemas.openxmlformats.org/officeDocument/2006/relationships/image" Target="../media/image35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0.png"/><Relationship Id="rId11" Type="http://schemas.openxmlformats.org/officeDocument/2006/relationships/image" Target="../media/image325.png"/><Relationship Id="rId24" Type="http://schemas.openxmlformats.org/officeDocument/2006/relationships/image" Target="../media/image338.png"/><Relationship Id="rId32" Type="http://schemas.openxmlformats.org/officeDocument/2006/relationships/image" Target="../media/image346.png"/><Relationship Id="rId37" Type="http://schemas.openxmlformats.org/officeDocument/2006/relationships/image" Target="../media/image351.png"/><Relationship Id="rId40" Type="http://schemas.openxmlformats.org/officeDocument/2006/relationships/image" Target="../media/image354.png"/><Relationship Id="rId5" Type="http://schemas.openxmlformats.org/officeDocument/2006/relationships/image" Target="../media/image319.png"/><Relationship Id="rId15" Type="http://schemas.openxmlformats.org/officeDocument/2006/relationships/image" Target="../media/image329.png"/><Relationship Id="rId23" Type="http://schemas.openxmlformats.org/officeDocument/2006/relationships/image" Target="../media/image337.png"/><Relationship Id="rId28" Type="http://schemas.openxmlformats.org/officeDocument/2006/relationships/image" Target="../media/image342.png"/><Relationship Id="rId36" Type="http://schemas.openxmlformats.org/officeDocument/2006/relationships/image" Target="../media/image350.png"/><Relationship Id="rId10" Type="http://schemas.openxmlformats.org/officeDocument/2006/relationships/image" Target="../media/image324.png"/><Relationship Id="rId19" Type="http://schemas.openxmlformats.org/officeDocument/2006/relationships/image" Target="../media/image333.png"/><Relationship Id="rId31" Type="http://schemas.openxmlformats.org/officeDocument/2006/relationships/image" Target="../media/image345.png"/><Relationship Id="rId4" Type="http://schemas.openxmlformats.org/officeDocument/2006/relationships/image" Target="../media/image318.png"/><Relationship Id="rId9" Type="http://schemas.openxmlformats.org/officeDocument/2006/relationships/image" Target="../media/image323.png"/><Relationship Id="rId14" Type="http://schemas.openxmlformats.org/officeDocument/2006/relationships/image" Target="../media/image328.png"/><Relationship Id="rId22" Type="http://schemas.openxmlformats.org/officeDocument/2006/relationships/image" Target="../media/image336.png"/><Relationship Id="rId27" Type="http://schemas.openxmlformats.org/officeDocument/2006/relationships/image" Target="../media/image341.png"/><Relationship Id="rId30" Type="http://schemas.openxmlformats.org/officeDocument/2006/relationships/image" Target="../media/image344.png"/><Relationship Id="rId35" Type="http://schemas.openxmlformats.org/officeDocument/2006/relationships/image" Target="../media/image349.png"/><Relationship Id="rId8" Type="http://schemas.openxmlformats.org/officeDocument/2006/relationships/image" Target="../media/image322.png"/><Relationship Id="rId3" Type="http://schemas.openxmlformats.org/officeDocument/2006/relationships/image" Target="../media/image6.png"/><Relationship Id="rId12" Type="http://schemas.openxmlformats.org/officeDocument/2006/relationships/image" Target="../media/image326.png"/><Relationship Id="rId17" Type="http://schemas.openxmlformats.org/officeDocument/2006/relationships/image" Target="../media/image331.png"/><Relationship Id="rId25" Type="http://schemas.openxmlformats.org/officeDocument/2006/relationships/image" Target="../media/image339.png"/><Relationship Id="rId33" Type="http://schemas.openxmlformats.org/officeDocument/2006/relationships/image" Target="../media/image347.png"/><Relationship Id="rId38" Type="http://schemas.openxmlformats.org/officeDocument/2006/relationships/image" Target="../media/image352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0.png"/><Relationship Id="rId13" Type="http://schemas.openxmlformats.org/officeDocument/2006/relationships/hyperlink" Target="https://github.com/ST10435330/LecturerClaimsSystem.git" TargetMode="External"/><Relationship Id="rId3" Type="http://schemas.openxmlformats.org/officeDocument/2006/relationships/image" Target="../media/image6.png"/><Relationship Id="rId7" Type="http://schemas.openxmlformats.org/officeDocument/2006/relationships/image" Target="../media/image359.png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8.png"/><Relationship Id="rId11" Type="http://schemas.openxmlformats.org/officeDocument/2006/relationships/image" Target="../media/image363.png"/><Relationship Id="rId5" Type="http://schemas.openxmlformats.org/officeDocument/2006/relationships/image" Target="../media/image357.png"/><Relationship Id="rId10" Type="http://schemas.openxmlformats.org/officeDocument/2006/relationships/image" Target="../media/image362.png"/><Relationship Id="rId4" Type="http://schemas.openxmlformats.org/officeDocument/2006/relationships/image" Target="../media/image356.png"/><Relationship Id="rId9" Type="http://schemas.openxmlformats.org/officeDocument/2006/relationships/image" Target="../media/image36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85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" cy="12192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3200" y="5029200"/>
            <a:ext cx="1828800" cy="18288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68000" y="1714500"/>
            <a:ext cx="609600" cy="6096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V="1">
            <a:off x="1552755" y="3676650"/>
            <a:ext cx="9115245" cy="57150"/>
          </a:xfrm>
          <a:prstGeom prst="rect">
            <a:avLst/>
          </a:prstGeom>
        </p:spPr>
      </p:pic>
      <p:sp>
        <p:nvSpPr>
          <p:cNvPr id="9" name="Text 0"/>
          <p:cNvSpPr/>
          <p:nvPr/>
        </p:nvSpPr>
        <p:spPr>
          <a:xfrm>
            <a:off x="1965141" y="2228850"/>
            <a:ext cx="8261568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Contract Monthly Claim System</a:t>
            </a:r>
            <a:endParaRPr lang="en-US" sz="3600" dirty="0"/>
          </a:p>
        </p:txBody>
      </p:sp>
      <p:sp>
        <p:nvSpPr>
          <p:cNvPr id="10" name="Text 1"/>
          <p:cNvSpPr/>
          <p:nvPr/>
        </p:nvSpPr>
        <p:spPr>
          <a:xfrm>
            <a:off x="1811179" y="2838450"/>
            <a:ext cx="8569643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250" dirty="0">
                <a:solidFill>
                  <a:srgbClr val="E5E7EB"/>
                </a:solidFill>
                <a:latin typeface="Aptos" panose="020B0004020202020204" pitchFamily="34" charset="0"/>
                <a:ea typeface="ui-sans-serif" pitchFamily="34" charset="-122"/>
                <a:cs typeface="ui-sans-serif" pitchFamily="34" charset="-120"/>
              </a:rPr>
              <a:t>Automated Lecturer Claims Management Solution</a:t>
            </a:r>
            <a:endParaRPr lang="en-US" sz="2250" dirty="0">
              <a:latin typeface="Aptos" panose="020B0004020202020204" pitchFamily="34" charset="0"/>
            </a:endParaRPr>
          </a:p>
        </p:txBody>
      </p:sp>
      <p:sp>
        <p:nvSpPr>
          <p:cNvPr id="11" name="Text 2"/>
          <p:cNvSpPr/>
          <p:nvPr/>
        </p:nvSpPr>
        <p:spPr>
          <a:xfrm>
            <a:off x="1828800" y="4133850"/>
            <a:ext cx="1524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D1D5DB"/>
                </a:solidFill>
                <a:latin typeface="Aptos" panose="020B0004020202020204" pitchFamily="34" charset="0"/>
                <a:ea typeface="ui-sans-serif" pitchFamily="34" charset="-122"/>
                <a:cs typeface="ui-sans-serif" pitchFamily="34" charset="-120"/>
              </a:rPr>
              <a:t>Name</a:t>
            </a:r>
            <a:r>
              <a:rPr lang="en-US" sz="13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:</a:t>
            </a:r>
            <a:endParaRPr lang="en-US" sz="1350" dirty="0"/>
          </a:p>
        </p:txBody>
      </p:sp>
      <p:sp>
        <p:nvSpPr>
          <p:cNvPr id="12" name="Text 3"/>
          <p:cNvSpPr/>
          <p:nvPr/>
        </p:nvSpPr>
        <p:spPr>
          <a:xfrm>
            <a:off x="3228082" y="4143375"/>
            <a:ext cx="190931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ptos" panose="020B0004020202020204" pitchFamily="34" charset="0"/>
                <a:ea typeface="ui-sans-serif" pitchFamily="34" charset="-122"/>
                <a:cs typeface="ui-sans-serif" pitchFamily="34" charset="-120"/>
              </a:rPr>
              <a:t>Antonio Bechev</a:t>
            </a:r>
            <a:endParaRPr lang="en-US" sz="1350" dirty="0">
              <a:latin typeface="Aptos" panose="020B0004020202020204" pitchFamily="34" charset="0"/>
            </a:endParaRPr>
          </a:p>
        </p:txBody>
      </p:sp>
      <p:sp>
        <p:nvSpPr>
          <p:cNvPr id="13" name="Text 4"/>
          <p:cNvSpPr/>
          <p:nvPr/>
        </p:nvSpPr>
        <p:spPr>
          <a:xfrm>
            <a:off x="6400800" y="4133850"/>
            <a:ext cx="18288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D1D5DB"/>
                </a:solidFill>
                <a:latin typeface="Aptos" panose="020B0004020202020204" pitchFamily="34" charset="0"/>
                <a:ea typeface="ui-sans-serif" pitchFamily="34" charset="-122"/>
                <a:cs typeface="ui-sans-serif" pitchFamily="34" charset="-120"/>
              </a:rPr>
              <a:t>Student Number:</a:t>
            </a:r>
            <a:endParaRPr lang="en-US" sz="1350" dirty="0">
              <a:latin typeface="Aptos" panose="020B0004020202020204" pitchFamily="34" charset="0"/>
            </a:endParaRPr>
          </a:p>
        </p:txBody>
      </p:sp>
      <p:sp>
        <p:nvSpPr>
          <p:cNvPr id="14" name="Text 5"/>
          <p:cNvSpPr/>
          <p:nvPr/>
        </p:nvSpPr>
        <p:spPr>
          <a:xfrm>
            <a:off x="7924800" y="4133850"/>
            <a:ext cx="1331238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ptos" panose="020B0004020202020204" pitchFamily="34" charset="0"/>
                <a:ea typeface="ui-sans-serif" pitchFamily="34" charset="-122"/>
                <a:cs typeface="ui-sans-serif" pitchFamily="34" charset="-120"/>
              </a:rPr>
              <a:t>ST10435330</a:t>
            </a:r>
            <a:endParaRPr lang="en-US" sz="1350" dirty="0">
              <a:latin typeface="Aptos" panose="020B0004020202020204" pitchFamily="34" charset="0"/>
            </a:endParaRPr>
          </a:p>
        </p:txBody>
      </p:sp>
      <p:sp>
        <p:nvSpPr>
          <p:cNvPr id="15" name="Text 6"/>
          <p:cNvSpPr/>
          <p:nvPr/>
        </p:nvSpPr>
        <p:spPr>
          <a:xfrm>
            <a:off x="1828800" y="4686300"/>
            <a:ext cx="1489472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D1D5DB"/>
                </a:solidFill>
                <a:latin typeface="Aptos" panose="020B0004020202020204" pitchFamily="34" charset="0"/>
                <a:ea typeface="ui-sans-serif" pitchFamily="34" charset="-122"/>
                <a:cs typeface="ui-sans-serif" pitchFamily="34" charset="-120"/>
              </a:rPr>
              <a:t>Module</a:t>
            </a:r>
            <a:r>
              <a:rPr lang="en-US" sz="13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:</a:t>
            </a:r>
            <a:endParaRPr lang="en-US" sz="1350" dirty="0"/>
          </a:p>
        </p:txBody>
      </p:sp>
      <p:sp>
        <p:nvSpPr>
          <p:cNvPr id="16" name="Text 7"/>
          <p:cNvSpPr/>
          <p:nvPr/>
        </p:nvSpPr>
        <p:spPr>
          <a:xfrm>
            <a:off x="3228082" y="4686300"/>
            <a:ext cx="2472928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ptos" panose="020B0004020202020204" pitchFamily="34" charset="0"/>
                <a:ea typeface="ui-sans-serif" pitchFamily="34" charset="-122"/>
                <a:cs typeface="ui-sans-serif" pitchFamily="34" charset="-120"/>
              </a:rPr>
              <a:t>Programming 2B / PROG6212</a:t>
            </a:r>
            <a:endParaRPr lang="en-US" sz="1350" dirty="0">
              <a:latin typeface="Aptos" panose="020B0004020202020204" pitchFamily="34" charset="0"/>
            </a:endParaRPr>
          </a:p>
        </p:txBody>
      </p:sp>
      <p:sp>
        <p:nvSpPr>
          <p:cNvPr id="17" name="Text 8"/>
          <p:cNvSpPr/>
          <p:nvPr/>
        </p:nvSpPr>
        <p:spPr>
          <a:xfrm>
            <a:off x="6400800" y="4686300"/>
            <a:ext cx="18288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D1D5DB"/>
                </a:solidFill>
                <a:latin typeface="Aptos" panose="020B0004020202020204" pitchFamily="34" charset="0"/>
                <a:ea typeface="ui-sans-serif" pitchFamily="34" charset="-122"/>
                <a:cs typeface="ui-sans-serif" pitchFamily="34" charset="-120"/>
              </a:rPr>
              <a:t>Lecturer:</a:t>
            </a:r>
            <a:endParaRPr lang="en-US" sz="1350" dirty="0">
              <a:latin typeface="Aptos" panose="020B0004020202020204" pitchFamily="34" charset="0"/>
            </a:endParaRPr>
          </a:p>
        </p:txBody>
      </p:sp>
      <p:sp>
        <p:nvSpPr>
          <p:cNvPr id="18" name="Text 9"/>
          <p:cNvSpPr/>
          <p:nvPr/>
        </p:nvSpPr>
        <p:spPr>
          <a:xfrm>
            <a:off x="7924800" y="4686300"/>
            <a:ext cx="152536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ptos" panose="020B0004020202020204" pitchFamily="34" charset="0"/>
                <a:ea typeface="ui-sans-serif" pitchFamily="34" charset="-122"/>
                <a:cs typeface="ui-sans-serif" pitchFamily="34" charset="-120"/>
              </a:rPr>
              <a:t>Lecturer Name</a:t>
            </a:r>
            <a:endParaRPr lang="en-US" sz="1350" dirty="0">
              <a:latin typeface="Aptos" panose="020B0004020202020204" pitchFamily="34" charset="0"/>
            </a:endParaRPr>
          </a:p>
        </p:txBody>
      </p:sp>
      <p:sp>
        <p:nvSpPr>
          <p:cNvPr id="24" name="Text 6">
            <a:extLst>
              <a:ext uri="{FF2B5EF4-FFF2-40B4-BE49-F238E27FC236}">
                <a16:creationId xmlns:a16="http://schemas.microsoft.com/office/drawing/2014/main" id="{E96C7AE9-D9BF-CA64-2058-E80E4EA128BF}"/>
              </a:ext>
            </a:extLst>
          </p:cNvPr>
          <p:cNvSpPr/>
          <p:nvPr/>
        </p:nvSpPr>
        <p:spPr>
          <a:xfrm>
            <a:off x="1811179" y="5295900"/>
            <a:ext cx="1489472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D1D5DB"/>
                </a:solidFill>
                <a:latin typeface="Aptos" panose="020B0004020202020204" pitchFamily="34" charset="0"/>
                <a:ea typeface="ui-sans-serif" pitchFamily="34" charset="-122"/>
                <a:cs typeface="ui-sans-serif" pitchFamily="34" charset="-120"/>
              </a:rPr>
              <a:t>Video Demo:</a:t>
            </a:r>
            <a:endParaRPr lang="en-US" sz="1350" dirty="0">
              <a:latin typeface="Aptos" panose="020B0004020202020204" pitchFamily="34" charset="0"/>
            </a:endParaRPr>
          </a:p>
        </p:txBody>
      </p:sp>
      <p:sp>
        <p:nvSpPr>
          <p:cNvPr id="25" name="Text 6">
            <a:extLst>
              <a:ext uri="{FF2B5EF4-FFF2-40B4-BE49-F238E27FC236}">
                <a16:creationId xmlns:a16="http://schemas.microsoft.com/office/drawing/2014/main" id="{7118AB53-579A-2349-A3F5-58D25169070B}"/>
              </a:ext>
            </a:extLst>
          </p:cNvPr>
          <p:cNvSpPr/>
          <p:nvPr/>
        </p:nvSpPr>
        <p:spPr>
          <a:xfrm>
            <a:off x="6400800" y="5295900"/>
            <a:ext cx="1489472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D1D5DB"/>
                </a:solidFill>
                <a:latin typeface="Aptos" panose="020B0004020202020204" pitchFamily="34" charset="0"/>
                <a:ea typeface="ui-sans-serif" pitchFamily="34" charset="-122"/>
                <a:cs typeface="ui-sans-serif" pitchFamily="34" charset="-120"/>
              </a:rPr>
              <a:t>GitHub:</a:t>
            </a:r>
            <a:endParaRPr lang="en-US" sz="1350" dirty="0">
              <a:latin typeface="Aptos" panose="020B0004020202020204" pitchFamily="34" charset="0"/>
            </a:endParaRPr>
          </a:p>
        </p:txBody>
      </p:sp>
      <p:sp>
        <p:nvSpPr>
          <p:cNvPr id="29" name="Text 5">
            <a:extLst>
              <a:ext uri="{FF2B5EF4-FFF2-40B4-BE49-F238E27FC236}">
                <a16:creationId xmlns:a16="http://schemas.microsoft.com/office/drawing/2014/main" id="{BB587DDC-858C-9119-549E-B3ACDDCEBDF4}"/>
              </a:ext>
            </a:extLst>
          </p:cNvPr>
          <p:cNvSpPr/>
          <p:nvPr/>
        </p:nvSpPr>
        <p:spPr>
          <a:xfrm>
            <a:off x="3227759" y="5353050"/>
            <a:ext cx="2472928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100"/>
              </a:lnSpc>
            </a:pPr>
            <a:r>
              <a:rPr lang="en-US" sz="1350" dirty="0">
                <a:solidFill>
                  <a:srgbClr val="FFFFFF"/>
                </a:solidFill>
                <a:latin typeface="Aptos" panose="020B0004020202020204" pitchFamily="34" charset="0"/>
                <a:ea typeface="ui-sans-serif" pitchFamily="34" charset="-122"/>
                <a:cs typeface="ui-sans-serif" pitchFamily="34" charset="-120"/>
              </a:rPr>
              <a:t>https://www.youtube.com/watch?v=ZWJvCVrIL5w</a:t>
            </a:r>
            <a:endParaRPr lang="en-US" sz="1350" dirty="0">
              <a:latin typeface="Aptos" panose="020B0004020202020204" pitchFamily="34" charset="0"/>
            </a:endParaRPr>
          </a:p>
        </p:txBody>
      </p:sp>
      <p:sp>
        <p:nvSpPr>
          <p:cNvPr id="30" name="Text 9">
            <a:extLst>
              <a:ext uri="{FF2B5EF4-FFF2-40B4-BE49-F238E27FC236}">
                <a16:creationId xmlns:a16="http://schemas.microsoft.com/office/drawing/2014/main" id="{AEBC0BA2-D6B7-72F5-102A-1D9E2BC13FB8}"/>
              </a:ext>
            </a:extLst>
          </p:cNvPr>
          <p:cNvSpPr/>
          <p:nvPr/>
        </p:nvSpPr>
        <p:spPr>
          <a:xfrm>
            <a:off x="7962841" y="5248455"/>
            <a:ext cx="2570012" cy="50536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100"/>
              </a:lnSpc>
            </a:pPr>
            <a:r>
              <a:rPr lang="en-US" sz="1350" dirty="0">
                <a:solidFill>
                  <a:srgbClr val="FFFFFF"/>
                </a:solidFill>
                <a:latin typeface="Aptos" panose="020B0004020202020204" pitchFamily="34" charset="0"/>
                <a:ea typeface="ui-sans-serif" pitchFamily="34" charset="-122"/>
                <a:cs typeface="ui-sans-serif" pitchFamily="34" charset="-120"/>
              </a:rPr>
              <a:t>https://github.com/ST10435330/LecturerClaimsSystem.git</a:t>
            </a:r>
            <a:endParaRPr lang="en-US" sz="1350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1600200"/>
            <a:ext cx="457200" cy="4572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5350" y="1695450"/>
            <a:ext cx="190500" cy="2667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2362200"/>
            <a:ext cx="457200" cy="4572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1063" y="2457450"/>
            <a:ext cx="219075" cy="2667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000" y="3124200"/>
            <a:ext cx="457200" cy="4572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1063" y="3219450"/>
            <a:ext cx="219075" cy="2667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2000" y="3886200"/>
            <a:ext cx="457200" cy="4572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71538" y="3981450"/>
            <a:ext cx="238125" cy="2667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00800" y="1600200"/>
            <a:ext cx="457200" cy="4572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10338" y="1695450"/>
            <a:ext cx="238125" cy="2667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00800" y="2362200"/>
            <a:ext cx="457200" cy="4572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10338" y="2457450"/>
            <a:ext cx="238125" cy="2667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00800" y="3124200"/>
            <a:ext cx="457200" cy="4572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519863" y="3219450"/>
            <a:ext cx="219075" cy="2667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62000" y="6324600"/>
            <a:ext cx="304800" cy="3048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57250" y="6400800"/>
            <a:ext cx="114300" cy="1524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304163" y="6324600"/>
            <a:ext cx="304800" cy="3048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370838" y="6400800"/>
            <a:ext cx="171450" cy="1524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0" y="6781800"/>
            <a:ext cx="12192000" cy="76200"/>
          </a:xfrm>
          <a:prstGeom prst="rect">
            <a:avLst/>
          </a:prstGeom>
        </p:spPr>
      </p:pic>
      <p:sp>
        <p:nvSpPr>
          <p:cNvPr id="26" name="Text 0"/>
          <p:cNvSpPr/>
          <p:nvPr/>
        </p:nvSpPr>
        <p:spPr>
          <a:xfrm>
            <a:off x="762000" y="609600"/>
            <a:ext cx="128016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PRESENTATION AGENDA</a:t>
            </a:r>
            <a:endParaRPr lang="en-US" sz="3600" dirty="0"/>
          </a:p>
        </p:txBody>
      </p:sp>
      <p:sp>
        <p:nvSpPr>
          <p:cNvPr id="27" name="Text 1"/>
          <p:cNvSpPr/>
          <p:nvPr/>
        </p:nvSpPr>
        <p:spPr>
          <a:xfrm>
            <a:off x="1371600" y="1562100"/>
            <a:ext cx="2804993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Problem Statement</a:t>
            </a:r>
            <a:endParaRPr lang="en-US" sz="1800" dirty="0"/>
          </a:p>
        </p:txBody>
      </p:sp>
      <p:sp>
        <p:nvSpPr>
          <p:cNvPr id="28" name="Text 2"/>
          <p:cNvSpPr/>
          <p:nvPr/>
        </p:nvSpPr>
        <p:spPr>
          <a:xfrm>
            <a:off x="1371600" y="1866900"/>
            <a:ext cx="280499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Current challenges &amp; objectives</a:t>
            </a:r>
            <a:endParaRPr lang="en-US" sz="1200" dirty="0"/>
          </a:p>
        </p:txBody>
      </p:sp>
      <p:sp>
        <p:nvSpPr>
          <p:cNvPr id="29" name="Text 3"/>
          <p:cNvSpPr/>
          <p:nvPr/>
        </p:nvSpPr>
        <p:spPr>
          <a:xfrm>
            <a:off x="1371600" y="2324100"/>
            <a:ext cx="2577108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System Overview</a:t>
            </a:r>
            <a:endParaRPr lang="en-US" sz="1800" dirty="0"/>
          </a:p>
        </p:txBody>
      </p:sp>
      <p:sp>
        <p:nvSpPr>
          <p:cNvPr id="30" name="Text 4"/>
          <p:cNvSpPr/>
          <p:nvPr/>
        </p:nvSpPr>
        <p:spPr>
          <a:xfrm>
            <a:off x="1371600" y="2628900"/>
            <a:ext cx="257710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Solution architecture</a:t>
            </a:r>
            <a:endParaRPr lang="en-US" sz="1200" dirty="0"/>
          </a:p>
        </p:txBody>
      </p:sp>
      <p:sp>
        <p:nvSpPr>
          <p:cNvPr id="31" name="Text 5"/>
          <p:cNvSpPr/>
          <p:nvPr/>
        </p:nvSpPr>
        <p:spPr>
          <a:xfrm>
            <a:off x="1371600" y="3086100"/>
            <a:ext cx="2027932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Key Features</a:t>
            </a:r>
            <a:endParaRPr lang="en-US" sz="1800" dirty="0"/>
          </a:p>
        </p:txBody>
      </p:sp>
      <p:sp>
        <p:nvSpPr>
          <p:cNvPr id="32" name="Text 6"/>
          <p:cNvSpPr/>
          <p:nvPr/>
        </p:nvSpPr>
        <p:spPr>
          <a:xfrm>
            <a:off x="1371600" y="3390900"/>
            <a:ext cx="2027932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functionality</a:t>
            </a:r>
            <a:endParaRPr lang="en-US" sz="1200" dirty="0"/>
          </a:p>
        </p:txBody>
      </p:sp>
      <p:sp>
        <p:nvSpPr>
          <p:cNvPr id="33" name="Text 7"/>
          <p:cNvSpPr/>
          <p:nvPr/>
        </p:nvSpPr>
        <p:spPr>
          <a:xfrm>
            <a:off x="1371600" y="3848100"/>
            <a:ext cx="3470791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User Roles &amp; Workflows</a:t>
            </a:r>
            <a:endParaRPr lang="en-US" sz="1800" dirty="0"/>
          </a:p>
        </p:txBody>
      </p:sp>
      <p:sp>
        <p:nvSpPr>
          <p:cNvPr id="34" name="Text 8"/>
          <p:cNvSpPr/>
          <p:nvPr/>
        </p:nvSpPr>
        <p:spPr>
          <a:xfrm>
            <a:off x="1371600" y="4152900"/>
            <a:ext cx="347079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levels &amp; processes</a:t>
            </a:r>
            <a:endParaRPr lang="en-US" sz="1200" dirty="0"/>
          </a:p>
        </p:txBody>
      </p:sp>
      <p:sp>
        <p:nvSpPr>
          <p:cNvPr id="35" name="Text 9"/>
          <p:cNvSpPr/>
          <p:nvPr/>
        </p:nvSpPr>
        <p:spPr>
          <a:xfrm>
            <a:off x="7010400" y="1562100"/>
            <a:ext cx="1829872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Automation</a:t>
            </a:r>
            <a:endParaRPr lang="en-US" sz="1800" dirty="0"/>
          </a:p>
        </p:txBody>
      </p:sp>
      <p:sp>
        <p:nvSpPr>
          <p:cNvPr id="36" name="Text 10"/>
          <p:cNvSpPr/>
          <p:nvPr/>
        </p:nvSpPr>
        <p:spPr>
          <a:xfrm>
            <a:off x="7010400" y="1866900"/>
            <a:ext cx="1829872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Implementation details</a:t>
            </a:r>
            <a:endParaRPr lang="en-US" sz="1200" dirty="0"/>
          </a:p>
        </p:txBody>
      </p:sp>
      <p:sp>
        <p:nvSpPr>
          <p:cNvPr id="37" name="Text 11"/>
          <p:cNvSpPr/>
          <p:nvPr/>
        </p:nvSpPr>
        <p:spPr>
          <a:xfrm>
            <a:off x="7010400" y="2324100"/>
            <a:ext cx="3232011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Technical Architecture</a:t>
            </a:r>
            <a:endParaRPr lang="en-US" sz="1800" dirty="0"/>
          </a:p>
        </p:txBody>
      </p:sp>
      <p:sp>
        <p:nvSpPr>
          <p:cNvPr id="38" name="Text 12"/>
          <p:cNvSpPr/>
          <p:nvPr/>
        </p:nvSpPr>
        <p:spPr>
          <a:xfrm>
            <a:off x="7010400" y="2628900"/>
            <a:ext cx="269334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39" name="Text 13"/>
          <p:cNvSpPr/>
          <p:nvPr/>
        </p:nvSpPr>
        <p:spPr>
          <a:xfrm>
            <a:off x="7010400" y="3086100"/>
            <a:ext cx="2865894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7. Live Demonstration</a:t>
            </a:r>
            <a:endParaRPr lang="en-US" sz="1800" dirty="0"/>
          </a:p>
        </p:txBody>
      </p:sp>
      <p:sp>
        <p:nvSpPr>
          <p:cNvPr id="40" name="Text 14"/>
          <p:cNvSpPr/>
          <p:nvPr/>
        </p:nvSpPr>
        <p:spPr>
          <a:xfrm>
            <a:off x="7010400" y="3390900"/>
            <a:ext cx="286589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walkthrough</a:t>
            </a:r>
            <a:endParaRPr lang="en-US" sz="1200" dirty="0"/>
          </a:p>
        </p:txBody>
      </p:sp>
      <p:sp>
        <p:nvSpPr>
          <p:cNvPr id="43" name="Text 17"/>
          <p:cNvSpPr/>
          <p:nvPr/>
        </p:nvSpPr>
        <p:spPr>
          <a:xfrm>
            <a:off x="1143000" y="6343650"/>
            <a:ext cx="256174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Testing &amp; Quality Assurance</a:t>
            </a:r>
            <a:endParaRPr lang="en-US" sz="1350" dirty="0"/>
          </a:p>
        </p:txBody>
      </p:sp>
      <p:sp>
        <p:nvSpPr>
          <p:cNvPr id="44" name="Text 18"/>
          <p:cNvSpPr/>
          <p:nvPr/>
        </p:nvSpPr>
        <p:spPr>
          <a:xfrm>
            <a:off x="8685163" y="6343650"/>
            <a:ext cx="329380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Conclusion &amp; Future Enhancements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1790700"/>
            <a:ext cx="219075" cy="2667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6200" y="1790700"/>
            <a:ext cx="142875" cy="2667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2362200"/>
            <a:ext cx="190500" cy="2667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86200" y="2362200"/>
            <a:ext cx="190500" cy="2667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000" y="2933700"/>
            <a:ext cx="142875" cy="2667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86200" y="2933700"/>
            <a:ext cx="190500" cy="2667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15200" y="1295400"/>
            <a:ext cx="4114800" cy="18288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15200" y="3771900"/>
            <a:ext cx="4114800" cy="7239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429500" y="3943350"/>
            <a:ext cx="381000" cy="3810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534275" y="4000500"/>
            <a:ext cx="171450" cy="2667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15200" y="4648200"/>
            <a:ext cx="4114800" cy="7239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429500" y="4819650"/>
            <a:ext cx="381000" cy="3810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543800" y="4876800"/>
            <a:ext cx="152400" cy="2667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315200" y="5524500"/>
            <a:ext cx="4114800" cy="9525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429500" y="5810250"/>
            <a:ext cx="380405" cy="3810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510165" y="5867400"/>
            <a:ext cx="219075" cy="2667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0" y="6781800"/>
            <a:ext cx="12192000" cy="76200"/>
          </a:xfrm>
          <a:prstGeom prst="rect">
            <a:avLst/>
          </a:prstGeom>
        </p:spPr>
      </p:pic>
      <p:sp>
        <p:nvSpPr>
          <p:cNvPr id="22" name="Text 0"/>
          <p:cNvSpPr/>
          <p:nvPr/>
        </p:nvSpPr>
        <p:spPr>
          <a:xfrm>
            <a:off x="762000" y="457200"/>
            <a:ext cx="128016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THE CHALLENGE: Manual Claims Processing</a:t>
            </a:r>
            <a:endParaRPr lang="en-US" sz="3600" dirty="0"/>
          </a:p>
        </p:txBody>
      </p:sp>
      <p:sp>
        <p:nvSpPr>
          <p:cNvPr id="23" name="Text 1"/>
          <p:cNvSpPr/>
          <p:nvPr/>
        </p:nvSpPr>
        <p:spPr>
          <a:xfrm>
            <a:off x="762000" y="1295400"/>
            <a:ext cx="60960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DBA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Current Problems:</a:t>
            </a:r>
            <a:endParaRPr lang="en-US" sz="1800" dirty="0"/>
          </a:p>
        </p:txBody>
      </p:sp>
      <p:sp>
        <p:nvSpPr>
          <p:cNvPr id="24" name="Text 2"/>
          <p:cNvSpPr/>
          <p:nvPr/>
        </p:nvSpPr>
        <p:spPr>
          <a:xfrm>
            <a:off x="1095375" y="1752600"/>
            <a:ext cx="306627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Time-consuming manual entry</a:t>
            </a:r>
            <a:endParaRPr lang="en-US" sz="1500" dirty="0"/>
          </a:p>
        </p:txBody>
      </p:sp>
      <p:sp>
        <p:nvSpPr>
          <p:cNvPr id="25" name="Text 3"/>
          <p:cNvSpPr/>
          <p:nvPr/>
        </p:nvSpPr>
        <p:spPr>
          <a:xfrm>
            <a:off x="1095375" y="2019300"/>
            <a:ext cx="3066276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Manual data entry prone to delays</a:t>
            </a:r>
            <a:endParaRPr lang="en-US" sz="1050" dirty="0"/>
          </a:p>
        </p:txBody>
      </p:sp>
      <p:sp>
        <p:nvSpPr>
          <p:cNvPr id="26" name="Text 4"/>
          <p:cNvSpPr/>
          <p:nvPr/>
        </p:nvSpPr>
        <p:spPr>
          <a:xfrm>
            <a:off x="4143375" y="1752600"/>
            <a:ext cx="2392978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Calculation errors</a:t>
            </a:r>
            <a:endParaRPr lang="en-US" sz="1500" dirty="0"/>
          </a:p>
        </p:txBody>
      </p:sp>
      <p:sp>
        <p:nvSpPr>
          <p:cNvPr id="27" name="Text 5"/>
          <p:cNvSpPr/>
          <p:nvPr/>
        </p:nvSpPr>
        <p:spPr>
          <a:xfrm>
            <a:off x="4143375" y="2019300"/>
            <a:ext cx="239297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Leads to disputes and corrections</a:t>
            </a:r>
            <a:endParaRPr lang="en-US" sz="1050" dirty="0"/>
          </a:p>
        </p:txBody>
      </p:sp>
      <p:sp>
        <p:nvSpPr>
          <p:cNvPr id="28" name="Text 6"/>
          <p:cNvSpPr/>
          <p:nvPr/>
        </p:nvSpPr>
        <p:spPr>
          <a:xfrm>
            <a:off x="1066800" y="2324100"/>
            <a:ext cx="235065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status transparency</a:t>
            </a:r>
            <a:endParaRPr lang="en-US" sz="1500" dirty="0"/>
          </a:p>
        </p:txBody>
      </p:sp>
      <p:sp>
        <p:nvSpPr>
          <p:cNvPr id="29" name="Text 7"/>
          <p:cNvSpPr/>
          <p:nvPr/>
        </p:nvSpPr>
        <p:spPr>
          <a:xfrm>
            <a:off x="1066800" y="2590800"/>
            <a:ext cx="2350651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Unclear processing stages</a:t>
            </a:r>
            <a:endParaRPr lang="en-US" sz="1050" dirty="0"/>
          </a:p>
        </p:txBody>
      </p:sp>
      <p:sp>
        <p:nvSpPr>
          <p:cNvPr id="30" name="Text 8"/>
          <p:cNvSpPr/>
          <p:nvPr/>
        </p:nvSpPr>
        <p:spPr>
          <a:xfrm>
            <a:off x="4191000" y="2324100"/>
            <a:ext cx="2428518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Tracking difficulties</a:t>
            </a:r>
            <a:endParaRPr lang="en-US" sz="1500" dirty="0"/>
          </a:p>
        </p:txBody>
      </p:sp>
      <p:sp>
        <p:nvSpPr>
          <p:cNvPr id="31" name="Text 9"/>
          <p:cNvSpPr/>
          <p:nvPr/>
        </p:nvSpPr>
        <p:spPr>
          <a:xfrm>
            <a:off x="4191000" y="2590800"/>
            <a:ext cx="242851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Manual search through paperwork</a:t>
            </a:r>
            <a:endParaRPr lang="en-US" sz="1050" dirty="0"/>
          </a:p>
        </p:txBody>
      </p:sp>
      <p:sp>
        <p:nvSpPr>
          <p:cNvPr id="32" name="Text 10"/>
          <p:cNvSpPr/>
          <p:nvPr/>
        </p:nvSpPr>
        <p:spPr>
          <a:xfrm>
            <a:off x="1019175" y="2895600"/>
            <a:ext cx="2706588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Paper documentation risks</a:t>
            </a:r>
            <a:endParaRPr lang="en-US" sz="1500" dirty="0"/>
          </a:p>
        </p:txBody>
      </p:sp>
      <p:sp>
        <p:nvSpPr>
          <p:cNvPr id="33" name="Text 11"/>
          <p:cNvSpPr/>
          <p:nvPr/>
        </p:nvSpPr>
        <p:spPr>
          <a:xfrm>
            <a:off x="1019175" y="3162300"/>
            <a:ext cx="270658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Loss or damage of physical records</a:t>
            </a:r>
            <a:endParaRPr lang="en-US" sz="1050" dirty="0"/>
          </a:p>
        </p:txBody>
      </p:sp>
      <p:sp>
        <p:nvSpPr>
          <p:cNvPr id="34" name="Text 12"/>
          <p:cNvSpPr/>
          <p:nvPr/>
        </p:nvSpPr>
        <p:spPr>
          <a:xfrm>
            <a:off x="4191000" y="2895600"/>
            <a:ext cx="265926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Delayed payments</a:t>
            </a:r>
            <a:endParaRPr lang="en-US" sz="1500" dirty="0"/>
          </a:p>
        </p:txBody>
      </p:sp>
      <p:sp>
        <p:nvSpPr>
          <p:cNvPr id="35" name="Text 13"/>
          <p:cNvSpPr/>
          <p:nvPr/>
        </p:nvSpPr>
        <p:spPr>
          <a:xfrm>
            <a:off x="4191000" y="3162300"/>
            <a:ext cx="2659261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Lecturers wait 4-6 weeks for payment</a:t>
            </a:r>
            <a:endParaRPr lang="en-US" sz="1050" dirty="0"/>
          </a:p>
        </p:txBody>
      </p:sp>
      <p:sp>
        <p:nvSpPr>
          <p:cNvPr id="36" name="Text 14"/>
          <p:cNvSpPr/>
          <p:nvPr/>
        </p:nvSpPr>
        <p:spPr>
          <a:xfrm>
            <a:off x="7315200" y="3352800"/>
            <a:ext cx="41148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DBA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Impact:</a:t>
            </a:r>
            <a:endParaRPr lang="en-US" sz="1800" dirty="0"/>
          </a:p>
        </p:txBody>
      </p:sp>
      <p:sp>
        <p:nvSpPr>
          <p:cNvPr id="37" name="Text 15"/>
          <p:cNvSpPr/>
          <p:nvPr/>
        </p:nvSpPr>
        <p:spPr>
          <a:xfrm>
            <a:off x="7924800" y="3886200"/>
            <a:ext cx="2259747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Lecturers</a:t>
            </a:r>
            <a:endParaRPr lang="en-US" sz="1500" dirty="0"/>
          </a:p>
        </p:txBody>
      </p:sp>
      <p:sp>
        <p:nvSpPr>
          <p:cNvPr id="38" name="Text 16"/>
          <p:cNvSpPr/>
          <p:nvPr/>
        </p:nvSpPr>
        <p:spPr>
          <a:xfrm>
            <a:off x="7924800" y="4152900"/>
            <a:ext cx="225974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Wait 4-6 weeks for payment</a:t>
            </a:r>
            <a:endParaRPr lang="en-US" sz="1200" dirty="0"/>
          </a:p>
        </p:txBody>
      </p:sp>
      <p:sp>
        <p:nvSpPr>
          <p:cNvPr id="39" name="Text 17"/>
          <p:cNvSpPr/>
          <p:nvPr/>
        </p:nvSpPr>
        <p:spPr>
          <a:xfrm>
            <a:off x="7924800" y="4762500"/>
            <a:ext cx="2699087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Coordinators</a:t>
            </a:r>
            <a:endParaRPr lang="en-US" sz="1500" dirty="0"/>
          </a:p>
        </p:txBody>
      </p:sp>
      <p:sp>
        <p:nvSpPr>
          <p:cNvPr id="40" name="Text 18"/>
          <p:cNvSpPr/>
          <p:nvPr/>
        </p:nvSpPr>
        <p:spPr>
          <a:xfrm>
            <a:off x="7924800" y="5029200"/>
            <a:ext cx="269908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Spend 20+ hours/week on claims</a:t>
            </a:r>
            <a:endParaRPr lang="en-US" sz="1200" dirty="0"/>
          </a:p>
        </p:txBody>
      </p:sp>
      <p:sp>
        <p:nvSpPr>
          <p:cNvPr id="41" name="Text 19"/>
          <p:cNvSpPr/>
          <p:nvPr/>
        </p:nvSpPr>
        <p:spPr>
          <a:xfrm>
            <a:off x="7924205" y="5638800"/>
            <a:ext cx="339149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HR</a:t>
            </a:r>
            <a:endParaRPr lang="en-US" sz="1500" dirty="0"/>
          </a:p>
        </p:txBody>
      </p:sp>
      <p:sp>
        <p:nvSpPr>
          <p:cNvPr id="42" name="Text 20"/>
          <p:cNvSpPr/>
          <p:nvPr/>
        </p:nvSpPr>
        <p:spPr>
          <a:xfrm>
            <a:off x="7924205" y="5905500"/>
            <a:ext cx="3391495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Manual invoice generation takes 2 hours per claim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2514600"/>
            <a:ext cx="5029200" cy="7239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300" y="2647950"/>
            <a:ext cx="457200" cy="4572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3462" y="2743200"/>
            <a:ext cx="142875" cy="2667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3390900"/>
            <a:ext cx="5029200" cy="7239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6300" y="3524250"/>
            <a:ext cx="457200" cy="4572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9650" y="3619500"/>
            <a:ext cx="190500" cy="2667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4267200"/>
            <a:ext cx="5029200" cy="7239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6300" y="4400550"/>
            <a:ext cx="457200" cy="4572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09650" y="4495800"/>
            <a:ext cx="190500" cy="2667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00800" y="1485900"/>
            <a:ext cx="5029200" cy="17907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19177" y="1924050"/>
            <a:ext cx="4724400" cy="9525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00800" y="3505200"/>
            <a:ext cx="2438400" cy="10287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391400" y="3619500"/>
            <a:ext cx="457200" cy="4572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548563" y="3714750"/>
            <a:ext cx="142875" cy="2667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991600" y="3505200"/>
            <a:ext cx="2438400" cy="10287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982200" y="3619500"/>
            <a:ext cx="457200" cy="4572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115550" y="3720501"/>
            <a:ext cx="190500" cy="2667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400800" y="5105400"/>
            <a:ext cx="1954857" cy="3810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553200" y="5219700"/>
            <a:ext cx="190500" cy="1524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508057" y="5105400"/>
            <a:ext cx="1304925" cy="3810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660457" y="5219700"/>
            <a:ext cx="133350" cy="1524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0" y="6781800"/>
            <a:ext cx="12192000" cy="76200"/>
          </a:xfrm>
          <a:prstGeom prst="rect">
            <a:avLst/>
          </a:prstGeom>
        </p:spPr>
      </p:pic>
      <p:sp>
        <p:nvSpPr>
          <p:cNvPr id="29" name="Text 0"/>
          <p:cNvSpPr/>
          <p:nvPr/>
        </p:nvSpPr>
        <p:spPr>
          <a:xfrm>
            <a:off x="762000" y="609600"/>
            <a:ext cx="128016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SOLUTION: CMCS Web Application</a:t>
            </a:r>
            <a:endParaRPr lang="en-US" sz="3600" dirty="0"/>
          </a:p>
        </p:txBody>
      </p:sp>
      <p:sp>
        <p:nvSpPr>
          <p:cNvPr id="30" name="Text 1"/>
          <p:cNvSpPr/>
          <p:nvPr/>
        </p:nvSpPr>
        <p:spPr>
          <a:xfrm>
            <a:off x="762000" y="1485900"/>
            <a:ext cx="5029200" cy="800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comprehensive web-based system that automates claims processing, providing real-time visibility and streamlining workflows.</a:t>
            </a:r>
            <a:endParaRPr lang="en-US" sz="1500" dirty="0"/>
          </a:p>
        </p:txBody>
      </p:sp>
      <p:sp>
        <p:nvSpPr>
          <p:cNvPr id="31" name="Text 2"/>
          <p:cNvSpPr/>
          <p:nvPr/>
        </p:nvSpPr>
        <p:spPr>
          <a:xfrm>
            <a:off x="1485900" y="2628900"/>
            <a:ext cx="330255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 Claim Calculations</a:t>
            </a:r>
            <a:endParaRPr lang="en-US" sz="1500" dirty="0"/>
          </a:p>
        </p:txBody>
      </p:sp>
      <p:sp>
        <p:nvSpPr>
          <p:cNvPr id="32" name="Text 3"/>
          <p:cNvSpPr/>
          <p:nvPr/>
        </p:nvSpPr>
        <p:spPr>
          <a:xfrm>
            <a:off x="1485900" y="2895600"/>
            <a:ext cx="3302556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Hours × Rate = Total</a:t>
            </a:r>
            <a:endParaRPr lang="en-US" sz="1200" dirty="0"/>
          </a:p>
        </p:txBody>
      </p:sp>
      <p:sp>
        <p:nvSpPr>
          <p:cNvPr id="33" name="Text 4"/>
          <p:cNvSpPr/>
          <p:nvPr/>
        </p:nvSpPr>
        <p:spPr>
          <a:xfrm>
            <a:off x="1485900" y="3505200"/>
            <a:ext cx="285428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Status Tracking</a:t>
            </a:r>
            <a:endParaRPr lang="en-US" sz="1500" dirty="0"/>
          </a:p>
        </p:txBody>
      </p:sp>
      <p:sp>
        <p:nvSpPr>
          <p:cNvPr id="34" name="Text 5"/>
          <p:cNvSpPr/>
          <p:nvPr/>
        </p:nvSpPr>
        <p:spPr>
          <a:xfrm>
            <a:off x="1485900" y="3771900"/>
            <a:ext cx="285428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Transparent claim progression</a:t>
            </a:r>
            <a:endParaRPr lang="en-US" sz="1200" dirty="0"/>
          </a:p>
        </p:txBody>
      </p:sp>
      <p:sp>
        <p:nvSpPr>
          <p:cNvPr id="35" name="Text 6"/>
          <p:cNvSpPr/>
          <p:nvPr/>
        </p:nvSpPr>
        <p:spPr>
          <a:xfrm>
            <a:off x="1485900" y="4381500"/>
            <a:ext cx="356955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Streamlined Approval Workflows</a:t>
            </a:r>
            <a:endParaRPr lang="en-US" sz="1500" dirty="0"/>
          </a:p>
        </p:txBody>
      </p:sp>
      <p:sp>
        <p:nvSpPr>
          <p:cNvPr id="36" name="Text 7"/>
          <p:cNvSpPr/>
          <p:nvPr/>
        </p:nvSpPr>
        <p:spPr>
          <a:xfrm>
            <a:off x="1485900" y="4648200"/>
            <a:ext cx="356955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Intelligent routing and notifications</a:t>
            </a:r>
            <a:endParaRPr lang="en-US" sz="1200" dirty="0"/>
          </a:p>
        </p:txBody>
      </p:sp>
      <p:sp>
        <p:nvSpPr>
          <p:cNvPr id="37" name="Text 8"/>
          <p:cNvSpPr/>
          <p:nvPr/>
        </p:nvSpPr>
        <p:spPr>
          <a:xfrm>
            <a:off x="6553200" y="1638300"/>
            <a:ext cx="56692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Processing Time Reduction</a:t>
            </a:r>
            <a:endParaRPr lang="en-US" sz="1500" dirty="0"/>
          </a:p>
        </p:txBody>
      </p:sp>
      <p:sp>
        <p:nvSpPr>
          <p:cNvPr id="38" name="Text 9"/>
          <p:cNvSpPr/>
          <p:nvPr/>
        </p:nvSpPr>
        <p:spPr>
          <a:xfrm>
            <a:off x="6991201" y="4152900"/>
            <a:ext cx="150893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Instant Reports</a:t>
            </a:r>
            <a:endParaRPr lang="en-US" sz="1350" dirty="0"/>
          </a:p>
        </p:txBody>
      </p:sp>
      <p:sp>
        <p:nvSpPr>
          <p:cNvPr id="39" name="Text 10"/>
          <p:cNvSpPr/>
          <p:nvPr/>
        </p:nvSpPr>
        <p:spPr>
          <a:xfrm>
            <a:off x="9618315" y="4152900"/>
            <a:ext cx="142196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Accuracy</a:t>
            </a:r>
            <a:endParaRPr lang="en-US" sz="1350" dirty="0"/>
          </a:p>
        </p:txBody>
      </p:sp>
      <p:sp>
        <p:nvSpPr>
          <p:cNvPr id="40" name="Text 11"/>
          <p:cNvSpPr/>
          <p:nvPr/>
        </p:nvSpPr>
        <p:spPr>
          <a:xfrm>
            <a:off x="6400800" y="4762500"/>
            <a:ext cx="50292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Technology:</a:t>
            </a:r>
            <a:endParaRPr lang="en-US" sz="1500" dirty="0"/>
          </a:p>
        </p:txBody>
      </p:sp>
      <p:sp>
        <p:nvSpPr>
          <p:cNvPr id="41" name="Text 12"/>
          <p:cNvSpPr/>
          <p:nvPr/>
        </p:nvSpPr>
        <p:spPr>
          <a:xfrm>
            <a:off x="6819900" y="5181600"/>
            <a:ext cx="166002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ASP.NET Core MVC</a:t>
            </a:r>
            <a:endParaRPr lang="en-US" sz="1200" dirty="0"/>
          </a:p>
        </p:txBody>
      </p:sp>
      <p:sp>
        <p:nvSpPr>
          <p:cNvPr id="42" name="Text 13"/>
          <p:cNvSpPr/>
          <p:nvPr/>
        </p:nvSpPr>
        <p:spPr>
          <a:xfrm>
            <a:off x="8870007" y="5181600"/>
            <a:ext cx="94869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SQL Server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1905000"/>
            <a:ext cx="3403550" cy="9144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" y="2095500"/>
            <a:ext cx="457200" cy="4572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9663" y="2190750"/>
            <a:ext cx="142875" cy="2667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94150" y="1905000"/>
            <a:ext cx="3403550" cy="914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84650" y="2095500"/>
            <a:ext cx="457200" cy="4572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18000" y="2190750"/>
            <a:ext cx="190500" cy="2667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26301" y="1905000"/>
            <a:ext cx="3403699" cy="914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16801" y="2095500"/>
            <a:ext cx="457200" cy="4572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26338" y="2190750"/>
            <a:ext cx="238125" cy="2667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3048000"/>
            <a:ext cx="3403550" cy="914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52500" y="3238500"/>
            <a:ext cx="457200" cy="4572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09663" y="3333750"/>
            <a:ext cx="142875" cy="2667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94150" y="3048000"/>
            <a:ext cx="3403550" cy="914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584650" y="3238500"/>
            <a:ext cx="457200" cy="4572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718000" y="3333750"/>
            <a:ext cx="190500" cy="2667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26301" y="3048000"/>
            <a:ext cx="3403699" cy="9144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216801" y="3238500"/>
            <a:ext cx="457200" cy="4572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373963" y="3333750"/>
            <a:ext cx="142875" cy="2667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62000" y="4838700"/>
            <a:ext cx="2552700" cy="16002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14400" y="4991100"/>
            <a:ext cx="571500" cy="5715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467100" y="4838700"/>
            <a:ext cx="2552700" cy="16002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619500" y="4991100"/>
            <a:ext cx="571500" cy="5715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172200" y="4838700"/>
            <a:ext cx="2552700" cy="16002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324600" y="4991100"/>
            <a:ext cx="571500" cy="5715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877300" y="4838700"/>
            <a:ext cx="2552700" cy="16002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029700" y="4991100"/>
            <a:ext cx="571500" cy="5715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0" y="6781800"/>
            <a:ext cx="12192000" cy="76200"/>
          </a:xfrm>
          <a:prstGeom prst="rect">
            <a:avLst/>
          </a:prstGeom>
        </p:spPr>
      </p:pic>
      <p:sp>
        <p:nvSpPr>
          <p:cNvPr id="32" name="Text 0"/>
          <p:cNvSpPr/>
          <p:nvPr/>
        </p:nvSpPr>
        <p:spPr>
          <a:xfrm>
            <a:off x="762000" y="457200"/>
            <a:ext cx="128016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PROJECT OBJECTIVES</a:t>
            </a:r>
            <a:endParaRPr lang="en-US" sz="3600" dirty="0"/>
          </a:p>
        </p:txBody>
      </p:sp>
      <p:sp>
        <p:nvSpPr>
          <p:cNvPr id="33" name="Text 1"/>
          <p:cNvSpPr/>
          <p:nvPr/>
        </p:nvSpPr>
        <p:spPr>
          <a:xfrm>
            <a:off x="762000" y="1333500"/>
            <a:ext cx="106680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Goals</a:t>
            </a:r>
            <a:endParaRPr lang="en-US" sz="2250" dirty="0"/>
          </a:p>
        </p:txBody>
      </p:sp>
      <p:sp>
        <p:nvSpPr>
          <p:cNvPr id="34" name="Text 2"/>
          <p:cNvSpPr/>
          <p:nvPr/>
        </p:nvSpPr>
        <p:spPr>
          <a:xfrm>
            <a:off x="1562100" y="2095500"/>
            <a:ext cx="2476917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 Calculations</a:t>
            </a:r>
            <a:endParaRPr lang="en-US" sz="1500" dirty="0"/>
          </a:p>
        </p:txBody>
      </p:sp>
      <p:sp>
        <p:nvSpPr>
          <p:cNvPr id="35" name="Text 3"/>
          <p:cNvSpPr/>
          <p:nvPr/>
        </p:nvSpPr>
        <p:spPr>
          <a:xfrm>
            <a:off x="1562100" y="2400300"/>
            <a:ext cx="247691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Hours × Rate = Total</a:t>
            </a:r>
            <a:endParaRPr lang="en-US" sz="1200" dirty="0"/>
          </a:p>
        </p:txBody>
      </p:sp>
      <p:sp>
        <p:nvSpPr>
          <p:cNvPr id="36" name="Text 4"/>
          <p:cNvSpPr/>
          <p:nvPr/>
        </p:nvSpPr>
        <p:spPr>
          <a:xfrm>
            <a:off x="5194250" y="2095500"/>
            <a:ext cx="2172414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Validation</a:t>
            </a:r>
            <a:endParaRPr lang="en-US" sz="1500" dirty="0"/>
          </a:p>
        </p:txBody>
      </p:sp>
      <p:sp>
        <p:nvSpPr>
          <p:cNvPr id="37" name="Text 5"/>
          <p:cNvSpPr/>
          <p:nvPr/>
        </p:nvSpPr>
        <p:spPr>
          <a:xfrm>
            <a:off x="5194250" y="2400300"/>
            <a:ext cx="217241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Error checking</a:t>
            </a:r>
            <a:endParaRPr lang="en-US" sz="1200" dirty="0"/>
          </a:p>
        </p:txBody>
      </p:sp>
      <p:sp>
        <p:nvSpPr>
          <p:cNvPr id="38" name="Text 6"/>
          <p:cNvSpPr/>
          <p:nvPr/>
        </p:nvSpPr>
        <p:spPr>
          <a:xfrm>
            <a:off x="8826401" y="2095500"/>
            <a:ext cx="2088118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Role-based Access</a:t>
            </a:r>
            <a:endParaRPr lang="en-US" sz="1500" dirty="0"/>
          </a:p>
        </p:txBody>
      </p:sp>
      <p:sp>
        <p:nvSpPr>
          <p:cNvPr id="39" name="Text 7"/>
          <p:cNvSpPr/>
          <p:nvPr/>
        </p:nvSpPr>
        <p:spPr>
          <a:xfrm>
            <a:off x="8826401" y="2400300"/>
            <a:ext cx="208811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Controlled permissions</a:t>
            </a:r>
            <a:endParaRPr lang="en-US" sz="1200" dirty="0"/>
          </a:p>
        </p:txBody>
      </p:sp>
      <p:sp>
        <p:nvSpPr>
          <p:cNvPr id="40" name="Text 8"/>
          <p:cNvSpPr/>
          <p:nvPr/>
        </p:nvSpPr>
        <p:spPr>
          <a:xfrm>
            <a:off x="1562100" y="3238500"/>
            <a:ext cx="2578537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 Management</a:t>
            </a:r>
            <a:endParaRPr lang="en-US" sz="1500" dirty="0"/>
          </a:p>
        </p:txBody>
      </p:sp>
      <p:sp>
        <p:nvSpPr>
          <p:cNvPr id="41" name="Text 9"/>
          <p:cNvSpPr/>
          <p:nvPr/>
        </p:nvSpPr>
        <p:spPr>
          <a:xfrm>
            <a:off x="1562100" y="3543300"/>
            <a:ext cx="257853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Upload &amp; storage</a:t>
            </a:r>
            <a:endParaRPr lang="en-US" sz="1200" dirty="0"/>
          </a:p>
        </p:txBody>
      </p:sp>
      <p:sp>
        <p:nvSpPr>
          <p:cNvPr id="42" name="Text 10"/>
          <p:cNvSpPr/>
          <p:nvPr/>
        </p:nvSpPr>
        <p:spPr>
          <a:xfrm>
            <a:off x="5194250" y="3238500"/>
            <a:ext cx="170235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Status Tracking</a:t>
            </a:r>
            <a:endParaRPr lang="en-US" sz="1500" dirty="0"/>
          </a:p>
        </p:txBody>
      </p:sp>
      <p:sp>
        <p:nvSpPr>
          <p:cNvPr id="43" name="Text 11"/>
          <p:cNvSpPr/>
          <p:nvPr/>
        </p:nvSpPr>
        <p:spPr>
          <a:xfrm>
            <a:off x="5194250" y="3543300"/>
            <a:ext cx="1702356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Transparent process</a:t>
            </a:r>
            <a:endParaRPr lang="en-US" sz="1200" dirty="0"/>
          </a:p>
        </p:txBody>
      </p:sp>
      <p:sp>
        <p:nvSpPr>
          <p:cNvPr id="44" name="Text 12"/>
          <p:cNvSpPr/>
          <p:nvPr/>
        </p:nvSpPr>
        <p:spPr>
          <a:xfrm>
            <a:off x="8826401" y="3238500"/>
            <a:ext cx="2121158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 Reports</a:t>
            </a:r>
            <a:endParaRPr lang="en-US" sz="1500" dirty="0"/>
          </a:p>
        </p:txBody>
      </p:sp>
      <p:sp>
        <p:nvSpPr>
          <p:cNvPr id="45" name="Text 13"/>
          <p:cNvSpPr/>
          <p:nvPr/>
        </p:nvSpPr>
        <p:spPr>
          <a:xfrm>
            <a:off x="8826401" y="3543300"/>
            <a:ext cx="212115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Invoices &amp; summaries</a:t>
            </a:r>
            <a:endParaRPr lang="en-US" sz="1200" dirty="0"/>
          </a:p>
        </p:txBody>
      </p:sp>
      <p:sp>
        <p:nvSpPr>
          <p:cNvPr id="46" name="Text 14"/>
          <p:cNvSpPr/>
          <p:nvPr/>
        </p:nvSpPr>
        <p:spPr>
          <a:xfrm>
            <a:off x="762000" y="4267200"/>
            <a:ext cx="106680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Success Metrics</a:t>
            </a:r>
            <a:endParaRPr lang="en-US" sz="2250" dirty="0"/>
          </a:p>
        </p:txBody>
      </p:sp>
      <p:sp>
        <p:nvSpPr>
          <p:cNvPr id="47" name="Text 15"/>
          <p:cNvSpPr/>
          <p:nvPr/>
        </p:nvSpPr>
        <p:spPr>
          <a:xfrm>
            <a:off x="914400" y="5753100"/>
            <a:ext cx="22479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80%</a:t>
            </a:r>
            <a:endParaRPr lang="en-US" sz="1800" dirty="0"/>
          </a:p>
        </p:txBody>
      </p:sp>
      <p:sp>
        <p:nvSpPr>
          <p:cNvPr id="48" name="Text 16"/>
          <p:cNvSpPr/>
          <p:nvPr/>
        </p:nvSpPr>
        <p:spPr>
          <a:xfrm>
            <a:off x="689610" y="6057900"/>
            <a:ext cx="26974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Reduction in processing time</a:t>
            </a:r>
            <a:endParaRPr lang="en-US" sz="1200" dirty="0"/>
          </a:p>
        </p:txBody>
      </p:sp>
      <p:sp>
        <p:nvSpPr>
          <p:cNvPr id="49" name="Text 17"/>
          <p:cNvSpPr/>
          <p:nvPr/>
        </p:nvSpPr>
        <p:spPr>
          <a:xfrm>
            <a:off x="3619500" y="5753100"/>
            <a:ext cx="22479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95%</a:t>
            </a:r>
            <a:endParaRPr lang="en-US" sz="1800" dirty="0"/>
          </a:p>
        </p:txBody>
      </p:sp>
      <p:sp>
        <p:nvSpPr>
          <p:cNvPr id="50" name="Text 18"/>
          <p:cNvSpPr/>
          <p:nvPr/>
        </p:nvSpPr>
        <p:spPr>
          <a:xfrm>
            <a:off x="3394710" y="6057900"/>
            <a:ext cx="26974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Improvement in accuracy</a:t>
            </a:r>
            <a:endParaRPr lang="en-US" sz="1200" dirty="0"/>
          </a:p>
        </p:txBody>
      </p:sp>
      <p:sp>
        <p:nvSpPr>
          <p:cNvPr id="51" name="Text 19"/>
          <p:cNvSpPr/>
          <p:nvPr/>
        </p:nvSpPr>
        <p:spPr>
          <a:xfrm>
            <a:off x="6324600" y="5753100"/>
            <a:ext cx="22479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100%</a:t>
            </a:r>
            <a:endParaRPr lang="en-US" sz="1800" dirty="0"/>
          </a:p>
        </p:txBody>
      </p:sp>
      <p:sp>
        <p:nvSpPr>
          <p:cNvPr id="52" name="Text 20"/>
          <p:cNvSpPr/>
          <p:nvPr/>
        </p:nvSpPr>
        <p:spPr>
          <a:xfrm>
            <a:off x="6099810" y="6057900"/>
            <a:ext cx="26974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Transparency in tracking</a:t>
            </a:r>
            <a:endParaRPr lang="en-US" sz="1200" dirty="0"/>
          </a:p>
        </p:txBody>
      </p:sp>
      <p:sp>
        <p:nvSpPr>
          <p:cNvPr id="53" name="Text 21"/>
          <p:cNvSpPr/>
          <p:nvPr/>
        </p:nvSpPr>
        <p:spPr>
          <a:xfrm>
            <a:off x="9029700" y="5753100"/>
            <a:ext cx="22479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</a:t>
            </a:r>
            <a:endParaRPr lang="en-US" sz="1800" dirty="0"/>
          </a:p>
        </p:txBody>
      </p:sp>
      <p:sp>
        <p:nvSpPr>
          <p:cNvPr id="54" name="Text 22"/>
          <p:cNvSpPr/>
          <p:nvPr/>
        </p:nvSpPr>
        <p:spPr>
          <a:xfrm>
            <a:off x="8804910" y="6057900"/>
            <a:ext cx="26974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Manual calculation errors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1485900"/>
            <a:ext cx="5219700" cy="7239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300" y="1619250"/>
            <a:ext cx="457200" cy="4572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3462" y="1714500"/>
            <a:ext cx="142875" cy="2667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2324100"/>
            <a:ext cx="5219700" cy="7239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300" y="2457450"/>
            <a:ext cx="457200" cy="4572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5838" y="2552700"/>
            <a:ext cx="238125" cy="2667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0300" y="1485900"/>
            <a:ext cx="5219700" cy="7239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24600" y="1619250"/>
            <a:ext cx="457200" cy="4572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34138" y="1714500"/>
            <a:ext cx="238125" cy="2667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0300" y="2324100"/>
            <a:ext cx="5219700" cy="7239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24600" y="2457450"/>
            <a:ext cx="457200" cy="4572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57950" y="2552700"/>
            <a:ext cx="190500" cy="2667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2000" y="4495800"/>
            <a:ext cx="5219700" cy="7239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76300" y="4629150"/>
            <a:ext cx="457200" cy="4572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33462" y="4724400"/>
            <a:ext cx="142875" cy="2667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2000" y="5334000"/>
            <a:ext cx="5219700" cy="7239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76300" y="5467350"/>
            <a:ext cx="457200" cy="4572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95363" y="5562600"/>
            <a:ext cx="219075" cy="2667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210300" y="4495800"/>
            <a:ext cx="5219700" cy="7239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324600" y="4629150"/>
            <a:ext cx="457200" cy="4572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467475" y="4724400"/>
            <a:ext cx="171450" cy="2667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210300" y="5334000"/>
            <a:ext cx="5219700" cy="7239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324600" y="5467350"/>
            <a:ext cx="457200" cy="4572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481763" y="5562600"/>
            <a:ext cx="142875" cy="26670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0" y="6781800"/>
            <a:ext cx="12192000" cy="76200"/>
          </a:xfrm>
          <a:prstGeom prst="rect">
            <a:avLst/>
          </a:prstGeom>
        </p:spPr>
      </p:pic>
      <p:sp>
        <p:nvSpPr>
          <p:cNvPr id="34" name="Text 0"/>
          <p:cNvSpPr/>
          <p:nvPr/>
        </p:nvSpPr>
        <p:spPr>
          <a:xfrm>
            <a:off x="762000" y="304800"/>
            <a:ext cx="106680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FEATURES</a:t>
            </a:r>
            <a:endParaRPr lang="en-US" sz="3600" dirty="0"/>
          </a:p>
        </p:txBody>
      </p:sp>
      <p:sp>
        <p:nvSpPr>
          <p:cNvPr id="35" name="Text 1"/>
          <p:cNvSpPr/>
          <p:nvPr/>
        </p:nvSpPr>
        <p:spPr>
          <a:xfrm>
            <a:off x="1066800" y="1066800"/>
            <a:ext cx="52197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Lecturers</a:t>
            </a:r>
            <a:endParaRPr lang="en-US" sz="1800" dirty="0"/>
          </a:p>
        </p:txBody>
      </p:sp>
      <p:sp>
        <p:nvSpPr>
          <p:cNvPr id="36" name="Text 2"/>
          <p:cNvSpPr/>
          <p:nvPr/>
        </p:nvSpPr>
        <p:spPr>
          <a:xfrm>
            <a:off x="1485900" y="1600200"/>
            <a:ext cx="3595092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Auto-Calculation</a:t>
            </a:r>
            <a:endParaRPr lang="en-US" sz="1500" dirty="0"/>
          </a:p>
        </p:txBody>
      </p:sp>
      <p:sp>
        <p:nvSpPr>
          <p:cNvPr id="37" name="Text 3"/>
          <p:cNvSpPr/>
          <p:nvPr/>
        </p:nvSpPr>
        <p:spPr>
          <a:xfrm>
            <a:off x="1485900" y="1866900"/>
            <a:ext cx="3595092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Automatic calculations: Hours × Rate = Total</a:t>
            </a:r>
            <a:endParaRPr lang="en-US" sz="1200" dirty="0"/>
          </a:p>
        </p:txBody>
      </p:sp>
      <p:sp>
        <p:nvSpPr>
          <p:cNvPr id="38" name="Text 4"/>
          <p:cNvSpPr/>
          <p:nvPr/>
        </p:nvSpPr>
        <p:spPr>
          <a:xfrm>
            <a:off x="1485900" y="2438400"/>
            <a:ext cx="326308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One-Click Submit</a:t>
            </a:r>
            <a:endParaRPr lang="en-US" sz="1500" dirty="0"/>
          </a:p>
        </p:txBody>
      </p:sp>
      <p:sp>
        <p:nvSpPr>
          <p:cNvPr id="39" name="Text 5"/>
          <p:cNvSpPr/>
          <p:nvPr/>
        </p:nvSpPr>
        <p:spPr>
          <a:xfrm>
            <a:off x="1485900" y="2705100"/>
            <a:ext cx="3263086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Quick submission with document upload</a:t>
            </a:r>
            <a:endParaRPr lang="en-US" sz="1200" dirty="0"/>
          </a:p>
        </p:txBody>
      </p:sp>
      <p:sp>
        <p:nvSpPr>
          <p:cNvPr id="40" name="Text 6"/>
          <p:cNvSpPr/>
          <p:nvPr/>
        </p:nvSpPr>
        <p:spPr>
          <a:xfrm>
            <a:off x="6486525" y="1066800"/>
            <a:ext cx="626364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Coordinators/Managers</a:t>
            </a:r>
            <a:endParaRPr lang="en-US" sz="1800" dirty="0"/>
          </a:p>
        </p:txBody>
      </p:sp>
      <p:sp>
        <p:nvSpPr>
          <p:cNvPr id="41" name="Text 7"/>
          <p:cNvSpPr/>
          <p:nvPr/>
        </p:nvSpPr>
        <p:spPr>
          <a:xfrm>
            <a:off x="6934200" y="1600200"/>
            <a:ext cx="259139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 Validation</a:t>
            </a:r>
            <a:endParaRPr lang="en-US" sz="1500" dirty="0"/>
          </a:p>
        </p:txBody>
      </p:sp>
      <p:sp>
        <p:nvSpPr>
          <p:cNvPr id="42" name="Text 8"/>
          <p:cNvSpPr/>
          <p:nvPr/>
        </p:nvSpPr>
        <p:spPr>
          <a:xfrm>
            <a:off x="6934200" y="1866900"/>
            <a:ext cx="259139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checks claims for errors</a:t>
            </a:r>
            <a:endParaRPr lang="en-US" sz="1200" dirty="0"/>
          </a:p>
        </p:txBody>
      </p:sp>
      <p:sp>
        <p:nvSpPr>
          <p:cNvPr id="43" name="Text 9"/>
          <p:cNvSpPr/>
          <p:nvPr/>
        </p:nvSpPr>
        <p:spPr>
          <a:xfrm>
            <a:off x="6934200" y="2438400"/>
            <a:ext cx="261246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 Assessment</a:t>
            </a:r>
            <a:endParaRPr lang="en-US" sz="1500" dirty="0"/>
          </a:p>
        </p:txBody>
      </p:sp>
      <p:sp>
        <p:nvSpPr>
          <p:cNvPr id="44" name="Text 10"/>
          <p:cNvSpPr/>
          <p:nvPr/>
        </p:nvSpPr>
        <p:spPr>
          <a:xfrm>
            <a:off x="6934200" y="2705100"/>
            <a:ext cx="261246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Intelligent risk scoring and alerts</a:t>
            </a:r>
            <a:endParaRPr lang="en-US" sz="1200" dirty="0"/>
          </a:p>
        </p:txBody>
      </p:sp>
      <p:sp>
        <p:nvSpPr>
          <p:cNvPr id="45" name="Text 11"/>
          <p:cNvSpPr/>
          <p:nvPr/>
        </p:nvSpPr>
        <p:spPr>
          <a:xfrm>
            <a:off x="1123950" y="4076700"/>
            <a:ext cx="52197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HR Department</a:t>
            </a:r>
            <a:endParaRPr lang="en-US" sz="1800" dirty="0"/>
          </a:p>
        </p:txBody>
      </p:sp>
      <p:sp>
        <p:nvSpPr>
          <p:cNvPr id="46" name="Text 12"/>
          <p:cNvSpPr/>
          <p:nvPr/>
        </p:nvSpPr>
        <p:spPr>
          <a:xfrm>
            <a:off x="1485900" y="4610100"/>
            <a:ext cx="2511028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Instant Invoices</a:t>
            </a:r>
            <a:endParaRPr lang="en-US" sz="1500" dirty="0"/>
          </a:p>
        </p:txBody>
      </p:sp>
      <p:sp>
        <p:nvSpPr>
          <p:cNvPr id="47" name="Text 13"/>
          <p:cNvSpPr/>
          <p:nvPr/>
        </p:nvSpPr>
        <p:spPr>
          <a:xfrm>
            <a:off x="1485900" y="4876800"/>
            <a:ext cx="251102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Generate professional invoices</a:t>
            </a:r>
            <a:endParaRPr lang="en-US" sz="1200" dirty="0"/>
          </a:p>
        </p:txBody>
      </p:sp>
      <p:sp>
        <p:nvSpPr>
          <p:cNvPr id="48" name="Text 14"/>
          <p:cNvSpPr/>
          <p:nvPr/>
        </p:nvSpPr>
        <p:spPr>
          <a:xfrm>
            <a:off x="1485900" y="5448300"/>
            <a:ext cx="261943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Analytics Dashboard</a:t>
            </a:r>
            <a:endParaRPr lang="en-US" sz="1500" dirty="0"/>
          </a:p>
        </p:txBody>
      </p:sp>
      <p:sp>
        <p:nvSpPr>
          <p:cNvPr id="49" name="Text 15"/>
          <p:cNvSpPr/>
          <p:nvPr/>
        </p:nvSpPr>
        <p:spPr>
          <a:xfrm>
            <a:off x="1485900" y="5715000"/>
            <a:ext cx="261943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Visualize claims data and trends</a:t>
            </a:r>
            <a:endParaRPr lang="en-US" sz="1200" dirty="0"/>
          </a:p>
        </p:txBody>
      </p:sp>
      <p:sp>
        <p:nvSpPr>
          <p:cNvPr id="50" name="Text 16"/>
          <p:cNvSpPr/>
          <p:nvPr/>
        </p:nvSpPr>
        <p:spPr>
          <a:xfrm>
            <a:off x="6543675" y="4076700"/>
            <a:ext cx="52197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Universal Benefits</a:t>
            </a:r>
            <a:endParaRPr lang="en-US" sz="1800" dirty="0"/>
          </a:p>
        </p:txBody>
      </p:sp>
      <p:sp>
        <p:nvSpPr>
          <p:cNvPr id="51" name="Text 17"/>
          <p:cNvSpPr/>
          <p:nvPr/>
        </p:nvSpPr>
        <p:spPr>
          <a:xfrm>
            <a:off x="6934200" y="4610100"/>
            <a:ext cx="237118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Secure Authentication</a:t>
            </a:r>
            <a:endParaRPr lang="en-US" sz="1500" dirty="0"/>
          </a:p>
        </p:txBody>
      </p:sp>
      <p:sp>
        <p:nvSpPr>
          <p:cNvPr id="52" name="Text 18"/>
          <p:cNvSpPr/>
          <p:nvPr/>
        </p:nvSpPr>
        <p:spPr>
          <a:xfrm>
            <a:off x="6934200" y="4876800"/>
            <a:ext cx="237118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Role-based access control</a:t>
            </a:r>
            <a:endParaRPr lang="en-US" sz="1200" dirty="0"/>
          </a:p>
        </p:txBody>
      </p:sp>
      <p:sp>
        <p:nvSpPr>
          <p:cNvPr id="53" name="Text 19"/>
          <p:cNvSpPr/>
          <p:nvPr/>
        </p:nvSpPr>
        <p:spPr>
          <a:xfrm>
            <a:off x="6934200" y="5448300"/>
            <a:ext cx="211669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Responsive Design</a:t>
            </a:r>
            <a:endParaRPr lang="en-US" sz="1500" dirty="0"/>
          </a:p>
        </p:txBody>
      </p:sp>
      <p:sp>
        <p:nvSpPr>
          <p:cNvPr id="54" name="Text 20"/>
          <p:cNvSpPr/>
          <p:nvPr/>
        </p:nvSpPr>
        <p:spPr>
          <a:xfrm>
            <a:off x="6934200" y="5715000"/>
            <a:ext cx="211669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Works on any device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295400"/>
            <a:ext cx="2438400" cy="1524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1447800"/>
            <a:ext cx="381000" cy="381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1504950"/>
            <a:ext cx="190500" cy="2667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1981200"/>
            <a:ext cx="133350" cy="13335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2247900"/>
            <a:ext cx="133350" cy="13335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2514600"/>
            <a:ext cx="133350" cy="13335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54301" y="1295400"/>
            <a:ext cx="2438400" cy="1676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06701" y="1524000"/>
            <a:ext cx="245269" cy="3810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43610" y="1581150"/>
            <a:ext cx="171450" cy="2667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606701" y="2133600"/>
            <a:ext cx="133350" cy="13335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06701" y="2400300"/>
            <a:ext cx="133350" cy="13335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06701" y="2667000"/>
            <a:ext cx="133350" cy="13335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99002" y="1295400"/>
            <a:ext cx="2438400" cy="1676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51402" y="1524000"/>
            <a:ext cx="314623" cy="3810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89650" y="1581150"/>
            <a:ext cx="238125" cy="2667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51402" y="2133600"/>
            <a:ext cx="133350" cy="13335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51402" y="2400300"/>
            <a:ext cx="133350" cy="13335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51402" y="2667000"/>
            <a:ext cx="133350" cy="13335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143702" y="1295400"/>
            <a:ext cx="2438400" cy="17907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296102" y="1447800"/>
            <a:ext cx="381000" cy="3810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367540" y="1504950"/>
            <a:ext cx="238125" cy="2667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96102" y="1981200"/>
            <a:ext cx="133350" cy="13335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96102" y="2247900"/>
            <a:ext cx="133350" cy="13335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96102" y="2514600"/>
            <a:ext cx="133350" cy="13335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96102" y="2781300"/>
            <a:ext cx="133350" cy="13335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990850" y="2057400"/>
            <a:ext cx="762000" cy="1905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038850" y="2057400"/>
            <a:ext cx="762000" cy="1905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086850" y="2057400"/>
            <a:ext cx="762000" cy="1905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524000" y="3467100"/>
            <a:ext cx="9144000" cy="2057400"/>
          </a:xfrm>
          <a:prstGeom prst="rect">
            <a:avLst/>
          </a:prstGeom>
        </p:spPr>
      </p:pic>
      <p:pic>
        <p:nvPicPr>
          <p:cNvPr id="33" name="Image 31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676400" y="4000500"/>
            <a:ext cx="8839200" cy="342900"/>
          </a:xfrm>
          <a:prstGeom prst="rect">
            <a:avLst/>
          </a:prstGeom>
        </p:spPr>
      </p:pic>
      <p:pic>
        <p:nvPicPr>
          <p:cNvPr id="34" name="Image 32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676400" y="4343400"/>
            <a:ext cx="8839200" cy="342900"/>
          </a:xfrm>
          <a:prstGeom prst="rect">
            <a:avLst/>
          </a:prstGeom>
        </p:spPr>
      </p:pic>
      <p:pic>
        <p:nvPicPr>
          <p:cNvPr id="35" name="Image 33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301877" y="4448175"/>
            <a:ext cx="133350" cy="133350"/>
          </a:xfrm>
          <a:prstGeom prst="rect">
            <a:avLst/>
          </a:prstGeom>
        </p:spPr>
      </p:pic>
      <p:pic>
        <p:nvPicPr>
          <p:cNvPr id="36" name="Image 34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557963" y="4448175"/>
            <a:ext cx="85725" cy="133350"/>
          </a:xfrm>
          <a:prstGeom prst="rect">
            <a:avLst/>
          </a:prstGeom>
        </p:spPr>
      </p:pic>
      <p:pic>
        <p:nvPicPr>
          <p:cNvPr id="37" name="Image 35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815090" y="4448175"/>
            <a:ext cx="85725" cy="133350"/>
          </a:xfrm>
          <a:prstGeom prst="rect">
            <a:avLst/>
          </a:prstGeom>
        </p:spPr>
      </p:pic>
      <p:pic>
        <p:nvPicPr>
          <p:cNvPr id="38" name="Image 36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118378" y="4448175"/>
            <a:ext cx="85725" cy="133350"/>
          </a:xfrm>
          <a:prstGeom prst="rect">
            <a:avLst/>
          </a:prstGeom>
        </p:spPr>
      </p:pic>
      <p:pic>
        <p:nvPicPr>
          <p:cNvPr id="39" name="Image 37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676400" y="4686300"/>
            <a:ext cx="8839200" cy="342900"/>
          </a:xfrm>
          <a:prstGeom prst="rect">
            <a:avLst/>
          </a:prstGeom>
        </p:spPr>
      </p:pic>
      <p:pic>
        <p:nvPicPr>
          <p:cNvPr id="40" name="Image 38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325689" y="4791075"/>
            <a:ext cx="85725" cy="133350"/>
          </a:xfrm>
          <a:prstGeom prst="rect">
            <a:avLst/>
          </a:prstGeom>
        </p:spPr>
      </p:pic>
      <p:pic>
        <p:nvPicPr>
          <p:cNvPr id="41" name="Image 39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534150" y="4791075"/>
            <a:ext cx="133350" cy="133350"/>
          </a:xfrm>
          <a:prstGeom prst="rect">
            <a:avLst/>
          </a:prstGeom>
        </p:spPr>
      </p:pic>
      <p:pic>
        <p:nvPicPr>
          <p:cNvPr id="42" name="Image 40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791277" y="4791075"/>
            <a:ext cx="133350" cy="133350"/>
          </a:xfrm>
          <a:prstGeom prst="rect">
            <a:avLst/>
          </a:prstGeom>
        </p:spPr>
      </p:pic>
      <p:pic>
        <p:nvPicPr>
          <p:cNvPr id="43" name="Image 41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094565" y="4791075"/>
            <a:ext cx="133350" cy="133350"/>
          </a:xfrm>
          <a:prstGeom prst="rect">
            <a:avLst/>
          </a:prstGeom>
        </p:spPr>
      </p:pic>
      <p:pic>
        <p:nvPicPr>
          <p:cNvPr id="44" name="Image 42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325689" y="5133975"/>
            <a:ext cx="85725" cy="133350"/>
          </a:xfrm>
          <a:prstGeom prst="rect">
            <a:avLst/>
          </a:prstGeom>
        </p:spPr>
      </p:pic>
      <p:pic>
        <p:nvPicPr>
          <p:cNvPr id="45" name="Image 43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557963" y="5133975"/>
            <a:ext cx="85725" cy="133350"/>
          </a:xfrm>
          <a:prstGeom prst="rect">
            <a:avLst/>
          </a:prstGeom>
        </p:spPr>
      </p:pic>
      <p:pic>
        <p:nvPicPr>
          <p:cNvPr id="46" name="Image 44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815090" y="5133975"/>
            <a:ext cx="85725" cy="133350"/>
          </a:xfrm>
          <a:prstGeom prst="rect">
            <a:avLst/>
          </a:prstGeom>
        </p:spPr>
      </p:pic>
      <p:pic>
        <p:nvPicPr>
          <p:cNvPr id="47" name="Image 45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094565" y="5133975"/>
            <a:ext cx="133350" cy="133350"/>
          </a:xfrm>
          <a:prstGeom prst="rect">
            <a:avLst/>
          </a:prstGeom>
        </p:spPr>
      </p:pic>
      <p:pic>
        <p:nvPicPr>
          <p:cNvPr id="48" name="Image 46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0" y="6781800"/>
            <a:ext cx="12192000" cy="76200"/>
          </a:xfrm>
          <a:prstGeom prst="rect">
            <a:avLst/>
          </a:prstGeom>
        </p:spPr>
      </p:pic>
      <p:sp>
        <p:nvSpPr>
          <p:cNvPr id="50" name="Text 0"/>
          <p:cNvSpPr/>
          <p:nvPr/>
        </p:nvSpPr>
        <p:spPr>
          <a:xfrm>
            <a:off x="762000" y="457200"/>
            <a:ext cx="128016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USERS &amp; PERMISSIONS</a:t>
            </a:r>
            <a:endParaRPr lang="en-US" sz="3600" dirty="0"/>
          </a:p>
        </p:txBody>
      </p:sp>
      <p:sp>
        <p:nvSpPr>
          <p:cNvPr id="51" name="Text 1"/>
          <p:cNvSpPr/>
          <p:nvPr/>
        </p:nvSpPr>
        <p:spPr>
          <a:xfrm>
            <a:off x="1257300" y="1504950"/>
            <a:ext cx="12446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LECTURER</a:t>
            </a:r>
            <a:endParaRPr lang="en-US" sz="1500" dirty="0"/>
          </a:p>
        </p:txBody>
      </p:sp>
      <p:sp>
        <p:nvSpPr>
          <p:cNvPr id="52" name="Text 2"/>
          <p:cNvSpPr/>
          <p:nvPr/>
        </p:nvSpPr>
        <p:spPr>
          <a:xfrm>
            <a:off x="971550" y="1943100"/>
            <a:ext cx="996017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Submit claims</a:t>
            </a:r>
            <a:endParaRPr lang="en-US" sz="1050" dirty="0"/>
          </a:p>
        </p:txBody>
      </p:sp>
      <p:sp>
        <p:nvSpPr>
          <p:cNvPr id="53" name="Text 3"/>
          <p:cNvSpPr/>
          <p:nvPr/>
        </p:nvSpPr>
        <p:spPr>
          <a:xfrm>
            <a:off x="971550" y="2209800"/>
            <a:ext cx="1334452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Upload documents</a:t>
            </a:r>
            <a:endParaRPr lang="en-US" sz="1050" dirty="0"/>
          </a:p>
        </p:txBody>
      </p:sp>
      <p:sp>
        <p:nvSpPr>
          <p:cNvPr id="54" name="Text 4"/>
          <p:cNvSpPr/>
          <p:nvPr/>
        </p:nvSpPr>
        <p:spPr>
          <a:xfrm>
            <a:off x="971550" y="2476500"/>
            <a:ext cx="865644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Track status</a:t>
            </a:r>
            <a:endParaRPr lang="en-US" sz="1050" dirty="0"/>
          </a:p>
        </p:txBody>
      </p:sp>
      <p:sp>
        <p:nvSpPr>
          <p:cNvPr id="55" name="Text 5"/>
          <p:cNvSpPr/>
          <p:nvPr/>
        </p:nvSpPr>
        <p:spPr>
          <a:xfrm>
            <a:off x="3966270" y="1447800"/>
            <a:ext cx="1774031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PROGRAMME COORDINATOR</a:t>
            </a:r>
            <a:endParaRPr lang="en-US" sz="1500" dirty="0"/>
          </a:p>
        </p:txBody>
      </p:sp>
      <p:sp>
        <p:nvSpPr>
          <p:cNvPr id="56" name="Text 6"/>
          <p:cNvSpPr/>
          <p:nvPr/>
        </p:nvSpPr>
        <p:spPr>
          <a:xfrm>
            <a:off x="3816251" y="2095500"/>
            <a:ext cx="144964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 submissions</a:t>
            </a:r>
            <a:endParaRPr lang="en-US" sz="1050" dirty="0"/>
          </a:p>
        </p:txBody>
      </p:sp>
      <p:sp>
        <p:nvSpPr>
          <p:cNvPr id="57" name="Text 7"/>
          <p:cNvSpPr/>
          <p:nvPr/>
        </p:nvSpPr>
        <p:spPr>
          <a:xfrm>
            <a:off x="3816251" y="2362200"/>
            <a:ext cx="159198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Approve/Reject claims</a:t>
            </a:r>
            <a:endParaRPr lang="en-US" sz="1050" dirty="0"/>
          </a:p>
        </p:txBody>
      </p:sp>
      <p:sp>
        <p:nvSpPr>
          <p:cNvPr id="58" name="Text 8"/>
          <p:cNvSpPr/>
          <p:nvPr/>
        </p:nvSpPr>
        <p:spPr>
          <a:xfrm>
            <a:off x="3816251" y="2628900"/>
            <a:ext cx="160716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View validation reports</a:t>
            </a:r>
            <a:endParaRPr lang="en-US" sz="1050" dirty="0"/>
          </a:p>
        </p:txBody>
      </p:sp>
      <p:sp>
        <p:nvSpPr>
          <p:cNvPr id="59" name="Text 9"/>
          <p:cNvSpPr/>
          <p:nvPr/>
        </p:nvSpPr>
        <p:spPr>
          <a:xfrm>
            <a:off x="6880324" y="1447800"/>
            <a:ext cx="1704677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ACADEMIC MANAGER</a:t>
            </a:r>
            <a:endParaRPr lang="en-US" sz="1500" dirty="0"/>
          </a:p>
        </p:txBody>
      </p:sp>
      <p:sp>
        <p:nvSpPr>
          <p:cNvPr id="60" name="Text 10"/>
          <p:cNvSpPr/>
          <p:nvPr/>
        </p:nvSpPr>
        <p:spPr>
          <a:xfrm>
            <a:off x="6660952" y="2095500"/>
            <a:ext cx="1876842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Approve high-value claims</a:t>
            </a:r>
            <a:endParaRPr lang="en-US" sz="1050" dirty="0"/>
          </a:p>
        </p:txBody>
      </p:sp>
      <p:sp>
        <p:nvSpPr>
          <p:cNvPr id="61" name="Text 11"/>
          <p:cNvSpPr/>
          <p:nvPr/>
        </p:nvSpPr>
        <p:spPr>
          <a:xfrm>
            <a:off x="6660952" y="2362200"/>
            <a:ext cx="1325166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Override decisions</a:t>
            </a:r>
            <a:endParaRPr lang="en-US" sz="1050" dirty="0"/>
          </a:p>
        </p:txBody>
      </p:sp>
      <p:sp>
        <p:nvSpPr>
          <p:cNvPr id="62" name="Text 12"/>
          <p:cNvSpPr/>
          <p:nvPr/>
        </p:nvSpPr>
        <p:spPr>
          <a:xfrm>
            <a:off x="6660952" y="2628900"/>
            <a:ext cx="1262836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all reports</a:t>
            </a:r>
            <a:endParaRPr lang="en-US" sz="1050" dirty="0"/>
          </a:p>
        </p:txBody>
      </p:sp>
      <p:sp>
        <p:nvSpPr>
          <p:cNvPr id="63" name="Text 13"/>
          <p:cNvSpPr/>
          <p:nvPr/>
        </p:nvSpPr>
        <p:spPr>
          <a:xfrm>
            <a:off x="9791402" y="1504950"/>
            <a:ext cx="196435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HR DEPARTMENT</a:t>
            </a:r>
            <a:endParaRPr lang="en-US" sz="1500" dirty="0"/>
          </a:p>
        </p:txBody>
      </p:sp>
      <p:sp>
        <p:nvSpPr>
          <p:cNvPr id="64" name="Text 14"/>
          <p:cNvSpPr/>
          <p:nvPr/>
        </p:nvSpPr>
        <p:spPr>
          <a:xfrm>
            <a:off x="9505652" y="1943100"/>
            <a:ext cx="1289804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Generate invoices</a:t>
            </a:r>
            <a:endParaRPr lang="en-US" sz="1050" dirty="0"/>
          </a:p>
        </p:txBody>
      </p:sp>
      <p:sp>
        <p:nvSpPr>
          <p:cNvPr id="65" name="Text 15"/>
          <p:cNvSpPr/>
          <p:nvPr/>
        </p:nvSpPr>
        <p:spPr>
          <a:xfrm>
            <a:off x="9505652" y="2209800"/>
            <a:ext cx="131641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Process payments</a:t>
            </a:r>
            <a:endParaRPr lang="en-US" sz="1050" dirty="0"/>
          </a:p>
        </p:txBody>
      </p:sp>
      <p:sp>
        <p:nvSpPr>
          <p:cNvPr id="66" name="Text 16"/>
          <p:cNvSpPr/>
          <p:nvPr/>
        </p:nvSpPr>
        <p:spPr>
          <a:xfrm>
            <a:off x="9505652" y="2476500"/>
            <a:ext cx="1512332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 lecturer data</a:t>
            </a:r>
            <a:endParaRPr lang="en-US" sz="1050" dirty="0"/>
          </a:p>
        </p:txBody>
      </p:sp>
      <p:sp>
        <p:nvSpPr>
          <p:cNvPr id="67" name="Text 17"/>
          <p:cNvSpPr/>
          <p:nvPr/>
        </p:nvSpPr>
        <p:spPr>
          <a:xfrm>
            <a:off x="9505652" y="2743200"/>
            <a:ext cx="1689854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analytics reports</a:t>
            </a:r>
            <a:endParaRPr lang="en-US" sz="1050" dirty="0"/>
          </a:p>
        </p:txBody>
      </p:sp>
      <p:sp>
        <p:nvSpPr>
          <p:cNvPr id="68" name="Text 18"/>
          <p:cNvSpPr/>
          <p:nvPr/>
        </p:nvSpPr>
        <p:spPr>
          <a:xfrm>
            <a:off x="1676400" y="3619500"/>
            <a:ext cx="88392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CONTROL MATRIX</a:t>
            </a:r>
            <a:endParaRPr lang="en-US" sz="1500" dirty="0"/>
          </a:p>
        </p:txBody>
      </p:sp>
      <p:sp>
        <p:nvSpPr>
          <p:cNvPr id="69" name="Text 19"/>
          <p:cNvSpPr/>
          <p:nvPr/>
        </p:nvSpPr>
        <p:spPr>
          <a:xfrm>
            <a:off x="1685925" y="4000500"/>
            <a:ext cx="176778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Permission</a:t>
            </a:r>
            <a:endParaRPr lang="en-US" sz="1050" dirty="0"/>
          </a:p>
        </p:txBody>
      </p:sp>
      <p:sp>
        <p:nvSpPr>
          <p:cNvPr id="70" name="Text 20"/>
          <p:cNvSpPr/>
          <p:nvPr/>
        </p:nvSpPr>
        <p:spPr>
          <a:xfrm>
            <a:off x="3444180" y="4000500"/>
            <a:ext cx="1848743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Lecturer</a:t>
            </a:r>
            <a:endParaRPr lang="en-US" sz="1050" dirty="0"/>
          </a:p>
        </p:txBody>
      </p:sp>
      <p:sp>
        <p:nvSpPr>
          <p:cNvPr id="71" name="Text 21"/>
          <p:cNvSpPr/>
          <p:nvPr/>
        </p:nvSpPr>
        <p:spPr>
          <a:xfrm>
            <a:off x="5292923" y="4000500"/>
            <a:ext cx="2615952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Coordinator</a:t>
            </a:r>
            <a:endParaRPr lang="en-US" sz="1050" dirty="0"/>
          </a:p>
        </p:txBody>
      </p:sp>
      <p:sp>
        <p:nvSpPr>
          <p:cNvPr id="72" name="Text 22"/>
          <p:cNvSpPr/>
          <p:nvPr/>
        </p:nvSpPr>
        <p:spPr>
          <a:xfrm>
            <a:off x="7908875" y="4000500"/>
            <a:ext cx="1898154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Manager</a:t>
            </a:r>
            <a:endParaRPr lang="en-US" sz="1050" dirty="0"/>
          </a:p>
        </p:txBody>
      </p:sp>
      <p:sp>
        <p:nvSpPr>
          <p:cNvPr id="73" name="Text 23"/>
          <p:cNvSpPr/>
          <p:nvPr/>
        </p:nvSpPr>
        <p:spPr>
          <a:xfrm>
            <a:off x="9807029" y="4000500"/>
            <a:ext cx="708571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HR</a:t>
            </a:r>
            <a:endParaRPr lang="en-US" sz="1050" dirty="0"/>
          </a:p>
        </p:txBody>
      </p:sp>
      <p:sp>
        <p:nvSpPr>
          <p:cNvPr id="74" name="Text 24"/>
          <p:cNvSpPr/>
          <p:nvPr/>
        </p:nvSpPr>
        <p:spPr>
          <a:xfrm>
            <a:off x="1685925" y="4343400"/>
            <a:ext cx="2121337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Submit Claims</a:t>
            </a:r>
            <a:endParaRPr lang="en-US" sz="1050" dirty="0"/>
          </a:p>
        </p:txBody>
      </p:sp>
      <p:sp>
        <p:nvSpPr>
          <p:cNvPr id="75" name="Text 25"/>
          <p:cNvSpPr/>
          <p:nvPr/>
        </p:nvSpPr>
        <p:spPr>
          <a:xfrm>
            <a:off x="1685925" y="4686300"/>
            <a:ext cx="2121337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 Claims</a:t>
            </a:r>
            <a:endParaRPr lang="en-US" sz="1050" dirty="0"/>
          </a:p>
        </p:txBody>
      </p:sp>
      <p:sp>
        <p:nvSpPr>
          <p:cNvPr id="76" name="Text 26"/>
          <p:cNvSpPr/>
          <p:nvPr/>
        </p:nvSpPr>
        <p:spPr>
          <a:xfrm>
            <a:off x="1685925" y="5029200"/>
            <a:ext cx="2121337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Generate Reports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519" y="1238250"/>
            <a:ext cx="2072580" cy="31623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917" y="1447800"/>
            <a:ext cx="342900" cy="3429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8103" y="2272790"/>
            <a:ext cx="152400" cy="152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5276" y="2851749"/>
            <a:ext cx="17145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79215" y="3981450"/>
            <a:ext cx="133350" cy="152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82180" y="2628900"/>
            <a:ext cx="142875" cy="2286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32674" y="1181100"/>
            <a:ext cx="2072580" cy="31623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986980" y="1428750"/>
            <a:ext cx="246013" cy="3429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04196" y="3981450"/>
            <a:ext cx="133350" cy="152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07161" y="2628900"/>
            <a:ext cx="142875" cy="2286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059561" y="1181100"/>
            <a:ext cx="2072729" cy="31623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211961" y="1428750"/>
            <a:ext cx="257473" cy="3429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211961" y="1981200"/>
            <a:ext cx="1767929" cy="9144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247679" y="2091187"/>
            <a:ext cx="152400" cy="1524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211961" y="3019425"/>
            <a:ext cx="1767929" cy="8382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288161" y="3105150"/>
            <a:ext cx="152400" cy="1524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29176" y="3981450"/>
            <a:ext cx="133350" cy="1524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132290" y="2628900"/>
            <a:ext cx="142875" cy="2286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284690" y="1181100"/>
            <a:ext cx="2072580" cy="31623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437090" y="1428750"/>
            <a:ext cx="287387" cy="3429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551390" y="2114550"/>
            <a:ext cx="114300" cy="1524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437090" y="2933700"/>
            <a:ext cx="152400" cy="1524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54305" y="3981450"/>
            <a:ext cx="133350" cy="1524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57271" y="2628900"/>
            <a:ext cx="142875" cy="22860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509671" y="1181100"/>
            <a:ext cx="2072729" cy="3162300"/>
          </a:xfrm>
          <a:prstGeom prst="rect">
            <a:avLst/>
          </a:prstGeom>
        </p:spPr>
      </p:pic>
      <p:pic>
        <p:nvPicPr>
          <p:cNvPr id="33" name="Image 31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662071" y="1428750"/>
            <a:ext cx="225623" cy="342900"/>
          </a:xfrm>
          <a:prstGeom prst="rect">
            <a:avLst/>
          </a:prstGeom>
        </p:spPr>
      </p:pic>
      <p:pic>
        <p:nvPicPr>
          <p:cNvPr id="34" name="Image 32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662071" y="2019300"/>
            <a:ext cx="152400" cy="152400"/>
          </a:xfrm>
          <a:prstGeom prst="rect">
            <a:avLst/>
          </a:prstGeom>
        </p:spPr>
      </p:pic>
      <p:pic>
        <p:nvPicPr>
          <p:cNvPr id="35" name="Image 33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9662071" y="2362200"/>
            <a:ext cx="152400" cy="152400"/>
          </a:xfrm>
          <a:prstGeom prst="rect">
            <a:avLst/>
          </a:prstGeom>
        </p:spPr>
      </p:pic>
      <p:pic>
        <p:nvPicPr>
          <p:cNvPr id="36" name="Image 34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9662071" y="2819400"/>
            <a:ext cx="152400" cy="152400"/>
          </a:xfrm>
          <a:prstGeom prst="rect">
            <a:avLst/>
          </a:prstGeom>
        </p:spPr>
      </p:pic>
      <p:pic>
        <p:nvPicPr>
          <p:cNvPr id="37" name="Image 35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0" y="6781800"/>
            <a:ext cx="12192000" cy="76200"/>
          </a:xfrm>
          <a:prstGeom prst="rect">
            <a:avLst/>
          </a:prstGeom>
        </p:spPr>
      </p:pic>
      <p:sp>
        <p:nvSpPr>
          <p:cNvPr id="39" name="Text 0"/>
          <p:cNvSpPr/>
          <p:nvPr/>
        </p:nvSpPr>
        <p:spPr>
          <a:xfrm>
            <a:off x="762000" y="381000"/>
            <a:ext cx="128016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LECTURER WORKFLOW: SUBMIT A CLAIM</a:t>
            </a:r>
            <a:endParaRPr lang="en-US" sz="2700" dirty="0"/>
          </a:p>
        </p:txBody>
      </p:sp>
      <p:sp>
        <p:nvSpPr>
          <p:cNvPr id="40" name="Text 1"/>
          <p:cNvSpPr/>
          <p:nvPr/>
        </p:nvSpPr>
        <p:spPr>
          <a:xfrm>
            <a:off x="491979" y="1504950"/>
            <a:ext cx="230832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200" dirty="0"/>
          </a:p>
        </p:txBody>
      </p:sp>
      <p:sp>
        <p:nvSpPr>
          <p:cNvPr id="41" name="Text 2"/>
          <p:cNvSpPr/>
          <p:nvPr/>
        </p:nvSpPr>
        <p:spPr>
          <a:xfrm>
            <a:off x="771823" y="1495425"/>
            <a:ext cx="139749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 Details</a:t>
            </a:r>
            <a:endParaRPr lang="en-US" sz="1500" dirty="0"/>
          </a:p>
        </p:txBody>
      </p:sp>
      <p:sp>
        <p:nvSpPr>
          <p:cNvPr id="42" name="Text 3"/>
          <p:cNvSpPr/>
          <p:nvPr/>
        </p:nvSpPr>
        <p:spPr>
          <a:xfrm>
            <a:off x="539916" y="2247900"/>
            <a:ext cx="121622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Hours Worked:</a:t>
            </a:r>
            <a:endParaRPr lang="en-US" sz="1200" dirty="0"/>
          </a:p>
        </p:txBody>
      </p:sp>
      <p:sp>
        <p:nvSpPr>
          <p:cNvPr id="43" name="Text 4"/>
          <p:cNvSpPr/>
          <p:nvPr/>
        </p:nvSpPr>
        <p:spPr>
          <a:xfrm>
            <a:off x="1596014" y="2243587"/>
            <a:ext cx="176778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15.5</a:t>
            </a:r>
            <a:endParaRPr lang="en-US" sz="1200" dirty="0"/>
          </a:p>
        </p:txBody>
      </p:sp>
      <p:sp>
        <p:nvSpPr>
          <p:cNvPr id="44" name="Text 5"/>
          <p:cNvSpPr/>
          <p:nvPr/>
        </p:nvSpPr>
        <p:spPr>
          <a:xfrm>
            <a:off x="561071" y="2851749"/>
            <a:ext cx="101637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Hourly Rate:</a:t>
            </a:r>
            <a:endParaRPr lang="en-US" sz="1200" dirty="0"/>
          </a:p>
        </p:txBody>
      </p:sp>
      <p:sp>
        <p:nvSpPr>
          <p:cNvPr id="45" name="Text 6"/>
          <p:cNvSpPr/>
          <p:nvPr/>
        </p:nvSpPr>
        <p:spPr>
          <a:xfrm>
            <a:off x="1423015" y="2853187"/>
            <a:ext cx="176778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R450</a:t>
            </a:r>
            <a:endParaRPr lang="en-US" sz="1200" dirty="0"/>
          </a:p>
        </p:txBody>
      </p:sp>
      <p:sp>
        <p:nvSpPr>
          <p:cNvPr id="46" name="Text 7"/>
          <p:cNvSpPr/>
          <p:nvPr/>
        </p:nvSpPr>
        <p:spPr>
          <a:xfrm>
            <a:off x="3067496" y="1485900"/>
            <a:ext cx="10179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200" dirty="0"/>
          </a:p>
        </p:txBody>
      </p:sp>
      <p:sp>
        <p:nvSpPr>
          <p:cNvPr id="47" name="Text 8"/>
          <p:cNvSpPr/>
          <p:nvPr/>
        </p:nvSpPr>
        <p:spPr>
          <a:xfrm>
            <a:off x="3347293" y="1333500"/>
            <a:ext cx="1407468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AUTO-CALCULATION</a:t>
            </a:r>
            <a:endParaRPr lang="en-US" sz="1500" dirty="0"/>
          </a:p>
        </p:txBody>
      </p:sp>
      <p:sp>
        <p:nvSpPr>
          <p:cNvPr id="48" name="Text 9"/>
          <p:cNvSpPr/>
          <p:nvPr/>
        </p:nvSpPr>
        <p:spPr>
          <a:xfrm>
            <a:off x="2898429" y="1972125"/>
            <a:ext cx="1767780" cy="3143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</a:t>
            </a:r>
            <a:endParaRPr lang="en-US" sz="1800" dirty="0"/>
          </a:p>
        </p:txBody>
      </p:sp>
      <p:sp>
        <p:nvSpPr>
          <p:cNvPr id="49" name="Text 10"/>
          <p:cNvSpPr/>
          <p:nvPr/>
        </p:nvSpPr>
        <p:spPr>
          <a:xfrm>
            <a:off x="2805202" y="2412431"/>
            <a:ext cx="533995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15.5</a:t>
            </a:r>
            <a:endParaRPr lang="en-US" sz="1200" dirty="0"/>
          </a:p>
        </p:txBody>
      </p:sp>
      <p:sp>
        <p:nvSpPr>
          <p:cNvPr id="50" name="Text 11"/>
          <p:cNvSpPr/>
          <p:nvPr/>
        </p:nvSpPr>
        <p:spPr>
          <a:xfrm>
            <a:off x="3251462" y="2419350"/>
            <a:ext cx="160199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×</a:t>
            </a:r>
            <a:endParaRPr lang="en-US" sz="1800" dirty="0"/>
          </a:p>
        </p:txBody>
      </p:sp>
      <p:sp>
        <p:nvSpPr>
          <p:cNvPr id="51" name="Text 12"/>
          <p:cNvSpPr/>
          <p:nvPr/>
        </p:nvSpPr>
        <p:spPr>
          <a:xfrm>
            <a:off x="3274557" y="2405242"/>
            <a:ext cx="655796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R450</a:t>
            </a:r>
            <a:endParaRPr lang="en-US" sz="1200" dirty="0"/>
          </a:p>
        </p:txBody>
      </p:sp>
      <p:sp>
        <p:nvSpPr>
          <p:cNvPr id="52" name="Text 13"/>
          <p:cNvSpPr/>
          <p:nvPr/>
        </p:nvSpPr>
        <p:spPr>
          <a:xfrm>
            <a:off x="3805710" y="2412431"/>
            <a:ext cx="160199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=</a:t>
            </a:r>
            <a:endParaRPr lang="en-US" sz="1800" dirty="0"/>
          </a:p>
        </p:txBody>
      </p:sp>
      <p:sp>
        <p:nvSpPr>
          <p:cNvPr id="53" name="Text 14"/>
          <p:cNvSpPr/>
          <p:nvPr/>
        </p:nvSpPr>
        <p:spPr>
          <a:xfrm>
            <a:off x="3732258" y="2411711"/>
            <a:ext cx="1266051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2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R6,975.00</a:t>
            </a:r>
            <a:endParaRPr lang="en-US" sz="1200" dirty="0"/>
          </a:p>
        </p:txBody>
      </p:sp>
      <p:sp>
        <p:nvSpPr>
          <p:cNvPr id="54" name="Text 15"/>
          <p:cNvSpPr/>
          <p:nvPr/>
        </p:nvSpPr>
        <p:spPr>
          <a:xfrm>
            <a:off x="2705606" y="3047641"/>
            <a:ext cx="212133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manual math required!</a:t>
            </a:r>
            <a:endParaRPr lang="en-US" sz="1200" dirty="0"/>
          </a:p>
        </p:txBody>
      </p:sp>
      <p:sp>
        <p:nvSpPr>
          <p:cNvPr id="55" name="Text 16"/>
          <p:cNvSpPr/>
          <p:nvPr/>
        </p:nvSpPr>
        <p:spPr>
          <a:xfrm>
            <a:off x="5298281" y="1485900"/>
            <a:ext cx="10179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200" dirty="0"/>
          </a:p>
        </p:txBody>
      </p:sp>
      <p:sp>
        <p:nvSpPr>
          <p:cNvPr id="56" name="Text 17"/>
          <p:cNvSpPr/>
          <p:nvPr/>
        </p:nvSpPr>
        <p:spPr>
          <a:xfrm>
            <a:off x="5583734" y="1333500"/>
            <a:ext cx="1396157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Validation</a:t>
            </a:r>
            <a:endParaRPr lang="en-US" sz="1500" dirty="0"/>
          </a:p>
        </p:txBody>
      </p:sp>
      <p:sp>
        <p:nvSpPr>
          <p:cNvPr id="57" name="Text 18"/>
          <p:cNvSpPr/>
          <p:nvPr/>
        </p:nvSpPr>
        <p:spPr>
          <a:xfrm>
            <a:off x="5392862" y="2028825"/>
            <a:ext cx="1767929" cy="914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100" dirty="0">
                <a:solidFill>
                  <a:srgbClr val="FCA5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Warning:</a:t>
            </a: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"Claim exceeds R5,000 - document required"</a:t>
            </a:r>
            <a:endParaRPr lang="en-US" sz="1100" dirty="0"/>
          </a:p>
        </p:txBody>
      </p:sp>
      <p:sp>
        <p:nvSpPr>
          <p:cNvPr id="58" name="Text 19"/>
          <p:cNvSpPr/>
          <p:nvPr/>
        </p:nvSpPr>
        <p:spPr>
          <a:xfrm>
            <a:off x="5516761" y="3009900"/>
            <a:ext cx="1309123" cy="762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100" dirty="0">
                <a:solidFill>
                  <a:srgbClr val="86EF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Validation:</a:t>
            </a: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All inputs within acceptable ranges</a:t>
            </a:r>
            <a:endParaRPr lang="en-US" sz="1100" dirty="0"/>
          </a:p>
        </p:txBody>
      </p:sp>
      <p:sp>
        <p:nvSpPr>
          <p:cNvPr id="59" name="Text 20"/>
          <p:cNvSpPr/>
          <p:nvPr/>
        </p:nvSpPr>
        <p:spPr>
          <a:xfrm>
            <a:off x="7538293" y="1485900"/>
            <a:ext cx="10179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200" dirty="0"/>
          </a:p>
        </p:txBody>
      </p:sp>
      <p:sp>
        <p:nvSpPr>
          <p:cNvPr id="60" name="Text 21"/>
          <p:cNvSpPr/>
          <p:nvPr/>
        </p:nvSpPr>
        <p:spPr>
          <a:xfrm>
            <a:off x="7838777" y="1333500"/>
            <a:ext cx="1366093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Upload Document</a:t>
            </a:r>
            <a:endParaRPr lang="en-US" sz="1500" dirty="0"/>
          </a:p>
        </p:txBody>
      </p:sp>
      <p:sp>
        <p:nvSpPr>
          <p:cNvPr id="61" name="Text 22"/>
          <p:cNvSpPr/>
          <p:nvPr/>
        </p:nvSpPr>
        <p:spPr>
          <a:xfrm>
            <a:off x="7775823" y="2124075"/>
            <a:ext cx="1418630" cy="3905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Attach PDF/Excel (Max 5MB)</a:t>
            </a:r>
            <a:endParaRPr lang="en-US" sz="1200" dirty="0"/>
          </a:p>
        </p:txBody>
      </p:sp>
      <p:sp>
        <p:nvSpPr>
          <p:cNvPr id="62" name="Text 23"/>
          <p:cNvSpPr/>
          <p:nvPr/>
        </p:nvSpPr>
        <p:spPr>
          <a:xfrm>
            <a:off x="7665690" y="2781300"/>
            <a:ext cx="153918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verifies file type and size</a:t>
            </a:r>
            <a:endParaRPr lang="en-US" sz="1200" dirty="0"/>
          </a:p>
        </p:txBody>
      </p:sp>
      <p:sp>
        <p:nvSpPr>
          <p:cNvPr id="63" name="Text 24"/>
          <p:cNvSpPr/>
          <p:nvPr/>
        </p:nvSpPr>
        <p:spPr>
          <a:xfrm>
            <a:off x="9732466" y="1485900"/>
            <a:ext cx="10179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200" dirty="0"/>
          </a:p>
        </p:txBody>
      </p:sp>
      <p:sp>
        <p:nvSpPr>
          <p:cNvPr id="64" name="Text 25"/>
          <p:cNvSpPr/>
          <p:nvPr/>
        </p:nvSpPr>
        <p:spPr>
          <a:xfrm>
            <a:off x="10001994" y="1333500"/>
            <a:ext cx="1428006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Submit with Confidence</a:t>
            </a:r>
            <a:endParaRPr lang="en-US" sz="1500" dirty="0"/>
          </a:p>
        </p:txBody>
      </p:sp>
      <p:sp>
        <p:nvSpPr>
          <p:cNvPr id="65" name="Text 26"/>
          <p:cNvSpPr/>
          <p:nvPr/>
        </p:nvSpPr>
        <p:spPr>
          <a:xfrm>
            <a:off x="9890671" y="1981200"/>
            <a:ext cx="1727716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One-click submission</a:t>
            </a:r>
            <a:endParaRPr lang="en-US" sz="1200" dirty="0"/>
          </a:p>
        </p:txBody>
      </p:sp>
      <p:sp>
        <p:nvSpPr>
          <p:cNvPr id="66" name="Text 27"/>
          <p:cNvSpPr/>
          <p:nvPr/>
        </p:nvSpPr>
        <p:spPr>
          <a:xfrm>
            <a:off x="9890671" y="2324100"/>
            <a:ext cx="159591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Instant confirmation</a:t>
            </a:r>
            <a:endParaRPr lang="en-US" sz="1200" dirty="0"/>
          </a:p>
        </p:txBody>
      </p:sp>
      <p:sp>
        <p:nvSpPr>
          <p:cNvPr id="67" name="Text 28"/>
          <p:cNvSpPr/>
          <p:nvPr/>
        </p:nvSpPr>
        <p:spPr>
          <a:xfrm>
            <a:off x="9890671" y="2667000"/>
            <a:ext cx="1539329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status tracking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1814" y="-10783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1295400"/>
            <a:ext cx="8534400" cy="8382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18098" y="2362200"/>
            <a:ext cx="5955655" cy="7239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3810000"/>
            <a:ext cx="2552700" cy="6858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6300" y="4076700"/>
            <a:ext cx="152400" cy="152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9000" y="3810000"/>
            <a:ext cx="2552700" cy="6858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43300" y="4076700"/>
            <a:ext cx="152400" cy="1524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45030" y="4629150"/>
            <a:ext cx="2552700" cy="4572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96498" y="4800600"/>
            <a:ext cx="152400" cy="152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02752" y="3829050"/>
            <a:ext cx="2552700" cy="6477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877300" y="3810000"/>
            <a:ext cx="2552700" cy="6477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10300" y="4572000"/>
            <a:ext cx="2552700" cy="6477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877300" y="4572000"/>
            <a:ext cx="2552700" cy="6477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2000" y="5791200"/>
            <a:ext cx="3454301" cy="6477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76300" y="5943600"/>
            <a:ext cx="152400" cy="1524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368701" y="5791200"/>
            <a:ext cx="3454450" cy="6477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483001" y="5943600"/>
            <a:ext cx="152400" cy="1524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975550" y="5791200"/>
            <a:ext cx="3454301" cy="6477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089850" y="5943600"/>
            <a:ext cx="152400" cy="1524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0" y="6781800"/>
            <a:ext cx="12192000" cy="76200"/>
          </a:xfrm>
          <a:prstGeom prst="rect">
            <a:avLst/>
          </a:prstGeom>
        </p:spPr>
      </p:pic>
      <p:sp>
        <p:nvSpPr>
          <p:cNvPr id="29" name="Text 0"/>
          <p:cNvSpPr/>
          <p:nvPr/>
        </p:nvSpPr>
        <p:spPr>
          <a:xfrm>
            <a:off x="762000" y="457200"/>
            <a:ext cx="128016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INTELLIGENT AUTO-CALCULATION</a:t>
            </a:r>
            <a:endParaRPr lang="en-US" sz="3600" dirty="0"/>
          </a:p>
        </p:txBody>
      </p:sp>
      <p:sp>
        <p:nvSpPr>
          <p:cNvPr id="30" name="Text 1"/>
          <p:cNvSpPr/>
          <p:nvPr/>
        </p:nvSpPr>
        <p:spPr>
          <a:xfrm>
            <a:off x="2057400" y="1524000"/>
            <a:ext cx="2804636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Hours Worked</a:t>
            </a:r>
            <a:endParaRPr lang="en-US" sz="2700" dirty="0"/>
          </a:p>
        </p:txBody>
      </p:sp>
      <p:sp>
        <p:nvSpPr>
          <p:cNvPr id="31" name="Text 2"/>
          <p:cNvSpPr/>
          <p:nvPr/>
        </p:nvSpPr>
        <p:spPr>
          <a:xfrm>
            <a:off x="4699397" y="1524000"/>
            <a:ext cx="240387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×</a:t>
            </a:r>
            <a:endParaRPr lang="en-US" sz="2700" dirty="0"/>
          </a:p>
        </p:txBody>
      </p:sp>
      <p:sp>
        <p:nvSpPr>
          <p:cNvPr id="32" name="Text 3"/>
          <p:cNvSpPr/>
          <p:nvPr/>
        </p:nvSpPr>
        <p:spPr>
          <a:xfrm>
            <a:off x="5052120" y="1524000"/>
            <a:ext cx="2309396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Hourly Rate</a:t>
            </a:r>
            <a:endParaRPr lang="en-US" sz="2700" dirty="0"/>
          </a:p>
        </p:txBody>
      </p:sp>
      <p:sp>
        <p:nvSpPr>
          <p:cNvPr id="33" name="Text 4"/>
          <p:cNvSpPr/>
          <p:nvPr/>
        </p:nvSpPr>
        <p:spPr>
          <a:xfrm>
            <a:off x="7281416" y="1524000"/>
            <a:ext cx="240387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=</a:t>
            </a:r>
            <a:endParaRPr lang="en-US" sz="2700" dirty="0"/>
          </a:p>
        </p:txBody>
      </p:sp>
      <p:sp>
        <p:nvSpPr>
          <p:cNvPr id="34" name="Text 5"/>
          <p:cNvSpPr/>
          <p:nvPr/>
        </p:nvSpPr>
        <p:spPr>
          <a:xfrm>
            <a:off x="7786539" y="1524000"/>
            <a:ext cx="2605504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Amount</a:t>
            </a:r>
            <a:endParaRPr lang="en-US" sz="2700" dirty="0"/>
          </a:p>
        </p:txBody>
      </p:sp>
      <p:sp>
        <p:nvSpPr>
          <p:cNvPr id="35" name="Text 6"/>
          <p:cNvSpPr/>
          <p:nvPr/>
        </p:nvSpPr>
        <p:spPr>
          <a:xfrm>
            <a:off x="3308598" y="2552700"/>
            <a:ext cx="667405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15.5</a:t>
            </a:r>
            <a:endParaRPr lang="en-US" sz="2250" dirty="0"/>
          </a:p>
        </p:txBody>
      </p:sp>
      <p:sp>
        <p:nvSpPr>
          <p:cNvPr id="36" name="Text 7"/>
          <p:cNvSpPr/>
          <p:nvPr/>
        </p:nvSpPr>
        <p:spPr>
          <a:xfrm>
            <a:off x="4169569" y="2552700"/>
            <a:ext cx="200382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×</a:t>
            </a:r>
            <a:endParaRPr lang="en-US" sz="2250" dirty="0"/>
          </a:p>
        </p:txBody>
      </p:sp>
      <p:sp>
        <p:nvSpPr>
          <p:cNvPr id="37" name="Text 8"/>
          <p:cNvSpPr/>
          <p:nvPr/>
        </p:nvSpPr>
        <p:spPr>
          <a:xfrm>
            <a:off x="4641354" y="2552700"/>
            <a:ext cx="819745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R450</a:t>
            </a:r>
            <a:endParaRPr lang="en-US" sz="2250" dirty="0"/>
          </a:p>
        </p:txBody>
      </p:sp>
      <p:sp>
        <p:nvSpPr>
          <p:cNvPr id="38" name="Text 9"/>
          <p:cNvSpPr/>
          <p:nvPr/>
        </p:nvSpPr>
        <p:spPr>
          <a:xfrm>
            <a:off x="5438775" y="2552700"/>
            <a:ext cx="200382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=</a:t>
            </a:r>
            <a:endParaRPr lang="en-US" sz="2250" dirty="0"/>
          </a:p>
        </p:txBody>
      </p:sp>
      <p:sp>
        <p:nvSpPr>
          <p:cNvPr id="39" name="Text 10"/>
          <p:cNvSpPr/>
          <p:nvPr/>
        </p:nvSpPr>
        <p:spPr>
          <a:xfrm>
            <a:off x="5720060" y="2552700"/>
            <a:ext cx="1582519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R6,975.00</a:t>
            </a:r>
            <a:endParaRPr lang="en-US" sz="2250" dirty="0"/>
          </a:p>
        </p:txBody>
      </p:sp>
      <p:sp>
        <p:nvSpPr>
          <p:cNvPr id="40" name="Text 11"/>
          <p:cNvSpPr/>
          <p:nvPr/>
        </p:nvSpPr>
        <p:spPr>
          <a:xfrm>
            <a:off x="7267426" y="2628900"/>
            <a:ext cx="1938992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Auto-calculated in real-time</a:t>
            </a:r>
            <a:endParaRPr lang="en-US" sz="1050" dirty="0"/>
          </a:p>
        </p:txBody>
      </p:sp>
      <p:sp>
        <p:nvSpPr>
          <p:cNvPr id="41" name="Text 12"/>
          <p:cNvSpPr/>
          <p:nvPr/>
        </p:nvSpPr>
        <p:spPr>
          <a:xfrm>
            <a:off x="1009650" y="3390900"/>
            <a:ext cx="52197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Benefits</a:t>
            </a:r>
            <a:endParaRPr lang="en-US" sz="1800" dirty="0"/>
          </a:p>
        </p:txBody>
      </p:sp>
      <p:sp>
        <p:nvSpPr>
          <p:cNvPr id="42" name="Text 13"/>
          <p:cNvSpPr/>
          <p:nvPr/>
        </p:nvSpPr>
        <p:spPr>
          <a:xfrm>
            <a:off x="1104900" y="3924300"/>
            <a:ext cx="20955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Instant calculation as user types</a:t>
            </a:r>
            <a:endParaRPr lang="en-US" sz="1200" dirty="0"/>
          </a:p>
        </p:txBody>
      </p:sp>
      <p:sp>
        <p:nvSpPr>
          <p:cNvPr id="43" name="Text 14"/>
          <p:cNvSpPr/>
          <p:nvPr/>
        </p:nvSpPr>
        <p:spPr>
          <a:xfrm>
            <a:off x="3771900" y="4038600"/>
            <a:ext cx="181933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calculation errors</a:t>
            </a:r>
            <a:endParaRPr lang="en-US" sz="1200" dirty="0"/>
          </a:p>
        </p:txBody>
      </p:sp>
      <p:sp>
        <p:nvSpPr>
          <p:cNvPr id="45" name="Text 16"/>
          <p:cNvSpPr/>
          <p:nvPr/>
        </p:nvSpPr>
        <p:spPr>
          <a:xfrm>
            <a:off x="2391727" y="4750998"/>
            <a:ext cx="247030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Immediate validation feedback</a:t>
            </a:r>
            <a:endParaRPr lang="en-US" sz="1200" dirty="0"/>
          </a:p>
        </p:txBody>
      </p:sp>
      <p:sp>
        <p:nvSpPr>
          <p:cNvPr id="46" name="Text 17"/>
          <p:cNvSpPr/>
          <p:nvPr/>
        </p:nvSpPr>
        <p:spPr>
          <a:xfrm>
            <a:off x="6515100" y="3390900"/>
            <a:ext cx="52197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Validation Rules</a:t>
            </a:r>
            <a:endParaRPr lang="en-US" sz="1800" dirty="0"/>
          </a:p>
        </p:txBody>
      </p:sp>
      <p:sp>
        <p:nvSpPr>
          <p:cNvPr id="47" name="Text 18"/>
          <p:cNvSpPr/>
          <p:nvPr/>
        </p:nvSpPr>
        <p:spPr>
          <a:xfrm>
            <a:off x="6324600" y="3924300"/>
            <a:ext cx="23241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Hours</a:t>
            </a:r>
            <a:endParaRPr lang="en-US" sz="1200" dirty="0"/>
          </a:p>
        </p:txBody>
      </p:sp>
      <p:sp>
        <p:nvSpPr>
          <p:cNvPr id="48" name="Text 19"/>
          <p:cNvSpPr/>
          <p:nvPr/>
        </p:nvSpPr>
        <p:spPr>
          <a:xfrm>
            <a:off x="6324600" y="4152900"/>
            <a:ext cx="27889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0.5 - 744 hours per month</a:t>
            </a:r>
            <a:endParaRPr lang="en-US" sz="1050" dirty="0"/>
          </a:p>
        </p:txBody>
      </p:sp>
      <p:sp>
        <p:nvSpPr>
          <p:cNvPr id="49" name="Text 20"/>
          <p:cNvSpPr/>
          <p:nvPr/>
        </p:nvSpPr>
        <p:spPr>
          <a:xfrm>
            <a:off x="8991600" y="3924300"/>
            <a:ext cx="23241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Rate</a:t>
            </a:r>
            <a:endParaRPr lang="en-US" sz="1200" dirty="0"/>
          </a:p>
        </p:txBody>
      </p:sp>
      <p:sp>
        <p:nvSpPr>
          <p:cNvPr id="50" name="Text 21"/>
          <p:cNvSpPr/>
          <p:nvPr/>
        </p:nvSpPr>
        <p:spPr>
          <a:xfrm>
            <a:off x="8991600" y="4152900"/>
            <a:ext cx="27889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R50 - R10,000 per hour</a:t>
            </a:r>
            <a:endParaRPr lang="en-US" sz="1050" dirty="0"/>
          </a:p>
        </p:txBody>
      </p:sp>
      <p:sp>
        <p:nvSpPr>
          <p:cNvPr id="51" name="Text 22"/>
          <p:cNvSpPr/>
          <p:nvPr/>
        </p:nvSpPr>
        <p:spPr>
          <a:xfrm>
            <a:off x="6324600" y="4686300"/>
            <a:ext cx="23241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</a:t>
            </a:r>
            <a:endParaRPr lang="en-US" sz="1200" dirty="0"/>
          </a:p>
        </p:txBody>
      </p:sp>
      <p:sp>
        <p:nvSpPr>
          <p:cNvPr id="52" name="Text 23"/>
          <p:cNvSpPr/>
          <p:nvPr/>
        </p:nvSpPr>
        <p:spPr>
          <a:xfrm>
            <a:off x="6324600" y="4914900"/>
            <a:ext cx="27889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 to R100,000 per claim</a:t>
            </a:r>
            <a:endParaRPr lang="en-US" sz="1050" dirty="0"/>
          </a:p>
        </p:txBody>
      </p:sp>
      <p:sp>
        <p:nvSpPr>
          <p:cNvPr id="53" name="Text 24"/>
          <p:cNvSpPr/>
          <p:nvPr/>
        </p:nvSpPr>
        <p:spPr>
          <a:xfrm>
            <a:off x="8991600" y="4686300"/>
            <a:ext cx="23241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</a:t>
            </a:r>
            <a:endParaRPr lang="en-US" sz="1200" dirty="0"/>
          </a:p>
        </p:txBody>
      </p:sp>
      <p:sp>
        <p:nvSpPr>
          <p:cNvPr id="54" name="Text 25"/>
          <p:cNvSpPr/>
          <p:nvPr/>
        </p:nvSpPr>
        <p:spPr>
          <a:xfrm>
            <a:off x="8991600" y="4914900"/>
            <a:ext cx="27889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Required if total &gt; R5,000</a:t>
            </a:r>
            <a:endParaRPr lang="en-US" sz="1050" dirty="0"/>
          </a:p>
        </p:txBody>
      </p:sp>
      <p:sp>
        <p:nvSpPr>
          <p:cNvPr id="55" name="Text 26"/>
          <p:cNvSpPr/>
          <p:nvPr/>
        </p:nvSpPr>
        <p:spPr>
          <a:xfrm>
            <a:off x="1066800" y="5372100"/>
            <a:ext cx="106680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Example Warnings</a:t>
            </a:r>
            <a:endParaRPr lang="en-US" sz="1800" dirty="0"/>
          </a:p>
        </p:txBody>
      </p:sp>
      <p:sp>
        <p:nvSpPr>
          <p:cNvPr id="56" name="Text 27"/>
          <p:cNvSpPr/>
          <p:nvPr/>
        </p:nvSpPr>
        <p:spPr>
          <a:xfrm>
            <a:off x="1104900" y="5905500"/>
            <a:ext cx="130391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Hours Warning</a:t>
            </a:r>
            <a:endParaRPr lang="en-US" sz="1200" dirty="0"/>
          </a:p>
        </p:txBody>
      </p:sp>
      <p:sp>
        <p:nvSpPr>
          <p:cNvPr id="57" name="Text 28"/>
          <p:cNvSpPr/>
          <p:nvPr/>
        </p:nvSpPr>
        <p:spPr>
          <a:xfrm>
            <a:off x="876300" y="6134100"/>
            <a:ext cx="3870841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"Hours exceed 160 - requires manager approval"</a:t>
            </a:r>
            <a:endParaRPr lang="en-US" sz="1050" dirty="0"/>
          </a:p>
        </p:txBody>
      </p:sp>
      <p:sp>
        <p:nvSpPr>
          <p:cNvPr id="58" name="Text 29"/>
          <p:cNvSpPr/>
          <p:nvPr/>
        </p:nvSpPr>
        <p:spPr>
          <a:xfrm>
            <a:off x="4711601" y="5905500"/>
            <a:ext cx="1171932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Rate Warning</a:t>
            </a:r>
            <a:endParaRPr lang="en-US" sz="1200" dirty="0"/>
          </a:p>
        </p:txBody>
      </p:sp>
      <p:sp>
        <p:nvSpPr>
          <p:cNvPr id="59" name="Text 30"/>
          <p:cNvSpPr/>
          <p:nvPr/>
        </p:nvSpPr>
        <p:spPr>
          <a:xfrm>
            <a:off x="4483001" y="6134100"/>
            <a:ext cx="38710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"Rate is above standard range"</a:t>
            </a:r>
            <a:endParaRPr lang="en-US" sz="1050" dirty="0"/>
          </a:p>
        </p:txBody>
      </p:sp>
      <p:sp>
        <p:nvSpPr>
          <p:cNvPr id="60" name="Text 31"/>
          <p:cNvSpPr/>
          <p:nvPr/>
        </p:nvSpPr>
        <p:spPr>
          <a:xfrm>
            <a:off x="8318450" y="5905500"/>
            <a:ext cx="166967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 Warning</a:t>
            </a:r>
            <a:endParaRPr lang="en-US" sz="1200" dirty="0"/>
          </a:p>
        </p:txBody>
      </p:sp>
      <p:sp>
        <p:nvSpPr>
          <p:cNvPr id="61" name="Text 32"/>
          <p:cNvSpPr/>
          <p:nvPr/>
        </p:nvSpPr>
        <p:spPr>
          <a:xfrm>
            <a:off x="8089850" y="6134100"/>
            <a:ext cx="3870841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"Supporting document missing"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1257300"/>
            <a:ext cx="228600" cy="2286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1714500"/>
            <a:ext cx="190500" cy="1905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2476500"/>
            <a:ext cx="190500" cy="1905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3238500"/>
            <a:ext cx="190500" cy="1905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000" y="4076700"/>
            <a:ext cx="190500" cy="1905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24600" y="1676400"/>
            <a:ext cx="209550" cy="20955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24600" y="2362200"/>
            <a:ext cx="209550" cy="20955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24600" y="3048000"/>
            <a:ext cx="209550" cy="20955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24600" y="3733800"/>
            <a:ext cx="209550" cy="20955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24600" y="4419600"/>
            <a:ext cx="5105400" cy="16383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77000" y="5562600"/>
            <a:ext cx="4800600" cy="3429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584359" y="5638800"/>
            <a:ext cx="693241" cy="2667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0" y="6781800"/>
            <a:ext cx="12192000" cy="76200"/>
          </a:xfrm>
          <a:prstGeom prst="rect">
            <a:avLst/>
          </a:prstGeom>
        </p:spPr>
      </p:pic>
      <p:sp>
        <p:nvSpPr>
          <p:cNvPr id="24" name="Text 0"/>
          <p:cNvSpPr/>
          <p:nvPr/>
        </p:nvSpPr>
        <p:spPr>
          <a:xfrm>
            <a:off x="762000" y="457200"/>
            <a:ext cx="128016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COORDINATOR/MANAGER: AUTOMATED REVIEW</a:t>
            </a:r>
            <a:endParaRPr lang="en-US" sz="2700" dirty="0"/>
          </a:p>
        </p:txBody>
      </p:sp>
      <p:sp>
        <p:nvSpPr>
          <p:cNvPr id="25" name="Text 1"/>
          <p:cNvSpPr/>
          <p:nvPr/>
        </p:nvSpPr>
        <p:spPr>
          <a:xfrm>
            <a:off x="1104900" y="1219200"/>
            <a:ext cx="612648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 Risk Assessment</a:t>
            </a:r>
            <a:endParaRPr lang="en-US" sz="1800" dirty="0"/>
          </a:p>
        </p:txBody>
      </p:sp>
      <p:sp>
        <p:nvSpPr>
          <p:cNvPr id="26" name="Text 2"/>
          <p:cNvSpPr/>
          <p:nvPr/>
        </p:nvSpPr>
        <p:spPr>
          <a:xfrm>
            <a:off x="1028700" y="1676400"/>
            <a:ext cx="170324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LOW RISK (0-39):</a:t>
            </a:r>
            <a:endParaRPr lang="en-US" sz="1350" dirty="0"/>
          </a:p>
        </p:txBody>
      </p:sp>
      <p:sp>
        <p:nvSpPr>
          <p:cNvPr id="27" name="Text 3"/>
          <p:cNvSpPr/>
          <p:nvPr/>
        </p:nvSpPr>
        <p:spPr>
          <a:xfrm>
            <a:off x="1066800" y="2057400"/>
            <a:ext cx="57607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Auto-approve eligible claims</a:t>
            </a:r>
            <a:endParaRPr lang="en-US" sz="1200" dirty="0"/>
          </a:p>
        </p:txBody>
      </p:sp>
      <p:sp>
        <p:nvSpPr>
          <p:cNvPr id="28" name="Text 4"/>
          <p:cNvSpPr/>
          <p:nvPr/>
        </p:nvSpPr>
        <p:spPr>
          <a:xfrm>
            <a:off x="1028700" y="2438400"/>
            <a:ext cx="2172057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 RISK (40-69):</a:t>
            </a:r>
            <a:endParaRPr lang="en-US" sz="1350" dirty="0"/>
          </a:p>
        </p:txBody>
      </p:sp>
      <p:sp>
        <p:nvSpPr>
          <p:cNvPr id="29" name="Text 5"/>
          <p:cNvSpPr/>
          <p:nvPr/>
        </p:nvSpPr>
        <p:spPr>
          <a:xfrm>
            <a:off x="1066800" y="2819400"/>
            <a:ext cx="48006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Standard review required</a:t>
            </a:r>
            <a:endParaRPr lang="en-US" sz="1200" dirty="0"/>
          </a:p>
        </p:txBody>
      </p:sp>
      <p:sp>
        <p:nvSpPr>
          <p:cNvPr id="30" name="Text 6"/>
          <p:cNvSpPr/>
          <p:nvPr/>
        </p:nvSpPr>
        <p:spPr>
          <a:xfrm>
            <a:off x="1028700" y="3200400"/>
            <a:ext cx="196649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 RISK (70-100):</a:t>
            </a:r>
            <a:endParaRPr lang="en-US" sz="1350" dirty="0"/>
          </a:p>
        </p:txBody>
      </p:sp>
      <p:sp>
        <p:nvSpPr>
          <p:cNvPr id="31" name="Text 7"/>
          <p:cNvSpPr/>
          <p:nvPr/>
        </p:nvSpPr>
        <p:spPr>
          <a:xfrm>
            <a:off x="1066800" y="3581400"/>
            <a:ext cx="48006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Manager approval required</a:t>
            </a:r>
            <a:endParaRPr lang="en-US" sz="1200" dirty="0"/>
          </a:p>
        </p:txBody>
      </p:sp>
      <p:sp>
        <p:nvSpPr>
          <p:cNvPr id="32" name="Text 8"/>
          <p:cNvSpPr/>
          <p:nvPr/>
        </p:nvSpPr>
        <p:spPr>
          <a:xfrm>
            <a:off x="1028700" y="4038600"/>
            <a:ext cx="5105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 Factors Analyzed</a:t>
            </a:r>
            <a:endParaRPr lang="en-US" sz="1500" dirty="0"/>
          </a:p>
        </p:txBody>
      </p:sp>
      <p:sp>
        <p:nvSpPr>
          <p:cNvPr id="33" name="Text 9"/>
          <p:cNvSpPr/>
          <p:nvPr/>
        </p:nvSpPr>
        <p:spPr>
          <a:xfrm>
            <a:off x="1104900" y="4419600"/>
            <a:ext cx="257121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Hours worked vs. monthly limits</a:t>
            </a:r>
            <a:endParaRPr lang="en-US" sz="1200" dirty="0"/>
          </a:p>
        </p:txBody>
      </p:sp>
      <p:sp>
        <p:nvSpPr>
          <p:cNvPr id="34" name="Text 10"/>
          <p:cNvSpPr/>
          <p:nvPr/>
        </p:nvSpPr>
        <p:spPr>
          <a:xfrm>
            <a:off x="1123950" y="4724400"/>
            <a:ext cx="255139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Hourly rate vs. standard ranges</a:t>
            </a:r>
            <a:endParaRPr lang="en-US" sz="1200" dirty="0"/>
          </a:p>
        </p:txBody>
      </p:sp>
      <p:sp>
        <p:nvSpPr>
          <p:cNvPr id="35" name="Text 11"/>
          <p:cNvSpPr/>
          <p:nvPr/>
        </p:nvSpPr>
        <p:spPr>
          <a:xfrm>
            <a:off x="1104900" y="5029200"/>
            <a:ext cx="194167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amount thresholds</a:t>
            </a:r>
            <a:endParaRPr lang="en-US" sz="1200" dirty="0"/>
          </a:p>
        </p:txBody>
      </p:sp>
      <p:sp>
        <p:nvSpPr>
          <p:cNvPr id="36" name="Text 12"/>
          <p:cNvSpPr/>
          <p:nvPr/>
        </p:nvSpPr>
        <p:spPr>
          <a:xfrm>
            <a:off x="1066800" y="5334000"/>
            <a:ext cx="172807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 availability</a:t>
            </a:r>
            <a:endParaRPr lang="en-US" sz="1200" dirty="0"/>
          </a:p>
        </p:txBody>
      </p:sp>
      <p:sp>
        <p:nvSpPr>
          <p:cNvPr id="38" name="Text 14"/>
          <p:cNvSpPr/>
          <p:nvPr/>
        </p:nvSpPr>
        <p:spPr>
          <a:xfrm>
            <a:off x="6724650" y="1219200"/>
            <a:ext cx="612648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Approval Features</a:t>
            </a:r>
            <a:endParaRPr lang="en-US" sz="1800" dirty="0"/>
          </a:p>
        </p:txBody>
      </p:sp>
      <p:sp>
        <p:nvSpPr>
          <p:cNvPr id="39" name="Text 15"/>
          <p:cNvSpPr/>
          <p:nvPr/>
        </p:nvSpPr>
        <p:spPr>
          <a:xfrm>
            <a:off x="6397526" y="1676400"/>
            <a:ext cx="25146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900" dirty="0"/>
          </a:p>
        </p:txBody>
      </p:sp>
      <p:sp>
        <p:nvSpPr>
          <p:cNvPr id="40" name="Text 16"/>
          <p:cNvSpPr/>
          <p:nvPr/>
        </p:nvSpPr>
        <p:spPr>
          <a:xfrm>
            <a:off x="6610350" y="1676400"/>
            <a:ext cx="48196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Auto-Approval</a:t>
            </a:r>
            <a:endParaRPr lang="en-US" sz="1500" dirty="0"/>
          </a:p>
        </p:txBody>
      </p:sp>
      <p:sp>
        <p:nvSpPr>
          <p:cNvPr id="41" name="Text 17"/>
          <p:cNvSpPr/>
          <p:nvPr/>
        </p:nvSpPr>
        <p:spPr>
          <a:xfrm>
            <a:off x="6838950" y="1981200"/>
            <a:ext cx="55092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Claims under 40% risk are automatically approved</a:t>
            </a:r>
            <a:endParaRPr lang="en-US" sz="1200" dirty="0"/>
          </a:p>
        </p:txBody>
      </p:sp>
      <p:sp>
        <p:nvSpPr>
          <p:cNvPr id="42" name="Text 18"/>
          <p:cNvSpPr/>
          <p:nvPr/>
        </p:nvSpPr>
        <p:spPr>
          <a:xfrm>
            <a:off x="6397526" y="2362200"/>
            <a:ext cx="25146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900" dirty="0"/>
          </a:p>
        </p:txBody>
      </p:sp>
      <p:sp>
        <p:nvSpPr>
          <p:cNvPr id="43" name="Text 19"/>
          <p:cNvSpPr/>
          <p:nvPr/>
        </p:nvSpPr>
        <p:spPr>
          <a:xfrm>
            <a:off x="6610350" y="2362200"/>
            <a:ext cx="48196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Pattern Recognition</a:t>
            </a:r>
            <a:endParaRPr lang="en-US" sz="1500" dirty="0"/>
          </a:p>
        </p:txBody>
      </p:sp>
      <p:sp>
        <p:nvSpPr>
          <p:cNvPr id="44" name="Text 20"/>
          <p:cNvSpPr/>
          <p:nvPr/>
        </p:nvSpPr>
        <p:spPr>
          <a:xfrm>
            <a:off x="6838950" y="2667000"/>
            <a:ext cx="55092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flags suspicious patterns for review</a:t>
            </a:r>
            <a:endParaRPr lang="en-US" sz="1200" dirty="0"/>
          </a:p>
        </p:txBody>
      </p:sp>
      <p:sp>
        <p:nvSpPr>
          <p:cNvPr id="45" name="Text 21"/>
          <p:cNvSpPr/>
          <p:nvPr/>
        </p:nvSpPr>
        <p:spPr>
          <a:xfrm>
            <a:off x="6397526" y="3048000"/>
            <a:ext cx="25146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900" dirty="0"/>
          </a:p>
        </p:txBody>
      </p:sp>
      <p:sp>
        <p:nvSpPr>
          <p:cNvPr id="46" name="Text 22"/>
          <p:cNvSpPr/>
          <p:nvPr/>
        </p:nvSpPr>
        <p:spPr>
          <a:xfrm>
            <a:off x="6610350" y="3048000"/>
            <a:ext cx="48196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 Dashboard</a:t>
            </a:r>
            <a:endParaRPr lang="en-US" sz="1500" dirty="0"/>
          </a:p>
        </p:txBody>
      </p:sp>
      <p:sp>
        <p:nvSpPr>
          <p:cNvPr id="47" name="Text 23"/>
          <p:cNvSpPr/>
          <p:nvPr/>
        </p:nvSpPr>
        <p:spPr>
          <a:xfrm>
            <a:off x="6838950" y="3352800"/>
            <a:ext cx="55092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Visual representation of claim risk factors</a:t>
            </a:r>
            <a:endParaRPr lang="en-US" sz="1200" dirty="0"/>
          </a:p>
        </p:txBody>
      </p:sp>
      <p:sp>
        <p:nvSpPr>
          <p:cNvPr id="48" name="Text 24"/>
          <p:cNvSpPr/>
          <p:nvPr/>
        </p:nvSpPr>
        <p:spPr>
          <a:xfrm>
            <a:off x="6397526" y="3733800"/>
            <a:ext cx="25146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900" dirty="0"/>
          </a:p>
        </p:txBody>
      </p:sp>
      <p:sp>
        <p:nvSpPr>
          <p:cNvPr id="49" name="Text 25"/>
          <p:cNvSpPr/>
          <p:nvPr/>
        </p:nvSpPr>
        <p:spPr>
          <a:xfrm>
            <a:off x="6610350" y="3733800"/>
            <a:ext cx="48196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One-Click Decision</a:t>
            </a:r>
            <a:endParaRPr lang="en-US" sz="1500" dirty="0"/>
          </a:p>
        </p:txBody>
      </p:sp>
      <p:sp>
        <p:nvSpPr>
          <p:cNvPr id="50" name="Text 26"/>
          <p:cNvSpPr/>
          <p:nvPr/>
        </p:nvSpPr>
        <p:spPr>
          <a:xfrm>
            <a:off x="6838950" y="4038600"/>
            <a:ext cx="55092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Quick approve/reject with templates</a:t>
            </a:r>
            <a:endParaRPr lang="en-US" sz="1200" dirty="0"/>
          </a:p>
        </p:txBody>
      </p:sp>
      <p:sp>
        <p:nvSpPr>
          <p:cNvPr id="51" name="Text 27"/>
          <p:cNvSpPr/>
          <p:nvPr/>
        </p:nvSpPr>
        <p:spPr>
          <a:xfrm>
            <a:off x="6686550" y="4572000"/>
            <a:ext cx="4800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 Score Example</a:t>
            </a:r>
            <a:endParaRPr lang="en-US" sz="1350" dirty="0"/>
          </a:p>
        </p:txBody>
      </p:sp>
      <p:sp>
        <p:nvSpPr>
          <p:cNvPr id="52" name="Text 28"/>
          <p:cNvSpPr/>
          <p:nvPr/>
        </p:nvSpPr>
        <p:spPr>
          <a:xfrm>
            <a:off x="6477000" y="4914900"/>
            <a:ext cx="1094244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Hours: 180/160</a:t>
            </a:r>
            <a:endParaRPr lang="en-US" sz="1050" dirty="0"/>
          </a:p>
        </p:txBody>
      </p:sp>
      <p:sp>
        <p:nvSpPr>
          <p:cNvPr id="53" name="Text 29"/>
          <p:cNvSpPr/>
          <p:nvPr/>
        </p:nvSpPr>
        <p:spPr>
          <a:xfrm>
            <a:off x="10614273" y="4914900"/>
            <a:ext cx="795992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DE0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+30 points</a:t>
            </a:r>
            <a:endParaRPr lang="en-US" sz="1050" dirty="0"/>
          </a:p>
        </p:txBody>
      </p:sp>
      <p:sp>
        <p:nvSpPr>
          <p:cNvPr id="54" name="Text 30"/>
          <p:cNvSpPr/>
          <p:nvPr/>
        </p:nvSpPr>
        <p:spPr>
          <a:xfrm>
            <a:off x="6477000" y="5105400"/>
            <a:ext cx="1245513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Amount: R90,000</a:t>
            </a:r>
            <a:endParaRPr lang="en-US" sz="1050" dirty="0"/>
          </a:p>
        </p:txBody>
      </p:sp>
      <p:sp>
        <p:nvSpPr>
          <p:cNvPr id="55" name="Text 31"/>
          <p:cNvSpPr/>
          <p:nvPr/>
        </p:nvSpPr>
        <p:spPr>
          <a:xfrm>
            <a:off x="10614273" y="5105400"/>
            <a:ext cx="795992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DE0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+30 points</a:t>
            </a:r>
            <a:endParaRPr lang="en-US" sz="1050" dirty="0"/>
          </a:p>
        </p:txBody>
      </p:sp>
      <p:sp>
        <p:nvSpPr>
          <p:cNvPr id="56" name="Text 32"/>
          <p:cNvSpPr/>
          <p:nvPr/>
        </p:nvSpPr>
        <p:spPr>
          <a:xfrm>
            <a:off x="6477000" y="5295900"/>
            <a:ext cx="107638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Document: Yes</a:t>
            </a:r>
            <a:endParaRPr lang="en-US" sz="1050" dirty="0"/>
          </a:p>
        </p:txBody>
      </p:sp>
      <p:sp>
        <p:nvSpPr>
          <p:cNvPr id="57" name="Text 33"/>
          <p:cNvSpPr/>
          <p:nvPr/>
        </p:nvSpPr>
        <p:spPr>
          <a:xfrm>
            <a:off x="10647759" y="5295900"/>
            <a:ext cx="75580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86EF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-20 points</a:t>
            </a:r>
            <a:endParaRPr lang="en-US" sz="1050" dirty="0"/>
          </a:p>
        </p:txBody>
      </p:sp>
      <p:sp>
        <p:nvSpPr>
          <p:cNvPr id="58" name="Text 34"/>
          <p:cNvSpPr/>
          <p:nvPr/>
        </p:nvSpPr>
        <p:spPr>
          <a:xfrm>
            <a:off x="6477000" y="5657850"/>
            <a:ext cx="209329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RISK SCORE: 40</a:t>
            </a:r>
            <a:endParaRPr lang="en-US" sz="1200" dirty="0"/>
          </a:p>
        </p:txBody>
      </p:sp>
      <p:sp>
        <p:nvSpPr>
          <p:cNvPr id="59" name="Text 35"/>
          <p:cNvSpPr/>
          <p:nvPr/>
        </p:nvSpPr>
        <p:spPr>
          <a:xfrm>
            <a:off x="10660559" y="5638800"/>
            <a:ext cx="83189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1752600"/>
            <a:ext cx="5029200" cy="5334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1828800"/>
            <a:ext cx="381000" cy="381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" y="1938427"/>
            <a:ext cx="152400" cy="1524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2400300"/>
            <a:ext cx="5029200" cy="533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2476500"/>
            <a:ext cx="381000" cy="3810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" y="2590800"/>
            <a:ext cx="15240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3048000"/>
            <a:ext cx="5029200" cy="533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8200" y="3124200"/>
            <a:ext cx="381000" cy="3810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" y="3238500"/>
            <a:ext cx="152400" cy="1524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3695700"/>
            <a:ext cx="5029200" cy="533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8200" y="3771900"/>
            <a:ext cx="381000" cy="3810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2500" y="3886200"/>
            <a:ext cx="152400" cy="152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2000" y="4343400"/>
            <a:ext cx="5029200" cy="533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8200" y="4419600"/>
            <a:ext cx="381000" cy="3810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2500" y="4533900"/>
            <a:ext cx="152400" cy="1524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00800" y="1752600"/>
            <a:ext cx="5029200" cy="26289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53200" y="3352800"/>
            <a:ext cx="4724400" cy="3429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54973" y="4610100"/>
            <a:ext cx="457200" cy="4572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623102" y="4610100"/>
            <a:ext cx="457200" cy="4572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854928" y="4610100"/>
            <a:ext cx="457200" cy="4572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0" y="6781800"/>
            <a:ext cx="12192000" cy="76200"/>
          </a:xfrm>
          <a:prstGeom prst="rect">
            <a:avLst/>
          </a:prstGeom>
        </p:spPr>
      </p:pic>
      <p:sp>
        <p:nvSpPr>
          <p:cNvPr id="26" name="Text 0"/>
          <p:cNvSpPr/>
          <p:nvPr/>
        </p:nvSpPr>
        <p:spPr>
          <a:xfrm>
            <a:off x="762000" y="457200"/>
            <a:ext cx="128016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AUTOMATED RISK ASSESSMENT</a:t>
            </a:r>
            <a:endParaRPr lang="en-US" sz="3600" dirty="0"/>
          </a:p>
        </p:txBody>
      </p:sp>
      <p:sp>
        <p:nvSpPr>
          <p:cNvPr id="27" name="Text 1"/>
          <p:cNvSpPr/>
          <p:nvPr/>
        </p:nvSpPr>
        <p:spPr>
          <a:xfrm>
            <a:off x="762000" y="1295400"/>
            <a:ext cx="603504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 Calculation Factors</a:t>
            </a:r>
            <a:endParaRPr lang="en-US" sz="1800" dirty="0"/>
          </a:p>
        </p:txBody>
      </p:sp>
      <p:sp>
        <p:nvSpPr>
          <p:cNvPr id="28" name="Text 2"/>
          <p:cNvSpPr/>
          <p:nvPr/>
        </p:nvSpPr>
        <p:spPr>
          <a:xfrm>
            <a:off x="1333500" y="1905000"/>
            <a:ext cx="206329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+30 points: Hours &gt; 160</a:t>
            </a:r>
            <a:endParaRPr lang="en-US" sz="1200" dirty="0"/>
          </a:p>
        </p:txBody>
      </p:sp>
      <p:sp>
        <p:nvSpPr>
          <p:cNvPr id="29" name="Text 3"/>
          <p:cNvSpPr/>
          <p:nvPr/>
        </p:nvSpPr>
        <p:spPr>
          <a:xfrm>
            <a:off x="1333500" y="2552700"/>
            <a:ext cx="206329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+25 points: Rate &gt; R800</a:t>
            </a:r>
            <a:endParaRPr lang="en-US" sz="1200" dirty="0"/>
          </a:p>
        </p:txBody>
      </p:sp>
      <p:sp>
        <p:nvSpPr>
          <p:cNvPr id="30" name="Text 4"/>
          <p:cNvSpPr/>
          <p:nvPr/>
        </p:nvSpPr>
        <p:spPr>
          <a:xfrm>
            <a:off x="1333500" y="3200400"/>
            <a:ext cx="260514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+30 points: Amount &gt; R50,000</a:t>
            </a:r>
            <a:endParaRPr lang="en-US" sz="1200" dirty="0"/>
          </a:p>
        </p:txBody>
      </p:sp>
      <p:sp>
        <p:nvSpPr>
          <p:cNvPr id="31" name="Text 5"/>
          <p:cNvSpPr/>
          <p:nvPr/>
        </p:nvSpPr>
        <p:spPr>
          <a:xfrm>
            <a:off x="1333500" y="3848100"/>
            <a:ext cx="273319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-20 points: Document uploaded</a:t>
            </a:r>
            <a:endParaRPr lang="en-US" sz="1200" dirty="0"/>
          </a:p>
        </p:txBody>
      </p:sp>
      <p:sp>
        <p:nvSpPr>
          <p:cNvPr id="32" name="Text 6"/>
          <p:cNvSpPr/>
          <p:nvPr/>
        </p:nvSpPr>
        <p:spPr>
          <a:xfrm>
            <a:off x="1333500" y="4495800"/>
            <a:ext cx="304841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-10 points: Detailed notes provided</a:t>
            </a:r>
            <a:endParaRPr lang="en-US" sz="1200" dirty="0"/>
          </a:p>
        </p:txBody>
      </p:sp>
      <p:sp>
        <p:nvSpPr>
          <p:cNvPr id="33" name="Text 7"/>
          <p:cNvSpPr/>
          <p:nvPr/>
        </p:nvSpPr>
        <p:spPr>
          <a:xfrm>
            <a:off x="6400800" y="1295400"/>
            <a:ext cx="603504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Example Claim Analysis</a:t>
            </a:r>
            <a:endParaRPr lang="en-US" sz="1800" dirty="0"/>
          </a:p>
        </p:txBody>
      </p:sp>
      <p:sp>
        <p:nvSpPr>
          <p:cNvPr id="34" name="Text 8"/>
          <p:cNvSpPr/>
          <p:nvPr/>
        </p:nvSpPr>
        <p:spPr>
          <a:xfrm>
            <a:off x="6553200" y="1905000"/>
            <a:ext cx="47244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Claim #123</a:t>
            </a:r>
            <a:endParaRPr lang="en-US" sz="1200" dirty="0"/>
          </a:p>
        </p:txBody>
      </p:sp>
      <p:sp>
        <p:nvSpPr>
          <p:cNvPr id="35" name="Text 9"/>
          <p:cNvSpPr/>
          <p:nvPr/>
        </p:nvSpPr>
        <p:spPr>
          <a:xfrm>
            <a:off x="6553200" y="2209800"/>
            <a:ext cx="894576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Hours: 180</a:t>
            </a:r>
            <a:endParaRPr lang="en-US" sz="1200" dirty="0"/>
          </a:p>
        </p:txBody>
      </p:sp>
      <p:sp>
        <p:nvSpPr>
          <p:cNvPr id="36" name="Text 10"/>
          <p:cNvSpPr/>
          <p:nvPr/>
        </p:nvSpPr>
        <p:spPr>
          <a:xfrm>
            <a:off x="10570071" y="2209800"/>
            <a:ext cx="84903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ACC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+30 points</a:t>
            </a:r>
            <a:endParaRPr lang="en-US" sz="1200" dirty="0"/>
          </a:p>
        </p:txBody>
      </p:sp>
      <p:sp>
        <p:nvSpPr>
          <p:cNvPr id="37" name="Text 11"/>
          <p:cNvSpPr/>
          <p:nvPr/>
        </p:nvSpPr>
        <p:spPr>
          <a:xfrm>
            <a:off x="6553200" y="2476500"/>
            <a:ext cx="925116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Rate: R500</a:t>
            </a:r>
            <a:endParaRPr lang="en-US" sz="1200" dirty="0"/>
          </a:p>
        </p:txBody>
      </p:sp>
      <p:sp>
        <p:nvSpPr>
          <p:cNvPr id="38" name="Text 12"/>
          <p:cNvSpPr/>
          <p:nvPr/>
        </p:nvSpPr>
        <p:spPr>
          <a:xfrm>
            <a:off x="10786467" y="2476500"/>
            <a:ext cx="58935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Normal</a:t>
            </a:r>
            <a:endParaRPr lang="en-US" sz="1200" dirty="0"/>
          </a:p>
        </p:txBody>
      </p:sp>
      <p:sp>
        <p:nvSpPr>
          <p:cNvPr id="39" name="Text 13"/>
          <p:cNvSpPr/>
          <p:nvPr/>
        </p:nvSpPr>
        <p:spPr>
          <a:xfrm>
            <a:off x="6553200" y="2743200"/>
            <a:ext cx="1423392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Amount: R90,000</a:t>
            </a:r>
            <a:endParaRPr lang="en-US" sz="1200" dirty="0"/>
          </a:p>
        </p:txBody>
      </p:sp>
      <p:sp>
        <p:nvSpPr>
          <p:cNvPr id="40" name="Text 14"/>
          <p:cNvSpPr/>
          <p:nvPr/>
        </p:nvSpPr>
        <p:spPr>
          <a:xfrm>
            <a:off x="10570071" y="2743200"/>
            <a:ext cx="84903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ACC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+30 points</a:t>
            </a:r>
            <a:endParaRPr lang="en-US" sz="1200" dirty="0"/>
          </a:p>
        </p:txBody>
      </p:sp>
      <p:sp>
        <p:nvSpPr>
          <p:cNvPr id="41" name="Text 15"/>
          <p:cNvSpPr/>
          <p:nvPr/>
        </p:nvSpPr>
        <p:spPr>
          <a:xfrm>
            <a:off x="6553200" y="3009900"/>
            <a:ext cx="123015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Document: Yes</a:t>
            </a:r>
            <a:endParaRPr lang="en-US" sz="1200" dirty="0"/>
          </a:p>
        </p:txBody>
      </p:sp>
      <p:sp>
        <p:nvSpPr>
          <p:cNvPr id="42" name="Text 16"/>
          <p:cNvSpPr/>
          <p:nvPr/>
        </p:nvSpPr>
        <p:spPr>
          <a:xfrm>
            <a:off x="10608320" y="3009900"/>
            <a:ext cx="803136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-20 points</a:t>
            </a:r>
            <a:endParaRPr lang="en-US" sz="1200" dirty="0"/>
          </a:p>
        </p:txBody>
      </p:sp>
      <p:sp>
        <p:nvSpPr>
          <p:cNvPr id="43" name="Text 17"/>
          <p:cNvSpPr/>
          <p:nvPr/>
        </p:nvSpPr>
        <p:spPr>
          <a:xfrm>
            <a:off x="6553200" y="3429000"/>
            <a:ext cx="149875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 SCORE:</a:t>
            </a:r>
            <a:endParaRPr lang="en-US" sz="1500" dirty="0"/>
          </a:p>
        </p:txBody>
      </p:sp>
      <p:sp>
        <p:nvSpPr>
          <p:cNvPr id="44" name="Text 18"/>
          <p:cNvSpPr/>
          <p:nvPr/>
        </p:nvSpPr>
        <p:spPr>
          <a:xfrm>
            <a:off x="11065669" y="3429000"/>
            <a:ext cx="254318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ACC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40</a:t>
            </a:r>
            <a:endParaRPr lang="en-US" sz="1500" dirty="0"/>
          </a:p>
        </p:txBody>
      </p:sp>
      <p:sp>
        <p:nvSpPr>
          <p:cNvPr id="45" name="Text 19"/>
          <p:cNvSpPr/>
          <p:nvPr/>
        </p:nvSpPr>
        <p:spPr>
          <a:xfrm>
            <a:off x="6553200" y="3771900"/>
            <a:ext cx="47244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DE0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 RISK</a:t>
            </a:r>
            <a:endParaRPr lang="en-US" sz="1200" dirty="0"/>
          </a:p>
        </p:txBody>
      </p:sp>
      <p:sp>
        <p:nvSpPr>
          <p:cNvPr id="46" name="Text 20"/>
          <p:cNvSpPr/>
          <p:nvPr/>
        </p:nvSpPr>
        <p:spPr>
          <a:xfrm>
            <a:off x="6080760" y="4038600"/>
            <a:ext cx="56692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Recommendation: Manual Review Required</a:t>
            </a:r>
            <a:endParaRPr lang="en-US" sz="1050" dirty="0"/>
          </a:p>
        </p:txBody>
      </p:sp>
      <p:sp>
        <p:nvSpPr>
          <p:cNvPr id="47" name="Text 21"/>
          <p:cNvSpPr/>
          <p:nvPr/>
        </p:nvSpPr>
        <p:spPr>
          <a:xfrm>
            <a:off x="6627674" y="4724400"/>
            <a:ext cx="1118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</a:t>
            </a:r>
            <a:endParaRPr lang="en-US" sz="1200" dirty="0"/>
          </a:p>
        </p:txBody>
      </p:sp>
      <p:sp>
        <p:nvSpPr>
          <p:cNvPr id="48" name="Text 22"/>
          <p:cNvSpPr/>
          <p:nvPr/>
        </p:nvSpPr>
        <p:spPr>
          <a:xfrm>
            <a:off x="6400800" y="5143500"/>
            <a:ext cx="56554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Low</a:t>
            </a:r>
            <a:endParaRPr lang="en-US" sz="1200" dirty="0"/>
          </a:p>
        </p:txBody>
      </p:sp>
      <p:sp>
        <p:nvSpPr>
          <p:cNvPr id="49" name="Text 23"/>
          <p:cNvSpPr/>
          <p:nvPr/>
        </p:nvSpPr>
        <p:spPr>
          <a:xfrm>
            <a:off x="6344245" y="5372100"/>
            <a:ext cx="678656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0-39 points</a:t>
            </a:r>
            <a:endParaRPr lang="en-US" sz="900" dirty="0"/>
          </a:p>
        </p:txBody>
      </p:sp>
      <p:sp>
        <p:nvSpPr>
          <p:cNvPr id="50" name="Text 24"/>
          <p:cNvSpPr/>
          <p:nvPr/>
        </p:nvSpPr>
        <p:spPr>
          <a:xfrm>
            <a:off x="8775457" y="4724400"/>
            <a:ext cx="1523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</a:t>
            </a:r>
            <a:endParaRPr lang="en-US" sz="1200" dirty="0"/>
          </a:p>
        </p:txBody>
      </p:sp>
      <p:sp>
        <p:nvSpPr>
          <p:cNvPr id="51" name="Text 25"/>
          <p:cNvSpPr/>
          <p:nvPr/>
        </p:nvSpPr>
        <p:spPr>
          <a:xfrm>
            <a:off x="8474318" y="5143500"/>
            <a:ext cx="754916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</a:t>
            </a:r>
            <a:endParaRPr lang="en-US" sz="1200" dirty="0"/>
          </a:p>
        </p:txBody>
      </p:sp>
      <p:sp>
        <p:nvSpPr>
          <p:cNvPr id="52" name="Text 26"/>
          <p:cNvSpPr/>
          <p:nvPr/>
        </p:nvSpPr>
        <p:spPr>
          <a:xfrm>
            <a:off x="8474318" y="5372100"/>
            <a:ext cx="754916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40-69 points</a:t>
            </a:r>
            <a:endParaRPr lang="en-US" sz="900" dirty="0"/>
          </a:p>
        </p:txBody>
      </p:sp>
      <p:sp>
        <p:nvSpPr>
          <p:cNvPr id="53" name="Text 27"/>
          <p:cNvSpPr/>
          <p:nvPr/>
        </p:nvSpPr>
        <p:spPr>
          <a:xfrm>
            <a:off x="11017448" y="4724400"/>
            <a:ext cx="13215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</a:t>
            </a:r>
            <a:endParaRPr lang="en-US" sz="1200" dirty="0"/>
          </a:p>
        </p:txBody>
      </p:sp>
      <p:sp>
        <p:nvSpPr>
          <p:cNvPr id="54" name="Text 28"/>
          <p:cNvSpPr/>
          <p:nvPr/>
        </p:nvSpPr>
        <p:spPr>
          <a:xfrm>
            <a:off x="10667926" y="5143500"/>
            <a:ext cx="83135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1200" dirty="0"/>
          </a:p>
        </p:txBody>
      </p:sp>
      <p:sp>
        <p:nvSpPr>
          <p:cNvPr id="55" name="Text 29"/>
          <p:cNvSpPr/>
          <p:nvPr/>
        </p:nvSpPr>
        <p:spPr>
          <a:xfrm>
            <a:off x="10667926" y="5372100"/>
            <a:ext cx="831354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70-100 points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1219200"/>
            <a:ext cx="3403550" cy="2324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" y="1409700"/>
            <a:ext cx="381000" cy="381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1563" y="1466850"/>
            <a:ext cx="142875" cy="2667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4900" y="1943100"/>
            <a:ext cx="152400" cy="152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4900" y="2247900"/>
            <a:ext cx="152400" cy="152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4900" y="2552700"/>
            <a:ext cx="15240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4900" y="2857500"/>
            <a:ext cx="152400" cy="152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4900" y="3162300"/>
            <a:ext cx="152400" cy="152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94150" y="1219200"/>
            <a:ext cx="3403550" cy="23241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84650" y="1409700"/>
            <a:ext cx="381000" cy="3810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79900" y="1466850"/>
            <a:ext cx="190500" cy="2667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37050" y="1943100"/>
            <a:ext cx="152400" cy="152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37050" y="2247900"/>
            <a:ext cx="152400" cy="152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37050" y="2552700"/>
            <a:ext cx="152400" cy="152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37050" y="2857500"/>
            <a:ext cx="152400" cy="1524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37050" y="3162300"/>
            <a:ext cx="152400" cy="1524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26301" y="1219200"/>
            <a:ext cx="3403699" cy="23241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216801" y="1409700"/>
            <a:ext cx="381000" cy="3810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288238" y="1466850"/>
            <a:ext cx="238125" cy="2667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69201" y="1943100"/>
            <a:ext cx="152400" cy="1524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69201" y="2247900"/>
            <a:ext cx="152400" cy="1524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69201" y="2552700"/>
            <a:ext cx="152400" cy="1524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69201" y="2857500"/>
            <a:ext cx="152400" cy="1524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62000" y="3771900"/>
            <a:ext cx="10668000" cy="16002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477077" y="4133850"/>
            <a:ext cx="1724323" cy="8763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0" y="6781800"/>
            <a:ext cx="12192000" cy="76200"/>
          </a:xfrm>
          <a:prstGeom prst="rect">
            <a:avLst/>
          </a:prstGeom>
        </p:spPr>
      </p:pic>
      <p:sp>
        <p:nvSpPr>
          <p:cNvPr id="31" name="Text 0"/>
          <p:cNvSpPr/>
          <p:nvPr/>
        </p:nvSpPr>
        <p:spPr>
          <a:xfrm>
            <a:off x="762000" y="457200"/>
            <a:ext cx="128016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HR DEPARTMENT: AUTOMATED ADMINISTRATION</a:t>
            </a:r>
            <a:endParaRPr lang="en-US" sz="2700" dirty="0"/>
          </a:p>
        </p:txBody>
      </p:sp>
      <p:sp>
        <p:nvSpPr>
          <p:cNvPr id="32" name="Text 1"/>
          <p:cNvSpPr/>
          <p:nvPr/>
        </p:nvSpPr>
        <p:spPr>
          <a:xfrm>
            <a:off x="1447800" y="1447800"/>
            <a:ext cx="2469594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Invoice Generation</a:t>
            </a:r>
            <a:endParaRPr lang="en-US" sz="1800" dirty="0"/>
          </a:p>
        </p:txBody>
      </p:sp>
      <p:sp>
        <p:nvSpPr>
          <p:cNvPr id="33" name="Text 2"/>
          <p:cNvSpPr/>
          <p:nvPr/>
        </p:nvSpPr>
        <p:spPr>
          <a:xfrm>
            <a:off x="1333500" y="1905000"/>
            <a:ext cx="208365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One-click invoice creation</a:t>
            </a:r>
            <a:endParaRPr lang="en-US" sz="1200" dirty="0"/>
          </a:p>
        </p:txBody>
      </p:sp>
      <p:sp>
        <p:nvSpPr>
          <p:cNvPr id="34" name="Text 3"/>
          <p:cNvSpPr/>
          <p:nvPr/>
        </p:nvSpPr>
        <p:spPr>
          <a:xfrm>
            <a:off x="1333500" y="2209800"/>
            <a:ext cx="1870412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Professional formatting</a:t>
            </a:r>
            <a:endParaRPr lang="en-US" sz="1200" dirty="0"/>
          </a:p>
        </p:txBody>
      </p:sp>
      <p:sp>
        <p:nvSpPr>
          <p:cNvPr id="35" name="Text 4"/>
          <p:cNvSpPr/>
          <p:nvPr/>
        </p:nvSpPr>
        <p:spPr>
          <a:xfrm>
            <a:off x="1333500" y="2514600"/>
            <a:ext cx="229760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Auto-populated claim details</a:t>
            </a:r>
            <a:endParaRPr lang="en-US" sz="1200" dirty="0"/>
          </a:p>
        </p:txBody>
      </p:sp>
      <p:sp>
        <p:nvSpPr>
          <p:cNvPr id="36" name="Text 5"/>
          <p:cNvSpPr/>
          <p:nvPr/>
        </p:nvSpPr>
        <p:spPr>
          <a:xfrm>
            <a:off x="1333500" y="2819400"/>
            <a:ext cx="190077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Download as PDF/CSV</a:t>
            </a:r>
            <a:endParaRPr lang="en-US" sz="1200" dirty="0"/>
          </a:p>
        </p:txBody>
      </p:sp>
      <p:sp>
        <p:nvSpPr>
          <p:cNvPr id="37" name="Text 6"/>
          <p:cNvSpPr/>
          <p:nvPr/>
        </p:nvSpPr>
        <p:spPr>
          <a:xfrm>
            <a:off x="1333500" y="3124200"/>
            <a:ext cx="221617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Batch processing capability</a:t>
            </a:r>
            <a:endParaRPr lang="en-US" sz="1200" dirty="0"/>
          </a:p>
        </p:txBody>
      </p:sp>
      <p:sp>
        <p:nvSpPr>
          <p:cNvPr id="38" name="Text 7"/>
          <p:cNvSpPr/>
          <p:nvPr/>
        </p:nvSpPr>
        <p:spPr>
          <a:xfrm>
            <a:off x="5079950" y="1447800"/>
            <a:ext cx="2422803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Monthly Reporting</a:t>
            </a:r>
            <a:endParaRPr lang="en-US" sz="1800" dirty="0"/>
          </a:p>
        </p:txBody>
      </p:sp>
      <p:sp>
        <p:nvSpPr>
          <p:cNvPr id="39" name="Text 8"/>
          <p:cNvSpPr/>
          <p:nvPr/>
        </p:nvSpPr>
        <p:spPr>
          <a:xfrm>
            <a:off x="4965650" y="1905000"/>
            <a:ext cx="219581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Automatic data compilation</a:t>
            </a:r>
            <a:endParaRPr lang="en-US" sz="1200" dirty="0"/>
          </a:p>
        </p:txBody>
      </p:sp>
      <p:sp>
        <p:nvSpPr>
          <p:cNvPr id="40" name="Text 9"/>
          <p:cNvSpPr/>
          <p:nvPr/>
        </p:nvSpPr>
        <p:spPr>
          <a:xfrm>
            <a:off x="4965650" y="2209800"/>
            <a:ext cx="1341596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Claims by status</a:t>
            </a:r>
            <a:endParaRPr lang="en-US" sz="1200" dirty="0"/>
          </a:p>
        </p:txBody>
      </p:sp>
      <p:sp>
        <p:nvSpPr>
          <p:cNvPr id="41" name="Text 10"/>
          <p:cNvSpPr/>
          <p:nvPr/>
        </p:nvSpPr>
        <p:spPr>
          <a:xfrm>
            <a:off x="4965650" y="2514600"/>
            <a:ext cx="167699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Financial summaries</a:t>
            </a:r>
            <a:endParaRPr lang="en-US" sz="1200" dirty="0"/>
          </a:p>
        </p:txBody>
      </p:sp>
      <p:sp>
        <p:nvSpPr>
          <p:cNvPr id="42" name="Text 11"/>
          <p:cNvSpPr/>
          <p:nvPr/>
        </p:nvSpPr>
        <p:spPr>
          <a:xfrm>
            <a:off x="4965650" y="2819400"/>
            <a:ext cx="2185452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Lecturer performance stats</a:t>
            </a:r>
            <a:endParaRPr lang="en-US" sz="1200" dirty="0"/>
          </a:p>
        </p:txBody>
      </p:sp>
      <p:sp>
        <p:nvSpPr>
          <p:cNvPr id="43" name="Text 12"/>
          <p:cNvSpPr/>
          <p:nvPr/>
        </p:nvSpPr>
        <p:spPr>
          <a:xfrm>
            <a:off x="4965650" y="3124200"/>
            <a:ext cx="165681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Export to Excel/CSV</a:t>
            </a:r>
            <a:endParaRPr lang="en-US" sz="1200" dirty="0"/>
          </a:p>
        </p:txBody>
      </p:sp>
      <p:sp>
        <p:nvSpPr>
          <p:cNvPr id="44" name="Text 13"/>
          <p:cNvSpPr/>
          <p:nvPr/>
        </p:nvSpPr>
        <p:spPr>
          <a:xfrm>
            <a:off x="8712101" y="1447800"/>
            <a:ext cx="2850713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Lecturer Management</a:t>
            </a:r>
            <a:endParaRPr lang="en-US" sz="1800" dirty="0"/>
          </a:p>
        </p:txBody>
      </p:sp>
      <p:sp>
        <p:nvSpPr>
          <p:cNvPr id="45" name="Text 14"/>
          <p:cNvSpPr/>
          <p:nvPr/>
        </p:nvSpPr>
        <p:spPr>
          <a:xfrm>
            <a:off x="8597801" y="1905000"/>
            <a:ext cx="172843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Centralized database</a:t>
            </a:r>
            <a:endParaRPr lang="en-US" sz="1200" dirty="0"/>
          </a:p>
        </p:txBody>
      </p:sp>
      <p:sp>
        <p:nvSpPr>
          <p:cNvPr id="46" name="Text 15"/>
          <p:cNvSpPr/>
          <p:nvPr/>
        </p:nvSpPr>
        <p:spPr>
          <a:xfrm>
            <a:off x="8597801" y="2209800"/>
            <a:ext cx="1839516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Claims history tracking</a:t>
            </a:r>
            <a:endParaRPr lang="en-US" sz="1200" dirty="0"/>
          </a:p>
        </p:txBody>
      </p:sp>
      <p:sp>
        <p:nvSpPr>
          <p:cNvPr id="47" name="Text 16"/>
          <p:cNvSpPr/>
          <p:nvPr/>
        </p:nvSpPr>
        <p:spPr>
          <a:xfrm>
            <a:off x="8597801" y="2514600"/>
            <a:ext cx="180933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Performance analytics</a:t>
            </a:r>
            <a:endParaRPr lang="en-US" sz="1200" dirty="0"/>
          </a:p>
        </p:txBody>
      </p:sp>
      <p:sp>
        <p:nvSpPr>
          <p:cNvPr id="48" name="Text 17"/>
          <p:cNvSpPr/>
          <p:nvPr/>
        </p:nvSpPr>
        <p:spPr>
          <a:xfrm>
            <a:off x="8597801" y="2819400"/>
            <a:ext cx="1718072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Quick profile updates</a:t>
            </a:r>
            <a:endParaRPr lang="en-US" sz="1200" dirty="0"/>
          </a:p>
        </p:txBody>
      </p:sp>
      <p:sp>
        <p:nvSpPr>
          <p:cNvPr id="49" name="Text 18"/>
          <p:cNvSpPr/>
          <p:nvPr/>
        </p:nvSpPr>
        <p:spPr>
          <a:xfrm>
            <a:off x="990600" y="4000500"/>
            <a:ext cx="424946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⏱️ Time Saved</a:t>
            </a:r>
            <a:endParaRPr lang="en-US" sz="1800" dirty="0"/>
          </a:p>
        </p:txBody>
      </p:sp>
      <p:sp>
        <p:nvSpPr>
          <p:cNvPr id="50" name="Text 19"/>
          <p:cNvSpPr/>
          <p:nvPr/>
        </p:nvSpPr>
        <p:spPr>
          <a:xfrm>
            <a:off x="887388" y="4419600"/>
            <a:ext cx="123854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Manual Process</a:t>
            </a:r>
            <a:endParaRPr lang="en-US" sz="1050" dirty="0"/>
          </a:p>
        </p:txBody>
      </p:sp>
      <p:sp>
        <p:nvSpPr>
          <p:cNvPr id="51" name="Text 20"/>
          <p:cNvSpPr/>
          <p:nvPr/>
        </p:nvSpPr>
        <p:spPr>
          <a:xfrm>
            <a:off x="887388" y="4610100"/>
            <a:ext cx="1238548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hours</a:t>
            </a:r>
            <a:endParaRPr lang="en-US" sz="2250" dirty="0"/>
          </a:p>
        </p:txBody>
      </p:sp>
      <p:sp>
        <p:nvSpPr>
          <p:cNvPr id="52" name="Text 21"/>
          <p:cNvSpPr/>
          <p:nvPr/>
        </p:nvSpPr>
        <p:spPr>
          <a:xfrm>
            <a:off x="887388" y="4953000"/>
            <a:ext cx="123854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 invoice</a:t>
            </a:r>
            <a:endParaRPr lang="en-US" sz="1050" dirty="0"/>
          </a:p>
        </p:txBody>
      </p:sp>
      <p:sp>
        <p:nvSpPr>
          <p:cNvPr id="53" name="Text 22"/>
          <p:cNvSpPr/>
          <p:nvPr/>
        </p:nvSpPr>
        <p:spPr>
          <a:xfrm>
            <a:off x="2327523" y="4591050"/>
            <a:ext cx="41148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700" dirty="0"/>
          </a:p>
        </p:txBody>
      </p:sp>
      <p:sp>
        <p:nvSpPr>
          <p:cNvPr id="54" name="Text 23"/>
          <p:cNvSpPr/>
          <p:nvPr/>
        </p:nvSpPr>
        <p:spPr>
          <a:xfrm>
            <a:off x="2819564" y="4419600"/>
            <a:ext cx="1867912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 System</a:t>
            </a:r>
            <a:endParaRPr lang="en-US" sz="1050" dirty="0"/>
          </a:p>
        </p:txBody>
      </p:sp>
      <p:sp>
        <p:nvSpPr>
          <p:cNvPr id="55" name="Text 24"/>
          <p:cNvSpPr/>
          <p:nvPr/>
        </p:nvSpPr>
        <p:spPr>
          <a:xfrm>
            <a:off x="2819564" y="4610100"/>
            <a:ext cx="1867912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 seconds</a:t>
            </a:r>
            <a:endParaRPr lang="en-US" sz="2250" dirty="0"/>
          </a:p>
        </p:txBody>
      </p:sp>
      <p:sp>
        <p:nvSpPr>
          <p:cNvPr id="56" name="Text 25"/>
          <p:cNvSpPr/>
          <p:nvPr/>
        </p:nvSpPr>
        <p:spPr>
          <a:xfrm>
            <a:off x="2819564" y="4953000"/>
            <a:ext cx="1867912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 invoice</a:t>
            </a:r>
            <a:endParaRPr lang="en-US" sz="1050" dirty="0"/>
          </a:p>
        </p:txBody>
      </p:sp>
      <p:sp>
        <p:nvSpPr>
          <p:cNvPr id="57" name="Text 26"/>
          <p:cNvSpPr/>
          <p:nvPr/>
        </p:nvSpPr>
        <p:spPr>
          <a:xfrm>
            <a:off x="9705677" y="4248150"/>
            <a:ext cx="1520547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Efficiency Gain</a:t>
            </a:r>
            <a:endParaRPr lang="en-US" sz="1500" dirty="0"/>
          </a:p>
        </p:txBody>
      </p:sp>
      <p:sp>
        <p:nvSpPr>
          <p:cNvPr id="58" name="Text 27"/>
          <p:cNvSpPr/>
          <p:nvPr/>
        </p:nvSpPr>
        <p:spPr>
          <a:xfrm>
            <a:off x="9705677" y="4514850"/>
            <a:ext cx="1520547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99.6%</a:t>
            </a:r>
            <a:endParaRPr lang="en-US" sz="2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1638300"/>
            <a:ext cx="2552700" cy="1066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57375" y="1752600"/>
            <a:ext cx="361950" cy="3429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67100" y="1638300"/>
            <a:ext cx="2552700" cy="10668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33913" y="1752600"/>
            <a:ext cx="219075" cy="3429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0" y="1638300"/>
            <a:ext cx="2552700" cy="10668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86625" y="1752600"/>
            <a:ext cx="323850" cy="3429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77300" y="1638300"/>
            <a:ext cx="2552700" cy="10668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29825" y="1752600"/>
            <a:ext cx="247650" cy="3429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3429000"/>
            <a:ext cx="2552700" cy="10668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14525" y="3543300"/>
            <a:ext cx="247650" cy="3429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67100" y="3429000"/>
            <a:ext cx="2552700" cy="10668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19625" y="3543300"/>
            <a:ext cx="247650" cy="3429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0" y="3429000"/>
            <a:ext cx="2552700" cy="10668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86625" y="3543300"/>
            <a:ext cx="323850" cy="3429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77300" y="3429000"/>
            <a:ext cx="2552700" cy="10668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010775" y="3543300"/>
            <a:ext cx="285750" cy="3429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2000" y="5219700"/>
            <a:ext cx="3454301" cy="10668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365325" y="5334000"/>
            <a:ext cx="247650" cy="3429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368701" y="5219700"/>
            <a:ext cx="3454450" cy="10668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972026" y="5334000"/>
            <a:ext cx="247650" cy="3429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975550" y="5219700"/>
            <a:ext cx="3454301" cy="10668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559826" y="5334000"/>
            <a:ext cx="285750" cy="34290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0" y="6781800"/>
            <a:ext cx="12192000" cy="76200"/>
          </a:xfrm>
          <a:prstGeom prst="rect">
            <a:avLst/>
          </a:prstGeom>
        </p:spPr>
      </p:pic>
      <p:sp>
        <p:nvSpPr>
          <p:cNvPr id="34" name="Text 0"/>
          <p:cNvSpPr/>
          <p:nvPr/>
        </p:nvSpPr>
        <p:spPr>
          <a:xfrm>
            <a:off x="762000" y="304800"/>
            <a:ext cx="128016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TECHNICAL ARCHITECTURE</a:t>
            </a:r>
            <a:endParaRPr lang="en-US" sz="3600" dirty="0"/>
          </a:p>
        </p:txBody>
      </p:sp>
      <p:sp>
        <p:nvSpPr>
          <p:cNvPr id="35" name="Text 1"/>
          <p:cNvSpPr/>
          <p:nvPr/>
        </p:nvSpPr>
        <p:spPr>
          <a:xfrm>
            <a:off x="1371600" y="1123950"/>
            <a:ext cx="200025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FRONT-END</a:t>
            </a:r>
            <a:endParaRPr lang="en-US" sz="2250" dirty="0"/>
          </a:p>
        </p:txBody>
      </p:sp>
      <p:sp>
        <p:nvSpPr>
          <p:cNvPr id="36" name="Text 2"/>
          <p:cNvSpPr/>
          <p:nvPr/>
        </p:nvSpPr>
        <p:spPr>
          <a:xfrm>
            <a:off x="979661" y="2133600"/>
            <a:ext cx="211722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ASP.NET Core MVC</a:t>
            </a:r>
            <a:endParaRPr lang="en-US" sz="1500" dirty="0"/>
          </a:p>
        </p:txBody>
      </p:sp>
      <p:sp>
        <p:nvSpPr>
          <p:cNvPr id="37" name="Text 3"/>
          <p:cNvSpPr/>
          <p:nvPr/>
        </p:nvSpPr>
        <p:spPr>
          <a:xfrm>
            <a:off x="1248251" y="2400300"/>
            <a:ext cx="158019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Controller-View-Model</a:t>
            </a:r>
            <a:endParaRPr lang="en-US" sz="1050" dirty="0"/>
          </a:p>
        </p:txBody>
      </p:sp>
      <p:sp>
        <p:nvSpPr>
          <p:cNvPr id="38" name="Text 4"/>
          <p:cNvSpPr/>
          <p:nvPr/>
        </p:nvSpPr>
        <p:spPr>
          <a:xfrm>
            <a:off x="4072116" y="2133600"/>
            <a:ext cx="1342668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Razor Views</a:t>
            </a:r>
            <a:endParaRPr lang="en-US" sz="1500" dirty="0"/>
          </a:p>
        </p:txBody>
      </p:sp>
      <p:sp>
        <p:nvSpPr>
          <p:cNvPr id="39" name="Text 5"/>
          <p:cNvSpPr/>
          <p:nvPr/>
        </p:nvSpPr>
        <p:spPr>
          <a:xfrm>
            <a:off x="3974068" y="2400300"/>
            <a:ext cx="1538764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Server-side rendering</a:t>
            </a:r>
            <a:endParaRPr lang="en-US" sz="1050" dirty="0"/>
          </a:p>
        </p:txBody>
      </p:sp>
      <p:sp>
        <p:nvSpPr>
          <p:cNvPr id="40" name="Text 6"/>
          <p:cNvSpPr/>
          <p:nvPr/>
        </p:nvSpPr>
        <p:spPr>
          <a:xfrm>
            <a:off x="6813471" y="2133600"/>
            <a:ext cx="127015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Bootstrap 5</a:t>
            </a:r>
            <a:endParaRPr lang="en-US" sz="1500" dirty="0"/>
          </a:p>
        </p:txBody>
      </p:sp>
      <p:sp>
        <p:nvSpPr>
          <p:cNvPr id="41" name="Text 7"/>
          <p:cNvSpPr/>
          <p:nvPr/>
        </p:nvSpPr>
        <p:spPr>
          <a:xfrm>
            <a:off x="6532543" y="2400300"/>
            <a:ext cx="183201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Responsive UI framework</a:t>
            </a:r>
            <a:endParaRPr lang="en-US" sz="1050" dirty="0"/>
          </a:p>
        </p:txBody>
      </p:sp>
      <p:sp>
        <p:nvSpPr>
          <p:cNvPr id="42" name="Text 8"/>
          <p:cNvSpPr/>
          <p:nvPr/>
        </p:nvSpPr>
        <p:spPr>
          <a:xfrm>
            <a:off x="9791477" y="2133600"/>
            <a:ext cx="724198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jQuery</a:t>
            </a:r>
            <a:endParaRPr lang="en-US" sz="1500" dirty="0"/>
          </a:p>
        </p:txBody>
      </p:sp>
      <p:sp>
        <p:nvSpPr>
          <p:cNvPr id="43" name="Text 9"/>
          <p:cNvSpPr/>
          <p:nvPr/>
        </p:nvSpPr>
        <p:spPr>
          <a:xfrm>
            <a:off x="9540002" y="2400300"/>
            <a:ext cx="1227296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JavaScript library</a:t>
            </a:r>
            <a:endParaRPr lang="en-US" sz="1050" dirty="0"/>
          </a:p>
        </p:txBody>
      </p:sp>
      <p:sp>
        <p:nvSpPr>
          <p:cNvPr id="44" name="Text 10"/>
          <p:cNvSpPr/>
          <p:nvPr/>
        </p:nvSpPr>
        <p:spPr>
          <a:xfrm>
            <a:off x="1371600" y="2914650"/>
            <a:ext cx="18288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BACK-END</a:t>
            </a:r>
            <a:endParaRPr lang="en-US" sz="2250" dirty="0"/>
          </a:p>
        </p:txBody>
      </p:sp>
      <p:sp>
        <p:nvSpPr>
          <p:cNvPr id="45" name="Text 11"/>
          <p:cNvSpPr/>
          <p:nvPr/>
        </p:nvSpPr>
        <p:spPr>
          <a:xfrm>
            <a:off x="1345942" y="3924300"/>
            <a:ext cx="138481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C# / .NET 6.0</a:t>
            </a:r>
            <a:endParaRPr lang="en-US" sz="1500" dirty="0"/>
          </a:p>
        </p:txBody>
      </p:sp>
      <p:sp>
        <p:nvSpPr>
          <p:cNvPr id="46" name="Text 12"/>
          <p:cNvSpPr/>
          <p:nvPr/>
        </p:nvSpPr>
        <p:spPr>
          <a:xfrm>
            <a:off x="1210940" y="4191000"/>
            <a:ext cx="1654671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Language &amp; framework</a:t>
            </a:r>
            <a:endParaRPr lang="en-US" sz="1050" dirty="0"/>
          </a:p>
        </p:txBody>
      </p:sp>
      <p:sp>
        <p:nvSpPr>
          <p:cNvPr id="47" name="Text 13"/>
          <p:cNvSpPr/>
          <p:nvPr/>
        </p:nvSpPr>
        <p:spPr>
          <a:xfrm>
            <a:off x="3784238" y="3924300"/>
            <a:ext cx="191827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Entity Framework</a:t>
            </a:r>
            <a:endParaRPr lang="en-US" sz="1500" dirty="0"/>
          </a:p>
        </p:txBody>
      </p:sp>
      <p:sp>
        <p:nvSpPr>
          <p:cNvPr id="48" name="Text 14"/>
          <p:cNvSpPr/>
          <p:nvPr/>
        </p:nvSpPr>
        <p:spPr>
          <a:xfrm>
            <a:off x="4120708" y="4191000"/>
            <a:ext cx="1245334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data access</a:t>
            </a:r>
            <a:endParaRPr lang="en-US" sz="1050" dirty="0"/>
          </a:p>
        </p:txBody>
      </p:sp>
      <p:sp>
        <p:nvSpPr>
          <p:cNvPr id="49" name="Text 15"/>
          <p:cNvSpPr/>
          <p:nvPr/>
        </p:nvSpPr>
        <p:spPr>
          <a:xfrm>
            <a:off x="6718102" y="3924300"/>
            <a:ext cx="1460897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LINQ Queries</a:t>
            </a:r>
            <a:endParaRPr lang="en-US" sz="1500" dirty="0"/>
          </a:p>
        </p:txBody>
      </p:sp>
      <p:sp>
        <p:nvSpPr>
          <p:cNvPr id="50" name="Text 16"/>
          <p:cNvSpPr/>
          <p:nvPr/>
        </p:nvSpPr>
        <p:spPr>
          <a:xfrm>
            <a:off x="6812414" y="4191000"/>
            <a:ext cx="1272123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Type-safe queries</a:t>
            </a:r>
            <a:endParaRPr lang="en-US" sz="1050" dirty="0"/>
          </a:p>
        </p:txBody>
      </p:sp>
      <p:sp>
        <p:nvSpPr>
          <p:cNvPr id="51" name="Text 17"/>
          <p:cNvSpPr/>
          <p:nvPr/>
        </p:nvSpPr>
        <p:spPr>
          <a:xfrm>
            <a:off x="9410001" y="3924300"/>
            <a:ext cx="14871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Service Layer</a:t>
            </a:r>
            <a:endParaRPr lang="en-US" sz="1500" dirty="0"/>
          </a:p>
        </p:txBody>
      </p:sp>
      <p:sp>
        <p:nvSpPr>
          <p:cNvPr id="52" name="Text 18"/>
          <p:cNvSpPr/>
          <p:nvPr/>
        </p:nvSpPr>
        <p:spPr>
          <a:xfrm>
            <a:off x="9642158" y="4191000"/>
            <a:ext cx="102298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logic</a:t>
            </a:r>
            <a:endParaRPr lang="en-US" sz="1050" dirty="0"/>
          </a:p>
        </p:txBody>
      </p:sp>
      <p:sp>
        <p:nvSpPr>
          <p:cNvPr id="53" name="Text 19"/>
          <p:cNvSpPr/>
          <p:nvPr/>
        </p:nvSpPr>
        <p:spPr>
          <a:xfrm>
            <a:off x="1371600" y="4705350"/>
            <a:ext cx="185416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</a:t>
            </a:r>
            <a:endParaRPr lang="en-US" sz="2250" dirty="0"/>
          </a:p>
        </p:txBody>
      </p:sp>
      <p:sp>
        <p:nvSpPr>
          <p:cNvPr id="54" name="Text 20"/>
          <p:cNvSpPr/>
          <p:nvPr/>
        </p:nvSpPr>
        <p:spPr>
          <a:xfrm>
            <a:off x="1868537" y="5715000"/>
            <a:ext cx="1241227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SQL Server</a:t>
            </a:r>
            <a:endParaRPr lang="en-US" sz="1500" dirty="0"/>
          </a:p>
        </p:txBody>
      </p:sp>
      <p:sp>
        <p:nvSpPr>
          <p:cNvPr id="55" name="Text 21"/>
          <p:cNvSpPr/>
          <p:nvPr/>
        </p:nvSpPr>
        <p:spPr>
          <a:xfrm>
            <a:off x="2186627" y="5981700"/>
            <a:ext cx="604897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LocalDB</a:t>
            </a:r>
            <a:endParaRPr lang="en-US" sz="1050" dirty="0"/>
          </a:p>
        </p:txBody>
      </p:sp>
      <p:sp>
        <p:nvSpPr>
          <p:cNvPr id="56" name="Text 22"/>
          <p:cNvSpPr/>
          <p:nvPr/>
        </p:nvSpPr>
        <p:spPr>
          <a:xfrm>
            <a:off x="5524351" y="5715000"/>
            <a:ext cx="1143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Code-First</a:t>
            </a:r>
            <a:endParaRPr lang="en-US" sz="1500" dirty="0"/>
          </a:p>
        </p:txBody>
      </p:sp>
      <p:sp>
        <p:nvSpPr>
          <p:cNvPr id="57" name="Text 23"/>
          <p:cNvSpPr/>
          <p:nvPr/>
        </p:nvSpPr>
        <p:spPr>
          <a:xfrm>
            <a:off x="5726698" y="5981700"/>
            <a:ext cx="738307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Migrations</a:t>
            </a:r>
            <a:endParaRPr lang="en-US" sz="1050" dirty="0"/>
          </a:p>
        </p:txBody>
      </p:sp>
      <p:sp>
        <p:nvSpPr>
          <p:cNvPr id="58" name="Text 24"/>
          <p:cNvSpPr/>
          <p:nvPr/>
        </p:nvSpPr>
        <p:spPr>
          <a:xfrm>
            <a:off x="9156397" y="5715000"/>
            <a:ext cx="1092458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Relational</a:t>
            </a:r>
            <a:endParaRPr lang="en-US" sz="1500" dirty="0"/>
          </a:p>
        </p:txBody>
      </p:sp>
      <p:sp>
        <p:nvSpPr>
          <p:cNvPr id="59" name="Text 25"/>
          <p:cNvSpPr/>
          <p:nvPr/>
        </p:nvSpPr>
        <p:spPr>
          <a:xfrm>
            <a:off x="9484653" y="5981700"/>
            <a:ext cx="435947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2228850"/>
            <a:ext cx="4267200" cy="2667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600" y="2476500"/>
            <a:ext cx="285750" cy="3048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0600" y="2952750"/>
            <a:ext cx="3810000" cy="2667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0600" y="3409950"/>
            <a:ext cx="152400" cy="17145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0600" y="3752850"/>
            <a:ext cx="152400" cy="17145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0600" y="4095750"/>
            <a:ext cx="152400" cy="17145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90600" y="4438650"/>
            <a:ext cx="219075" cy="17145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29200" y="3200400"/>
            <a:ext cx="304800" cy="3048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58000" y="3200400"/>
            <a:ext cx="304800" cy="3048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96000" y="3268861"/>
            <a:ext cx="200025" cy="2286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347841" y="4152900"/>
            <a:ext cx="219075" cy="17145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162800" y="1676400"/>
            <a:ext cx="4267200" cy="37719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391400" y="1924050"/>
            <a:ext cx="171450" cy="3048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91400" y="2400300"/>
            <a:ext cx="3810000" cy="2667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391400" y="2819400"/>
            <a:ext cx="3810000" cy="2667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391400" y="3276600"/>
            <a:ext cx="219075" cy="17145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391400" y="3619500"/>
            <a:ext cx="171450" cy="17145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391400" y="3962400"/>
            <a:ext cx="219075" cy="17145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391400" y="4305300"/>
            <a:ext cx="161925" cy="17145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391400" y="4648200"/>
            <a:ext cx="171450" cy="17145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391400" y="4991100"/>
            <a:ext cx="152400" cy="17145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62000" y="6477000"/>
            <a:ext cx="152400" cy="17145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0" y="6781800"/>
            <a:ext cx="12192000" cy="76200"/>
          </a:xfrm>
          <a:prstGeom prst="rect">
            <a:avLst/>
          </a:prstGeom>
        </p:spPr>
      </p:pic>
      <p:sp>
        <p:nvSpPr>
          <p:cNvPr id="28" name="Text 0"/>
          <p:cNvSpPr/>
          <p:nvPr/>
        </p:nvSpPr>
        <p:spPr>
          <a:xfrm>
            <a:off x="762000" y="457200"/>
            <a:ext cx="106680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 SCHEMA</a:t>
            </a:r>
            <a:endParaRPr lang="en-US" sz="3600" dirty="0"/>
          </a:p>
        </p:txBody>
      </p:sp>
      <p:sp>
        <p:nvSpPr>
          <p:cNvPr id="29" name="Text 1"/>
          <p:cNvSpPr/>
          <p:nvPr/>
        </p:nvSpPr>
        <p:spPr>
          <a:xfrm>
            <a:off x="762000" y="1181100"/>
            <a:ext cx="10668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Relational design with SQL Server LocalDB</a:t>
            </a:r>
            <a:endParaRPr lang="en-US" sz="1500" dirty="0"/>
          </a:p>
        </p:txBody>
      </p:sp>
      <p:sp>
        <p:nvSpPr>
          <p:cNvPr id="30" name="Text 2"/>
          <p:cNvSpPr/>
          <p:nvPr/>
        </p:nvSpPr>
        <p:spPr>
          <a:xfrm>
            <a:off x="1390650" y="2457450"/>
            <a:ext cx="1918633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Users Table</a:t>
            </a:r>
            <a:endParaRPr lang="en-US" sz="2250" dirty="0"/>
          </a:p>
        </p:txBody>
      </p:sp>
      <p:sp>
        <p:nvSpPr>
          <p:cNvPr id="31" name="Text 3"/>
          <p:cNvSpPr/>
          <p:nvPr/>
        </p:nvSpPr>
        <p:spPr>
          <a:xfrm>
            <a:off x="1104900" y="2952750"/>
            <a:ext cx="36957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A5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UserId (PK)</a:t>
            </a: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- int</a:t>
            </a:r>
            <a:endParaRPr lang="en-US" sz="1350" dirty="0"/>
          </a:p>
        </p:txBody>
      </p:sp>
      <p:sp>
        <p:nvSpPr>
          <p:cNvPr id="32" name="Text 4"/>
          <p:cNvSpPr/>
          <p:nvPr/>
        </p:nvSpPr>
        <p:spPr>
          <a:xfrm>
            <a:off x="1219200" y="3371850"/>
            <a:ext cx="4572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Username - nvarchar</a:t>
            </a:r>
            <a:endParaRPr lang="en-US" sz="1350" dirty="0"/>
          </a:p>
        </p:txBody>
      </p:sp>
      <p:sp>
        <p:nvSpPr>
          <p:cNvPr id="33" name="Text 5"/>
          <p:cNvSpPr/>
          <p:nvPr/>
        </p:nvSpPr>
        <p:spPr>
          <a:xfrm>
            <a:off x="1219200" y="3714750"/>
            <a:ext cx="4572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Password - nvarchar</a:t>
            </a:r>
            <a:endParaRPr lang="en-US" sz="1350" dirty="0"/>
          </a:p>
        </p:txBody>
      </p:sp>
      <p:sp>
        <p:nvSpPr>
          <p:cNvPr id="34" name="Text 6"/>
          <p:cNvSpPr/>
          <p:nvPr/>
        </p:nvSpPr>
        <p:spPr>
          <a:xfrm>
            <a:off x="1219200" y="4057650"/>
            <a:ext cx="3810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Role - nvarchar</a:t>
            </a:r>
            <a:endParaRPr lang="en-US" sz="1350" dirty="0"/>
          </a:p>
        </p:txBody>
      </p:sp>
      <p:sp>
        <p:nvSpPr>
          <p:cNvPr id="35" name="Text 7"/>
          <p:cNvSpPr/>
          <p:nvPr/>
        </p:nvSpPr>
        <p:spPr>
          <a:xfrm>
            <a:off x="1285875" y="4400550"/>
            <a:ext cx="4572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FullName - nvarchar</a:t>
            </a:r>
            <a:endParaRPr lang="en-US" sz="1350" dirty="0"/>
          </a:p>
        </p:txBody>
      </p:sp>
      <p:sp>
        <p:nvSpPr>
          <p:cNvPr id="36" name="Text 8"/>
          <p:cNvSpPr/>
          <p:nvPr/>
        </p:nvSpPr>
        <p:spPr>
          <a:xfrm>
            <a:off x="5139184" y="3238500"/>
            <a:ext cx="10179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200" dirty="0"/>
          </a:p>
        </p:txBody>
      </p:sp>
      <p:sp>
        <p:nvSpPr>
          <p:cNvPr id="37" name="Text 9"/>
          <p:cNvSpPr/>
          <p:nvPr/>
        </p:nvSpPr>
        <p:spPr>
          <a:xfrm>
            <a:off x="6815584" y="3238500"/>
            <a:ext cx="46755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Many</a:t>
            </a:r>
            <a:endParaRPr lang="en-US" sz="1200" dirty="0"/>
          </a:p>
        </p:txBody>
      </p:sp>
      <p:sp>
        <p:nvSpPr>
          <p:cNvPr id="38" name="Text 10"/>
          <p:cNvSpPr/>
          <p:nvPr/>
        </p:nvSpPr>
        <p:spPr>
          <a:xfrm>
            <a:off x="5198224" y="4114800"/>
            <a:ext cx="179540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5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</a:t>
            </a: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→ </a:t>
            </a:r>
            <a:r>
              <a:rPr lang="en-US" sz="135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Claims</a:t>
            </a:r>
            <a:endParaRPr lang="en-US" sz="1350" dirty="0"/>
          </a:p>
        </p:txBody>
      </p:sp>
      <p:sp>
        <p:nvSpPr>
          <p:cNvPr id="39" name="Text 11"/>
          <p:cNvSpPr/>
          <p:nvPr/>
        </p:nvSpPr>
        <p:spPr>
          <a:xfrm>
            <a:off x="7677150" y="1905000"/>
            <a:ext cx="2089904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Claims Table</a:t>
            </a:r>
            <a:endParaRPr lang="en-US" sz="2250" dirty="0"/>
          </a:p>
        </p:txBody>
      </p:sp>
      <p:sp>
        <p:nvSpPr>
          <p:cNvPr id="40" name="Text 12"/>
          <p:cNvSpPr/>
          <p:nvPr/>
        </p:nvSpPr>
        <p:spPr>
          <a:xfrm>
            <a:off x="7505700" y="2400300"/>
            <a:ext cx="44348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A5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ClaimId (PK)</a:t>
            </a: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- int</a:t>
            </a:r>
            <a:endParaRPr lang="en-US" sz="1350" dirty="0"/>
          </a:p>
        </p:txBody>
      </p:sp>
      <p:sp>
        <p:nvSpPr>
          <p:cNvPr id="41" name="Text 13"/>
          <p:cNvSpPr/>
          <p:nvPr/>
        </p:nvSpPr>
        <p:spPr>
          <a:xfrm>
            <a:off x="7505700" y="2819400"/>
            <a:ext cx="36957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UserId (FK) - int</a:t>
            </a:r>
            <a:endParaRPr lang="en-US" sz="1350" dirty="0"/>
          </a:p>
        </p:txBody>
      </p:sp>
      <p:sp>
        <p:nvSpPr>
          <p:cNvPr id="42" name="Text 14"/>
          <p:cNvSpPr/>
          <p:nvPr/>
        </p:nvSpPr>
        <p:spPr>
          <a:xfrm>
            <a:off x="7686675" y="3238500"/>
            <a:ext cx="4572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LecturerName - nvarchar</a:t>
            </a:r>
            <a:endParaRPr lang="en-US" sz="1350" dirty="0"/>
          </a:p>
        </p:txBody>
      </p:sp>
      <p:sp>
        <p:nvSpPr>
          <p:cNvPr id="43" name="Text 15"/>
          <p:cNvSpPr/>
          <p:nvPr/>
        </p:nvSpPr>
        <p:spPr>
          <a:xfrm>
            <a:off x="7639050" y="3581400"/>
            <a:ext cx="4572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HoursWorked - float</a:t>
            </a:r>
            <a:endParaRPr lang="en-US" sz="1350" dirty="0"/>
          </a:p>
        </p:txBody>
      </p:sp>
      <p:sp>
        <p:nvSpPr>
          <p:cNvPr id="44" name="Text 16"/>
          <p:cNvSpPr/>
          <p:nvPr/>
        </p:nvSpPr>
        <p:spPr>
          <a:xfrm>
            <a:off x="7686675" y="3924300"/>
            <a:ext cx="4572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HourlyRate - money</a:t>
            </a:r>
            <a:endParaRPr lang="en-US" sz="1350" dirty="0"/>
          </a:p>
        </p:txBody>
      </p:sp>
      <p:sp>
        <p:nvSpPr>
          <p:cNvPr id="45" name="Text 17"/>
          <p:cNvSpPr/>
          <p:nvPr/>
        </p:nvSpPr>
        <p:spPr>
          <a:xfrm>
            <a:off x="7629525" y="4267200"/>
            <a:ext cx="4572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50" i="1" dirty="0">
                <a:solidFill>
                  <a:srgbClr val="90EE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TotalAmount (Calculated)</a:t>
            </a:r>
            <a:endParaRPr lang="en-US" sz="1350" dirty="0"/>
          </a:p>
        </p:txBody>
      </p:sp>
      <p:sp>
        <p:nvSpPr>
          <p:cNvPr id="46" name="Text 18"/>
          <p:cNvSpPr/>
          <p:nvPr/>
        </p:nvSpPr>
        <p:spPr>
          <a:xfrm>
            <a:off x="7639050" y="4610100"/>
            <a:ext cx="3810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Status - nvarchar</a:t>
            </a:r>
            <a:endParaRPr lang="en-US" sz="1350" dirty="0"/>
          </a:p>
        </p:txBody>
      </p:sp>
      <p:sp>
        <p:nvSpPr>
          <p:cNvPr id="47" name="Text 19"/>
          <p:cNvSpPr/>
          <p:nvPr/>
        </p:nvSpPr>
        <p:spPr>
          <a:xfrm>
            <a:off x="7620000" y="4953000"/>
            <a:ext cx="4572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SubmittedDate - datetime</a:t>
            </a:r>
            <a:endParaRPr lang="en-US" sz="1350" dirty="0"/>
          </a:p>
        </p:txBody>
      </p:sp>
      <p:sp>
        <p:nvSpPr>
          <p:cNvPr id="48" name="Text 20"/>
          <p:cNvSpPr/>
          <p:nvPr/>
        </p:nvSpPr>
        <p:spPr>
          <a:xfrm>
            <a:off x="990600" y="6438900"/>
            <a:ext cx="4680228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SQL Server LocalDB with Code-First Migrations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1143000"/>
            <a:ext cx="5105400" cy="17526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1295400"/>
            <a:ext cx="285750" cy="3048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191000"/>
            <a:ext cx="5105400" cy="17526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4343400"/>
            <a:ext cx="257175" cy="3048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600" y="1143000"/>
            <a:ext cx="5105400" cy="17526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7000" y="1295400"/>
            <a:ext cx="200025" cy="3048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24600" y="3657600"/>
            <a:ext cx="5105400" cy="24384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77000" y="3810000"/>
            <a:ext cx="228600" cy="3048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77000" y="4229100"/>
            <a:ext cx="4800600" cy="3429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77000" y="4572000"/>
            <a:ext cx="4800600" cy="3429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44793" y="4676775"/>
            <a:ext cx="133350" cy="13335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364414" y="4676775"/>
            <a:ext cx="85725" cy="13335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369451" y="4676775"/>
            <a:ext cx="85725" cy="13335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019979" y="4676775"/>
            <a:ext cx="85725" cy="13335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77000" y="4914900"/>
            <a:ext cx="4800600" cy="34290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68605" y="5019675"/>
            <a:ext cx="85725" cy="133350"/>
          </a:xfrm>
          <a:prstGeom prst="rect">
            <a:avLst/>
          </a:prstGeom>
        </p:spPr>
      </p:pic>
      <p:pic>
        <p:nvPicPr>
          <p:cNvPr id="33" name="Image 3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40602" y="5019675"/>
            <a:ext cx="133350" cy="133350"/>
          </a:xfrm>
          <a:prstGeom prst="rect">
            <a:avLst/>
          </a:prstGeom>
        </p:spPr>
      </p:pic>
      <p:pic>
        <p:nvPicPr>
          <p:cNvPr id="34" name="Image 3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345638" y="5019675"/>
            <a:ext cx="133350" cy="133350"/>
          </a:xfrm>
          <a:prstGeom prst="rect">
            <a:avLst/>
          </a:prstGeom>
        </p:spPr>
      </p:pic>
      <p:pic>
        <p:nvPicPr>
          <p:cNvPr id="35" name="Image 3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996166" y="5019675"/>
            <a:ext cx="133350" cy="133350"/>
          </a:xfrm>
          <a:prstGeom prst="rect">
            <a:avLst/>
          </a:prstGeom>
        </p:spPr>
      </p:pic>
      <p:pic>
        <p:nvPicPr>
          <p:cNvPr id="36" name="Image 34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77000" y="5257800"/>
            <a:ext cx="4800600" cy="342900"/>
          </a:xfrm>
          <a:prstGeom prst="rect">
            <a:avLst/>
          </a:prstGeom>
        </p:spPr>
      </p:pic>
      <p:pic>
        <p:nvPicPr>
          <p:cNvPr id="37" name="Image 35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68605" y="5362575"/>
            <a:ext cx="85725" cy="133350"/>
          </a:xfrm>
          <a:prstGeom prst="rect">
            <a:avLst/>
          </a:prstGeom>
        </p:spPr>
      </p:pic>
      <p:pic>
        <p:nvPicPr>
          <p:cNvPr id="38" name="Image 36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364414" y="5362575"/>
            <a:ext cx="85725" cy="133350"/>
          </a:xfrm>
          <a:prstGeom prst="rect">
            <a:avLst/>
          </a:prstGeom>
        </p:spPr>
      </p:pic>
      <p:pic>
        <p:nvPicPr>
          <p:cNvPr id="39" name="Image 37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369451" y="5362575"/>
            <a:ext cx="85725" cy="133350"/>
          </a:xfrm>
          <a:prstGeom prst="rect">
            <a:avLst/>
          </a:prstGeom>
        </p:spPr>
      </p:pic>
      <p:pic>
        <p:nvPicPr>
          <p:cNvPr id="40" name="Image 38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996166" y="5362575"/>
            <a:ext cx="133350" cy="133350"/>
          </a:xfrm>
          <a:prstGeom prst="rect">
            <a:avLst/>
          </a:prstGeom>
        </p:spPr>
      </p:pic>
      <p:pic>
        <p:nvPicPr>
          <p:cNvPr id="41" name="Image 39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77000" y="5600700"/>
            <a:ext cx="4800600" cy="342900"/>
          </a:xfrm>
          <a:prstGeom prst="rect">
            <a:avLst/>
          </a:prstGeom>
        </p:spPr>
      </p:pic>
      <p:pic>
        <p:nvPicPr>
          <p:cNvPr id="42" name="Image 4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68605" y="5705475"/>
            <a:ext cx="85725" cy="133350"/>
          </a:xfrm>
          <a:prstGeom prst="rect">
            <a:avLst/>
          </a:prstGeom>
        </p:spPr>
      </p:pic>
      <p:pic>
        <p:nvPicPr>
          <p:cNvPr id="43" name="Image 4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364414" y="5705475"/>
            <a:ext cx="85725" cy="133350"/>
          </a:xfrm>
          <a:prstGeom prst="rect">
            <a:avLst/>
          </a:prstGeom>
        </p:spPr>
      </p:pic>
      <p:pic>
        <p:nvPicPr>
          <p:cNvPr id="44" name="Image 4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369451" y="5705475"/>
            <a:ext cx="85725" cy="133350"/>
          </a:xfrm>
          <a:prstGeom prst="rect">
            <a:avLst/>
          </a:prstGeom>
        </p:spPr>
      </p:pic>
      <p:pic>
        <p:nvPicPr>
          <p:cNvPr id="45" name="Image 4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996166" y="5705475"/>
            <a:ext cx="133350" cy="133350"/>
          </a:xfrm>
          <a:prstGeom prst="rect">
            <a:avLst/>
          </a:prstGeom>
        </p:spPr>
      </p:pic>
      <p:pic>
        <p:nvPicPr>
          <p:cNvPr id="46" name="Image 4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229743" y="6324600"/>
            <a:ext cx="1997125" cy="381000"/>
          </a:xfrm>
          <a:prstGeom prst="rect">
            <a:avLst/>
          </a:prstGeom>
        </p:spPr>
      </p:pic>
      <p:pic>
        <p:nvPicPr>
          <p:cNvPr id="47" name="Image 4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382143" y="6438900"/>
            <a:ext cx="133350" cy="152400"/>
          </a:xfrm>
          <a:prstGeom prst="rect">
            <a:avLst/>
          </a:prstGeom>
        </p:spPr>
      </p:pic>
      <p:pic>
        <p:nvPicPr>
          <p:cNvPr id="48" name="Image 4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455468" y="6324600"/>
            <a:ext cx="1583829" cy="381000"/>
          </a:xfrm>
          <a:prstGeom prst="rect">
            <a:avLst/>
          </a:prstGeom>
        </p:spPr>
      </p:pic>
      <p:pic>
        <p:nvPicPr>
          <p:cNvPr id="49" name="Image 4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607868" y="6438900"/>
            <a:ext cx="152400" cy="152400"/>
          </a:xfrm>
          <a:prstGeom prst="rect">
            <a:avLst/>
          </a:prstGeom>
        </p:spPr>
      </p:pic>
      <p:pic>
        <p:nvPicPr>
          <p:cNvPr id="50" name="Image 4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267896" y="6324600"/>
            <a:ext cx="1892945" cy="381000"/>
          </a:xfrm>
          <a:prstGeom prst="rect">
            <a:avLst/>
          </a:prstGeom>
        </p:spPr>
      </p:pic>
      <p:pic>
        <p:nvPicPr>
          <p:cNvPr id="51" name="Image 49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420296" y="6438900"/>
            <a:ext cx="190500" cy="152400"/>
          </a:xfrm>
          <a:prstGeom prst="rect">
            <a:avLst/>
          </a:prstGeom>
        </p:spPr>
      </p:pic>
      <p:pic>
        <p:nvPicPr>
          <p:cNvPr id="52" name="Image 50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389441" y="6324600"/>
            <a:ext cx="1572816" cy="381000"/>
          </a:xfrm>
          <a:prstGeom prst="rect">
            <a:avLst/>
          </a:prstGeom>
        </p:spPr>
      </p:pic>
      <p:pic>
        <p:nvPicPr>
          <p:cNvPr id="53" name="Image 51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541841" y="6438900"/>
            <a:ext cx="152400" cy="152400"/>
          </a:xfrm>
          <a:prstGeom prst="rect">
            <a:avLst/>
          </a:prstGeom>
        </p:spPr>
      </p:pic>
      <p:sp>
        <p:nvSpPr>
          <p:cNvPr id="56" name="Text 0"/>
          <p:cNvSpPr/>
          <p:nvPr/>
        </p:nvSpPr>
        <p:spPr>
          <a:xfrm>
            <a:off x="1257300" y="381000"/>
            <a:ext cx="6741914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&amp; DATA PROTECTION</a:t>
            </a:r>
            <a:endParaRPr lang="en-US" sz="2700" dirty="0"/>
          </a:p>
        </p:txBody>
      </p:sp>
      <p:sp>
        <p:nvSpPr>
          <p:cNvPr id="57" name="Text 1"/>
          <p:cNvSpPr/>
          <p:nvPr/>
        </p:nvSpPr>
        <p:spPr>
          <a:xfrm>
            <a:off x="1314450" y="1295400"/>
            <a:ext cx="4028003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Authentication &amp; Authorization</a:t>
            </a:r>
            <a:endParaRPr lang="en-US" sz="1800" dirty="0"/>
          </a:p>
        </p:txBody>
      </p:sp>
      <p:sp>
        <p:nvSpPr>
          <p:cNvPr id="58" name="Text 2"/>
          <p:cNvSpPr/>
          <p:nvPr/>
        </p:nvSpPr>
        <p:spPr>
          <a:xfrm>
            <a:off x="1333500" y="1679275"/>
            <a:ext cx="54178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Session-based authentication</a:t>
            </a:r>
            <a:endParaRPr lang="en-US" sz="1200" dirty="0"/>
          </a:p>
        </p:txBody>
      </p:sp>
      <p:sp>
        <p:nvSpPr>
          <p:cNvPr id="59" name="Text 3"/>
          <p:cNvSpPr/>
          <p:nvPr/>
        </p:nvSpPr>
        <p:spPr>
          <a:xfrm>
            <a:off x="1333500" y="1943100"/>
            <a:ext cx="55321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Role-based access control (RBAC)</a:t>
            </a:r>
            <a:endParaRPr lang="en-US" sz="1200" dirty="0"/>
          </a:p>
        </p:txBody>
      </p:sp>
      <p:sp>
        <p:nvSpPr>
          <p:cNvPr id="60" name="Text 4"/>
          <p:cNvSpPr/>
          <p:nvPr/>
        </p:nvSpPr>
        <p:spPr>
          <a:xfrm>
            <a:off x="1333500" y="2209800"/>
            <a:ext cx="46101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Secure password storage</a:t>
            </a:r>
            <a:endParaRPr lang="en-US" sz="1200" dirty="0"/>
          </a:p>
        </p:txBody>
      </p:sp>
      <p:sp>
        <p:nvSpPr>
          <p:cNvPr id="61" name="Text 5"/>
          <p:cNvSpPr/>
          <p:nvPr/>
        </p:nvSpPr>
        <p:spPr>
          <a:xfrm>
            <a:off x="1333500" y="2476500"/>
            <a:ext cx="55321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Automatic session timeout</a:t>
            </a:r>
            <a:endParaRPr lang="en-US" sz="1200" dirty="0"/>
          </a:p>
        </p:txBody>
      </p:sp>
      <p:sp>
        <p:nvSpPr>
          <p:cNvPr id="62" name="Text 6"/>
          <p:cNvSpPr/>
          <p:nvPr/>
        </p:nvSpPr>
        <p:spPr>
          <a:xfrm>
            <a:off x="1285875" y="4343400"/>
            <a:ext cx="204222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Input Validation</a:t>
            </a:r>
            <a:endParaRPr lang="en-US" sz="1800" dirty="0"/>
          </a:p>
        </p:txBody>
      </p:sp>
      <p:sp>
        <p:nvSpPr>
          <p:cNvPr id="63" name="Text 7"/>
          <p:cNvSpPr/>
          <p:nvPr/>
        </p:nvSpPr>
        <p:spPr>
          <a:xfrm>
            <a:off x="1333500" y="4724400"/>
            <a:ext cx="55321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Client-side validation (jQuery)</a:t>
            </a:r>
            <a:endParaRPr lang="en-US" sz="1200" dirty="0"/>
          </a:p>
        </p:txBody>
      </p:sp>
      <p:sp>
        <p:nvSpPr>
          <p:cNvPr id="64" name="Text 8"/>
          <p:cNvSpPr/>
          <p:nvPr/>
        </p:nvSpPr>
        <p:spPr>
          <a:xfrm>
            <a:off x="1333500" y="4991100"/>
            <a:ext cx="46101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Server-side validation</a:t>
            </a:r>
            <a:endParaRPr lang="en-US" sz="1200" dirty="0"/>
          </a:p>
        </p:txBody>
      </p:sp>
      <p:sp>
        <p:nvSpPr>
          <p:cNvPr id="65" name="Text 9"/>
          <p:cNvSpPr/>
          <p:nvPr/>
        </p:nvSpPr>
        <p:spPr>
          <a:xfrm>
            <a:off x="1333500" y="5257800"/>
            <a:ext cx="46101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SQL injection prevention</a:t>
            </a:r>
            <a:endParaRPr lang="en-US" sz="1200" dirty="0"/>
          </a:p>
        </p:txBody>
      </p:sp>
      <p:sp>
        <p:nvSpPr>
          <p:cNvPr id="66" name="Text 10"/>
          <p:cNvSpPr/>
          <p:nvPr/>
        </p:nvSpPr>
        <p:spPr>
          <a:xfrm>
            <a:off x="1333500" y="5524500"/>
            <a:ext cx="46101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File upload restrictions</a:t>
            </a:r>
            <a:endParaRPr lang="en-US" sz="1200" dirty="0"/>
          </a:p>
        </p:txBody>
      </p:sp>
      <p:sp>
        <p:nvSpPr>
          <p:cNvPr id="67" name="Text 11"/>
          <p:cNvSpPr/>
          <p:nvPr/>
        </p:nvSpPr>
        <p:spPr>
          <a:xfrm>
            <a:off x="6791325" y="1295400"/>
            <a:ext cx="2027396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Protection</a:t>
            </a:r>
            <a:endParaRPr lang="en-US" sz="1800" dirty="0"/>
          </a:p>
        </p:txBody>
      </p:sp>
      <p:sp>
        <p:nvSpPr>
          <p:cNvPr id="68" name="Text 12"/>
          <p:cNvSpPr/>
          <p:nvPr/>
        </p:nvSpPr>
        <p:spPr>
          <a:xfrm>
            <a:off x="6896100" y="1676400"/>
            <a:ext cx="46101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HTTPS encryption</a:t>
            </a:r>
            <a:endParaRPr lang="en-US" sz="1200" dirty="0"/>
          </a:p>
        </p:txBody>
      </p:sp>
      <p:sp>
        <p:nvSpPr>
          <p:cNvPr id="69" name="Text 13"/>
          <p:cNvSpPr/>
          <p:nvPr/>
        </p:nvSpPr>
        <p:spPr>
          <a:xfrm>
            <a:off x="6896100" y="1943100"/>
            <a:ext cx="46101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Anti-forgery tokens</a:t>
            </a:r>
            <a:endParaRPr lang="en-US" sz="1200" dirty="0"/>
          </a:p>
        </p:txBody>
      </p:sp>
      <p:sp>
        <p:nvSpPr>
          <p:cNvPr id="70" name="Text 14"/>
          <p:cNvSpPr/>
          <p:nvPr/>
        </p:nvSpPr>
        <p:spPr>
          <a:xfrm>
            <a:off x="6896100" y="2209800"/>
            <a:ext cx="46101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Secure file storage</a:t>
            </a:r>
            <a:endParaRPr lang="en-US" sz="1200" dirty="0"/>
          </a:p>
        </p:txBody>
      </p:sp>
      <p:sp>
        <p:nvSpPr>
          <p:cNvPr id="71" name="Text 15"/>
          <p:cNvSpPr/>
          <p:nvPr/>
        </p:nvSpPr>
        <p:spPr>
          <a:xfrm>
            <a:off x="6896100" y="2476500"/>
            <a:ext cx="46101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Session management</a:t>
            </a:r>
            <a:endParaRPr lang="en-US" sz="1200" dirty="0"/>
          </a:p>
        </p:txBody>
      </p:sp>
      <p:sp>
        <p:nvSpPr>
          <p:cNvPr id="72" name="Text 16"/>
          <p:cNvSpPr/>
          <p:nvPr/>
        </p:nvSpPr>
        <p:spPr>
          <a:xfrm>
            <a:off x="6819900" y="3810000"/>
            <a:ext cx="2896433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Control Matrix</a:t>
            </a:r>
            <a:endParaRPr lang="en-US" sz="1800" dirty="0"/>
          </a:p>
        </p:txBody>
      </p:sp>
      <p:sp>
        <p:nvSpPr>
          <p:cNvPr id="73" name="Text 17"/>
          <p:cNvSpPr/>
          <p:nvPr/>
        </p:nvSpPr>
        <p:spPr>
          <a:xfrm>
            <a:off x="6553200" y="4229100"/>
            <a:ext cx="1809512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Permission</a:t>
            </a:r>
            <a:endParaRPr lang="en-US" sz="1050" dirty="0"/>
          </a:p>
        </p:txBody>
      </p:sp>
      <p:sp>
        <p:nvSpPr>
          <p:cNvPr id="74" name="Text 18"/>
          <p:cNvSpPr/>
          <p:nvPr/>
        </p:nvSpPr>
        <p:spPr>
          <a:xfrm>
            <a:off x="7899603" y="4229100"/>
            <a:ext cx="1023878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Lecturer</a:t>
            </a:r>
            <a:endParaRPr lang="en-US" sz="1050" dirty="0"/>
          </a:p>
        </p:txBody>
      </p:sp>
      <p:sp>
        <p:nvSpPr>
          <p:cNvPr id="75" name="Text 19"/>
          <p:cNvSpPr/>
          <p:nvPr/>
        </p:nvSpPr>
        <p:spPr>
          <a:xfrm>
            <a:off x="8724320" y="4229100"/>
            <a:ext cx="1366064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Coordinator</a:t>
            </a:r>
            <a:endParaRPr lang="en-US" sz="1050" dirty="0"/>
          </a:p>
        </p:txBody>
      </p:sp>
      <p:sp>
        <p:nvSpPr>
          <p:cNvPr id="76" name="Text 20"/>
          <p:cNvSpPr/>
          <p:nvPr/>
        </p:nvSpPr>
        <p:spPr>
          <a:xfrm>
            <a:off x="9889391" y="4229100"/>
            <a:ext cx="1045845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Manager</a:t>
            </a:r>
            <a:endParaRPr lang="en-US" sz="1050" dirty="0"/>
          </a:p>
        </p:txBody>
      </p:sp>
      <p:sp>
        <p:nvSpPr>
          <p:cNvPr id="77" name="Text 21"/>
          <p:cNvSpPr/>
          <p:nvPr/>
        </p:nvSpPr>
        <p:spPr>
          <a:xfrm>
            <a:off x="10848082" y="4229100"/>
            <a:ext cx="429518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HR</a:t>
            </a:r>
            <a:endParaRPr lang="en-US" sz="1050" dirty="0"/>
          </a:p>
        </p:txBody>
      </p:sp>
      <p:sp>
        <p:nvSpPr>
          <p:cNvPr id="78" name="Text 22"/>
          <p:cNvSpPr/>
          <p:nvPr/>
        </p:nvSpPr>
        <p:spPr>
          <a:xfrm>
            <a:off x="6553200" y="4572000"/>
            <a:ext cx="1809512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Submit Claims</a:t>
            </a:r>
            <a:endParaRPr lang="en-US" sz="1050" dirty="0"/>
          </a:p>
        </p:txBody>
      </p:sp>
      <p:sp>
        <p:nvSpPr>
          <p:cNvPr id="79" name="Text 23"/>
          <p:cNvSpPr/>
          <p:nvPr/>
        </p:nvSpPr>
        <p:spPr>
          <a:xfrm>
            <a:off x="6553200" y="4914900"/>
            <a:ext cx="1809512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 Claims</a:t>
            </a:r>
            <a:endParaRPr lang="en-US" sz="1050" dirty="0"/>
          </a:p>
        </p:txBody>
      </p:sp>
      <p:sp>
        <p:nvSpPr>
          <p:cNvPr id="80" name="Text 24"/>
          <p:cNvSpPr/>
          <p:nvPr/>
        </p:nvSpPr>
        <p:spPr>
          <a:xfrm>
            <a:off x="6553200" y="5257800"/>
            <a:ext cx="1809512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Generate Reports</a:t>
            </a:r>
            <a:endParaRPr lang="en-US" sz="1050" dirty="0"/>
          </a:p>
        </p:txBody>
      </p:sp>
      <p:sp>
        <p:nvSpPr>
          <p:cNvPr id="81" name="Text 25"/>
          <p:cNvSpPr/>
          <p:nvPr/>
        </p:nvSpPr>
        <p:spPr>
          <a:xfrm>
            <a:off x="6553200" y="5600700"/>
            <a:ext cx="1809512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 Users</a:t>
            </a:r>
            <a:endParaRPr lang="en-US" sz="1050" dirty="0"/>
          </a:p>
        </p:txBody>
      </p:sp>
      <p:sp>
        <p:nvSpPr>
          <p:cNvPr id="82" name="Text 26"/>
          <p:cNvSpPr/>
          <p:nvPr/>
        </p:nvSpPr>
        <p:spPr>
          <a:xfrm>
            <a:off x="2591693" y="6400800"/>
            <a:ext cx="177933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Secure Authentication</a:t>
            </a:r>
            <a:endParaRPr lang="en-US" sz="1200" dirty="0"/>
          </a:p>
        </p:txBody>
      </p:sp>
      <p:sp>
        <p:nvSpPr>
          <p:cNvPr id="83" name="Text 27"/>
          <p:cNvSpPr/>
          <p:nvPr/>
        </p:nvSpPr>
        <p:spPr>
          <a:xfrm>
            <a:off x="4836468" y="6400800"/>
            <a:ext cx="126051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Protection</a:t>
            </a:r>
            <a:endParaRPr lang="en-US" sz="1200" dirty="0"/>
          </a:p>
        </p:txBody>
      </p:sp>
      <p:sp>
        <p:nvSpPr>
          <p:cNvPr id="84" name="Text 28"/>
          <p:cNvSpPr/>
          <p:nvPr/>
        </p:nvSpPr>
        <p:spPr>
          <a:xfrm>
            <a:off x="6686996" y="6400800"/>
            <a:ext cx="158573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Role-Based Access</a:t>
            </a:r>
            <a:endParaRPr lang="en-US" sz="1200" dirty="0"/>
          </a:p>
        </p:txBody>
      </p:sp>
      <p:sp>
        <p:nvSpPr>
          <p:cNvPr id="85" name="Text 29"/>
          <p:cNvSpPr/>
          <p:nvPr/>
        </p:nvSpPr>
        <p:spPr>
          <a:xfrm>
            <a:off x="8770441" y="6400800"/>
            <a:ext cx="124729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Input Validation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1257300"/>
            <a:ext cx="3403550" cy="35052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600" y="1562100"/>
            <a:ext cx="299740" cy="4572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5220" y="1657350"/>
            <a:ext cx="190500" cy="2667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0600" y="2286000"/>
            <a:ext cx="152400" cy="152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0600" y="2590800"/>
            <a:ext cx="15240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0600" y="2895600"/>
            <a:ext cx="152400" cy="152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0600" y="3200400"/>
            <a:ext cx="152400" cy="152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0600" y="3505200"/>
            <a:ext cx="152400" cy="1524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0600" y="3810000"/>
            <a:ext cx="152400" cy="152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0600" y="4152900"/>
            <a:ext cx="2946350" cy="3810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94150" y="1257300"/>
            <a:ext cx="3403550" cy="35052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22750" y="1714500"/>
            <a:ext cx="273993" cy="4572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40610" y="1809750"/>
            <a:ext cx="238125" cy="2667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22750" y="2590800"/>
            <a:ext cx="152400" cy="1524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22750" y="2895600"/>
            <a:ext cx="152400" cy="1524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22750" y="3200400"/>
            <a:ext cx="152400" cy="1524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22750" y="3505200"/>
            <a:ext cx="152400" cy="1524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622750" y="3848100"/>
            <a:ext cx="2946350" cy="3810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026301" y="1257300"/>
            <a:ext cx="3403550" cy="35052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254901" y="1562100"/>
            <a:ext cx="314623" cy="4572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340775" y="1657350"/>
            <a:ext cx="142875" cy="2667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254901" y="2286000"/>
            <a:ext cx="152400" cy="1524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254901" y="2590800"/>
            <a:ext cx="152400" cy="1524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254901" y="2895600"/>
            <a:ext cx="152400" cy="1524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254901" y="3200400"/>
            <a:ext cx="152400" cy="1524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254901" y="3543300"/>
            <a:ext cx="2946350" cy="3810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62000" y="4991100"/>
            <a:ext cx="10668000" cy="76200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14400" y="5143500"/>
            <a:ext cx="457200" cy="457200"/>
          </a:xfrm>
          <a:prstGeom prst="rect">
            <a:avLst/>
          </a:prstGeom>
        </p:spPr>
      </p:pic>
      <p:pic>
        <p:nvPicPr>
          <p:cNvPr id="33" name="Image 31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23938" y="5238750"/>
            <a:ext cx="238125" cy="266700"/>
          </a:xfrm>
          <a:prstGeom prst="rect">
            <a:avLst/>
          </a:prstGeom>
        </p:spPr>
      </p:pic>
      <p:pic>
        <p:nvPicPr>
          <p:cNvPr id="35" name="Image 33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0" y="6781800"/>
            <a:ext cx="12192000" cy="76200"/>
          </a:xfrm>
          <a:prstGeom prst="rect">
            <a:avLst/>
          </a:prstGeom>
        </p:spPr>
      </p:pic>
      <p:sp>
        <p:nvSpPr>
          <p:cNvPr id="37" name="Text 0"/>
          <p:cNvSpPr/>
          <p:nvPr/>
        </p:nvSpPr>
        <p:spPr>
          <a:xfrm>
            <a:off x="762000" y="457200"/>
            <a:ext cx="8938439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SYSTEM DEMONSTRATION</a:t>
            </a:r>
            <a:endParaRPr lang="en-US" sz="3600" dirty="0"/>
          </a:p>
        </p:txBody>
      </p:sp>
      <p:sp>
        <p:nvSpPr>
          <p:cNvPr id="39" name="Text 2"/>
          <p:cNvSpPr/>
          <p:nvPr/>
        </p:nvSpPr>
        <p:spPr>
          <a:xfrm>
            <a:off x="1404640" y="1485900"/>
            <a:ext cx="2532311" cy="609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Scenario 1: Lecturer Submits Claim</a:t>
            </a:r>
            <a:endParaRPr lang="en-US" sz="1800" dirty="0"/>
          </a:p>
        </p:txBody>
      </p:sp>
      <p:sp>
        <p:nvSpPr>
          <p:cNvPr id="40" name="Text 3"/>
          <p:cNvSpPr/>
          <p:nvPr/>
        </p:nvSpPr>
        <p:spPr>
          <a:xfrm>
            <a:off x="1219200" y="2247900"/>
            <a:ext cx="145375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Login as lecturer1</a:t>
            </a:r>
            <a:endParaRPr lang="en-US" sz="1200" dirty="0"/>
          </a:p>
        </p:txBody>
      </p:sp>
      <p:sp>
        <p:nvSpPr>
          <p:cNvPr id="41" name="Text 4"/>
          <p:cNvSpPr/>
          <p:nvPr/>
        </p:nvSpPr>
        <p:spPr>
          <a:xfrm>
            <a:off x="1219200" y="2552700"/>
            <a:ext cx="2493526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 15.5 hours @ R450/hour</a:t>
            </a:r>
            <a:endParaRPr lang="en-US" sz="1200" dirty="0"/>
          </a:p>
        </p:txBody>
      </p:sp>
      <p:sp>
        <p:nvSpPr>
          <p:cNvPr id="42" name="Text 5"/>
          <p:cNvSpPr/>
          <p:nvPr/>
        </p:nvSpPr>
        <p:spPr>
          <a:xfrm>
            <a:off x="1219200" y="2857500"/>
            <a:ext cx="253460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Watch auto-calculation: R6,975</a:t>
            </a:r>
            <a:endParaRPr lang="en-US" sz="1200" dirty="0"/>
          </a:p>
        </p:txBody>
      </p:sp>
      <p:sp>
        <p:nvSpPr>
          <p:cNvPr id="43" name="Text 6"/>
          <p:cNvSpPr/>
          <p:nvPr/>
        </p:nvSpPr>
        <p:spPr>
          <a:xfrm>
            <a:off x="1219200" y="3162300"/>
            <a:ext cx="199935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View validation warnings</a:t>
            </a:r>
            <a:endParaRPr lang="en-US" sz="1200" dirty="0"/>
          </a:p>
        </p:txBody>
      </p:sp>
      <p:sp>
        <p:nvSpPr>
          <p:cNvPr id="44" name="Text 7"/>
          <p:cNvSpPr/>
          <p:nvPr/>
        </p:nvSpPr>
        <p:spPr>
          <a:xfrm>
            <a:off x="1219200" y="3467100"/>
            <a:ext cx="1433572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Upload document</a:t>
            </a:r>
            <a:endParaRPr lang="en-US" sz="1200" dirty="0"/>
          </a:p>
        </p:txBody>
      </p:sp>
      <p:sp>
        <p:nvSpPr>
          <p:cNvPr id="45" name="Text 8"/>
          <p:cNvSpPr/>
          <p:nvPr/>
        </p:nvSpPr>
        <p:spPr>
          <a:xfrm>
            <a:off x="1219200" y="3771900"/>
            <a:ext cx="160591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Submit successfully</a:t>
            </a:r>
            <a:endParaRPr lang="en-US" sz="1200" dirty="0"/>
          </a:p>
        </p:txBody>
      </p:sp>
      <p:sp>
        <p:nvSpPr>
          <p:cNvPr id="46" name="Text 9"/>
          <p:cNvSpPr/>
          <p:nvPr/>
        </p:nvSpPr>
        <p:spPr>
          <a:xfrm>
            <a:off x="1066800" y="4257675"/>
            <a:ext cx="1026735" cy="1619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Credentials: </a:t>
            </a:r>
            <a:endParaRPr lang="en-US" sz="1200" dirty="0"/>
          </a:p>
        </p:txBody>
      </p:sp>
      <p:sp>
        <p:nvSpPr>
          <p:cNvPr id="47" name="Text 10"/>
          <p:cNvSpPr/>
          <p:nvPr/>
        </p:nvSpPr>
        <p:spPr>
          <a:xfrm>
            <a:off x="1922413" y="4257675"/>
            <a:ext cx="1951851" cy="1619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lecturer1 / password123</a:t>
            </a:r>
            <a:endParaRPr lang="en-US" sz="1200" dirty="0"/>
          </a:p>
        </p:txBody>
      </p:sp>
      <p:sp>
        <p:nvSpPr>
          <p:cNvPr id="48" name="Text 11"/>
          <p:cNvSpPr/>
          <p:nvPr/>
        </p:nvSpPr>
        <p:spPr>
          <a:xfrm>
            <a:off x="5011043" y="1485900"/>
            <a:ext cx="2558058" cy="914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Scenario 2: Coordinator Reviews Claim</a:t>
            </a:r>
            <a:endParaRPr lang="en-US" sz="1800" dirty="0"/>
          </a:p>
        </p:txBody>
      </p:sp>
      <p:sp>
        <p:nvSpPr>
          <p:cNvPr id="49" name="Text 12"/>
          <p:cNvSpPr/>
          <p:nvPr/>
        </p:nvSpPr>
        <p:spPr>
          <a:xfrm>
            <a:off x="4851350" y="2552700"/>
            <a:ext cx="175897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Login as coordinator1</a:t>
            </a:r>
            <a:endParaRPr lang="en-US" sz="1200" dirty="0"/>
          </a:p>
        </p:txBody>
      </p:sp>
      <p:sp>
        <p:nvSpPr>
          <p:cNvPr id="50" name="Text 13"/>
          <p:cNvSpPr/>
          <p:nvPr/>
        </p:nvSpPr>
        <p:spPr>
          <a:xfrm>
            <a:off x="4851350" y="2857500"/>
            <a:ext cx="266997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View automated risk assessment</a:t>
            </a:r>
            <a:endParaRPr lang="en-US" sz="1200" dirty="0"/>
          </a:p>
        </p:txBody>
      </p:sp>
      <p:sp>
        <p:nvSpPr>
          <p:cNvPr id="51" name="Text 14"/>
          <p:cNvSpPr/>
          <p:nvPr/>
        </p:nvSpPr>
        <p:spPr>
          <a:xfrm>
            <a:off x="4851350" y="3162300"/>
            <a:ext cx="1656636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 claim details</a:t>
            </a:r>
            <a:endParaRPr lang="en-US" sz="1200" dirty="0"/>
          </a:p>
        </p:txBody>
      </p:sp>
      <p:sp>
        <p:nvSpPr>
          <p:cNvPr id="52" name="Text 15"/>
          <p:cNvSpPr/>
          <p:nvPr/>
        </p:nvSpPr>
        <p:spPr>
          <a:xfrm>
            <a:off x="4851350" y="3467100"/>
            <a:ext cx="1158716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Approve claim</a:t>
            </a:r>
            <a:endParaRPr lang="en-US" sz="1200" dirty="0"/>
          </a:p>
        </p:txBody>
      </p:sp>
      <p:sp>
        <p:nvSpPr>
          <p:cNvPr id="53" name="Text 16"/>
          <p:cNvSpPr/>
          <p:nvPr/>
        </p:nvSpPr>
        <p:spPr>
          <a:xfrm>
            <a:off x="4698950" y="3952875"/>
            <a:ext cx="1026735" cy="1619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Credentials: </a:t>
            </a:r>
            <a:endParaRPr lang="en-US" sz="1200" dirty="0"/>
          </a:p>
        </p:txBody>
      </p:sp>
      <p:sp>
        <p:nvSpPr>
          <p:cNvPr id="54" name="Text 17"/>
          <p:cNvSpPr/>
          <p:nvPr/>
        </p:nvSpPr>
        <p:spPr>
          <a:xfrm>
            <a:off x="5554563" y="3952875"/>
            <a:ext cx="2256889" cy="1619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coordinator1 / password123</a:t>
            </a:r>
            <a:endParaRPr lang="en-US" sz="1200" dirty="0"/>
          </a:p>
        </p:txBody>
      </p:sp>
      <p:sp>
        <p:nvSpPr>
          <p:cNvPr id="55" name="Text 18"/>
          <p:cNvSpPr/>
          <p:nvPr/>
        </p:nvSpPr>
        <p:spPr>
          <a:xfrm>
            <a:off x="8683823" y="1485900"/>
            <a:ext cx="2517428" cy="609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Scenario 3: HR Generates Invoice</a:t>
            </a:r>
            <a:endParaRPr lang="en-US" sz="1800" dirty="0"/>
          </a:p>
        </p:txBody>
      </p:sp>
      <p:sp>
        <p:nvSpPr>
          <p:cNvPr id="56" name="Text 19"/>
          <p:cNvSpPr/>
          <p:nvPr/>
        </p:nvSpPr>
        <p:spPr>
          <a:xfrm>
            <a:off x="8483501" y="2247900"/>
            <a:ext cx="100655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Login as hr1</a:t>
            </a:r>
            <a:endParaRPr lang="en-US" sz="1200" dirty="0"/>
          </a:p>
        </p:txBody>
      </p:sp>
      <p:sp>
        <p:nvSpPr>
          <p:cNvPr id="57" name="Text 20"/>
          <p:cNvSpPr/>
          <p:nvPr/>
        </p:nvSpPr>
        <p:spPr>
          <a:xfrm>
            <a:off x="8483501" y="2552700"/>
            <a:ext cx="177557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View approved claims</a:t>
            </a:r>
            <a:endParaRPr lang="en-US" sz="1200" dirty="0"/>
          </a:p>
        </p:txBody>
      </p:sp>
      <p:sp>
        <p:nvSpPr>
          <p:cNvPr id="58" name="Text 21"/>
          <p:cNvSpPr/>
          <p:nvPr/>
        </p:nvSpPr>
        <p:spPr>
          <a:xfrm>
            <a:off x="8483501" y="2857500"/>
            <a:ext cx="241958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Generate professional invoice</a:t>
            </a:r>
            <a:endParaRPr lang="en-US" sz="1200" dirty="0"/>
          </a:p>
        </p:txBody>
      </p:sp>
      <p:sp>
        <p:nvSpPr>
          <p:cNvPr id="59" name="Text 22"/>
          <p:cNvSpPr/>
          <p:nvPr/>
        </p:nvSpPr>
        <p:spPr>
          <a:xfrm>
            <a:off x="8483501" y="3162300"/>
            <a:ext cx="134195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Download report</a:t>
            </a:r>
            <a:endParaRPr lang="en-US" sz="1200" dirty="0"/>
          </a:p>
        </p:txBody>
      </p:sp>
      <p:sp>
        <p:nvSpPr>
          <p:cNvPr id="60" name="Text 23"/>
          <p:cNvSpPr/>
          <p:nvPr/>
        </p:nvSpPr>
        <p:spPr>
          <a:xfrm>
            <a:off x="8331101" y="3648075"/>
            <a:ext cx="1026735" cy="1619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Credentials: </a:t>
            </a:r>
            <a:endParaRPr lang="en-US" sz="1200" dirty="0"/>
          </a:p>
        </p:txBody>
      </p:sp>
      <p:sp>
        <p:nvSpPr>
          <p:cNvPr id="61" name="Text 24"/>
          <p:cNvSpPr/>
          <p:nvPr/>
        </p:nvSpPr>
        <p:spPr>
          <a:xfrm>
            <a:off x="9186714" y="3648075"/>
            <a:ext cx="1504652" cy="1619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hr1 / password123</a:t>
            </a:r>
            <a:endParaRPr lang="en-US" sz="1200" dirty="0"/>
          </a:p>
        </p:txBody>
      </p:sp>
      <p:sp>
        <p:nvSpPr>
          <p:cNvPr id="62" name="Text 25"/>
          <p:cNvSpPr/>
          <p:nvPr/>
        </p:nvSpPr>
        <p:spPr>
          <a:xfrm>
            <a:off x="1524000" y="5219700"/>
            <a:ext cx="9483306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400"/>
              </a:lnSpc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Ready for Live Demo</a:t>
            </a:r>
            <a:r>
              <a:rPr lang="en-US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https://www.youtube.com/watch?v=ZWJvCVrIL5w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914400"/>
            <a:ext cx="5695950" cy="31242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100" y="1028700"/>
            <a:ext cx="5467350" cy="381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300" y="1143000"/>
            <a:ext cx="114300" cy="1524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" y="1752600"/>
            <a:ext cx="5238750" cy="3048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" y="2362200"/>
            <a:ext cx="5238750" cy="3048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3400" y="2743200"/>
            <a:ext cx="5238750" cy="3048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7700" y="2819400"/>
            <a:ext cx="142875" cy="152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60119" y="3124200"/>
            <a:ext cx="1012031" cy="3048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12519" y="3181350"/>
            <a:ext cx="152400" cy="1524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019300" y="1962150"/>
            <a:ext cx="1592461" cy="314325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114550" y="2047875"/>
            <a:ext cx="133350" cy="13335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191250" y="914400"/>
            <a:ext cx="5695950" cy="31242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5550" y="1028700"/>
            <a:ext cx="5467350" cy="3810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81750" y="1143000"/>
            <a:ext cx="171450" cy="152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153775" y="1552575"/>
            <a:ext cx="133350" cy="13335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19850" y="1828800"/>
            <a:ext cx="5238750" cy="5334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19850" y="1828800"/>
            <a:ext cx="5238750" cy="2667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419850" y="2095500"/>
            <a:ext cx="5238750" cy="2667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419850" y="2466975"/>
            <a:ext cx="123825" cy="13335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388352" y="1962150"/>
            <a:ext cx="1117848" cy="314325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483602" y="2047875"/>
            <a:ext cx="133350" cy="13335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04800" y="4229100"/>
            <a:ext cx="5695950" cy="26289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19100" y="4343400"/>
            <a:ext cx="5467350" cy="3810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95300" y="4457700"/>
            <a:ext cx="114300" cy="1524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130403" y="4876800"/>
            <a:ext cx="641747" cy="1524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533400" y="5181600"/>
            <a:ext cx="2581275" cy="4572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3190875" y="5181600"/>
            <a:ext cx="2581275" cy="4572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33400" y="5753100"/>
            <a:ext cx="5238750" cy="41910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571500" y="5962650"/>
            <a:ext cx="114300" cy="152400"/>
          </a:xfrm>
          <a:prstGeom prst="rect">
            <a:avLst/>
          </a:prstGeom>
        </p:spPr>
      </p:pic>
      <p:pic>
        <p:nvPicPr>
          <p:cNvPr id="33" name="Image 31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5041553" y="5981700"/>
            <a:ext cx="114300" cy="114300"/>
          </a:xfrm>
          <a:prstGeom prst="rect">
            <a:avLst/>
          </a:prstGeom>
        </p:spPr>
      </p:pic>
      <p:pic>
        <p:nvPicPr>
          <p:cNvPr id="34" name="Image 32" descr="preencoded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685800" y="6257925"/>
            <a:ext cx="1504504" cy="314325"/>
          </a:xfrm>
          <a:prstGeom prst="rect">
            <a:avLst/>
          </a:prstGeom>
        </p:spPr>
      </p:pic>
      <p:pic>
        <p:nvPicPr>
          <p:cNvPr id="35" name="Image 33" descr="preencoded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781050" y="6343650"/>
            <a:ext cx="104775" cy="133350"/>
          </a:xfrm>
          <a:prstGeom prst="rect">
            <a:avLst/>
          </a:prstGeom>
        </p:spPr>
      </p:pic>
      <p:pic>
        <p:nvPicPr>
          <p:cNvPr id="36" name="Image 34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191250" y="4229100"/>
            <a:ext cx="5695950" cy="2628900"/>
          </a:xfrm>
          <a:prstGeom prst="rect">
            <a:avLst/>
          </a:prstGeom>
        </p:spPr>
      </p:pic>
      <p:pic>
        <p:nvPicPr>
          <p:cNvPr id="37" name="Image 35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305550" y="4343400"/>
            <a:ext cx="5467350" cy="381000"/>
          </a:xfrm>
          <a:prstGeom prst="rect">
            <a:avLst/>
          </a:prstGeom>
        </p:spPr>
      </p:pic>
      <p:pic>
        <p:nvPicPr>
          <p:cNvPr id="38" name="Image 36" descr="preencoded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6381750" y="4457700"/>
            <a:ext cx="190500" cy="152400"/>
          </a:xfrm>
          <a:prstGeom prst="rect">
            <a:avLst/>
          </a:prstGeom>
        </p:spPr>
      </p:pic>
      <p:pic>
        <p:nvPicPr>
          <p:cNvPr id="39" name="Image 37" descr="preencoded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6419850" y="4838700"/>
            <a:ext cx="5238750" cy="990600"/>
          </a:xfrm>
          <a:prstGeom prst="rect">
            <a:avLst/>
          </a:prstGeom>
        </p:spPr>
      </p:pic>
      <p:pic>
        <p:nvPicPr>
          <p:cNvPr id="40" name="Image 38" descr="preencoded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8924925" y="4991100"/>
            <a:ext cx="228600" cy="304800"/>
          </a:xfrm>
          <a:prstGeom prst="rect">
            <a:avLst/>
          </a:prstGeom>
        </p:spPr>
      </p:pic>
      <p:pic>
        <p:nvPicPr>
          <p:cNvPr id="41" name="Image 39" descr="preencoded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9759255" y="5943600"/>
            <a:ext cx="878681" cy="304800"/>
          </a:xfrm>
          <a:prstGeom prst="rect">
            <a:avLst/>
          </a:prstGeom>
        </p:spPr>
      </p:pic>
      <p:pic>
        <p:nvPicPr>
          <p:cNvPr id="42" name="Image 40" descr="preencoded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9873555" y="6000750"/>
            <a:ext cx="95250" cy="152400"/>
          </a:xfrm>
          <a:prstGeom prst="rect">
            <a:avLst/>
          </a:prstGeom>
        </p:spPr>
      </p:pic>
      <p:pic>
        <p:nvPicPr>
          <p:cNvPr id="43" name="Image 41" descr="preencoded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10714137" y="5943600"/>
            <a:ext cx="944463" cy="304800"/>
          </a:xfrm>
          <a:prstGeom prst="rect">
            <a:avLst/>
          </a:prstGeom>
        </p:spPr>
      </p:pic>
      <p:pic>
        <p:nvPicPr>
          <p:cNvPr id="44" name="Image 42" descr="preencoded.pn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10828437" y="6000750"/>
            <a:ext cx="152400" cy="152400"/>
          </a:xfrm>
          <a:prstGeom prst="rect">
            <a:avLst/>
          </a:prstGeom>
        </p:spPr>
      </p:pic>
      <p:pic>
        <p:nvPicPr>
          <p:cNvPr id="45" name="Image 43" descr="preencoded.png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10291763" y="6257925"/>
            <a:ext cx="1214438" cy="314325"/>
          </a:xfrm>
          <a:prstGeom prst="rect">
            <a:avLst/>
          </a:prstGeom>
        </p:spPr>
      </p:pic>
      <p:pic>
        <p:nvPicPr>
          <p:cNvPr id="46" name="Image 44" descr="preencoded.png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10387013" y="6343650"/>
            <a:ext cx="133350" cy="133350"/>
          </a:xfrm>
          <a:prstGeom prst="rect">
            <a:avLst/>
          </a:prstGeom>
        </p:spPr>
      </p:pic>
      <p:pic>
        <p:nvPicPr>
          <p:cNvPr id="47" name="Image 45" descr="preencoded.png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0" y="6781800"/>
            <a:ext cx="12192000" cy="76200"/>
          </a:xfrm>
          <a:prstGeom prst="rect">
            <a:avLst/>
          </a:prstGeom>
        </p:spPr>
      </p:pic>
      <p:sp>
        <p:nvSpPr>
          <p:cNvPr id="49" name="Text 0"/>
          <p:cNvSpPr/>
          <p:nvPr/>
        </p:nvSpPr>
        <p:spPr>
          <a:xfrm>
            <a:off x="762000" y="304800"/>
            <a:ext cx="10668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LECTURER INTERFACE</a:t>
            </a:r>
            <a:endParaRPr lang="en-US" sz="2700" dirty="0"/>
          </a:p>
        </p:txBody>
      </p:sp>
      <p:sp>
        <p:nvSpPr>
          <p:cNvPr id="50" name="Text 1"/>
          <p:cNvSpPr/>
          <p:nvPr/>
        </p:nvSpPr>
        <p:spPr>
          <a:xfrm>
            <a:off x="685800" y="1104900"/>
            <a:ext cx="167663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Submit Claim Form</a:t>
            </a:r>
            <a:endParaRPr lang="en-US" sz="1200" dirty="0"/>
          </a:p>
        </p:txBody>
      </p:sp>
      <p:sp>
        <p:nvSpPr>
          <p:cNvPr id="51" name="Text 2"/>
          <p:cNvSpPr/>
          <p:nvPr/>
        </p:nvSpPr>
        <p:spPr>
          <a:xfrm>
            <a:off x="533400" y="1552575"/>
            <a:ext cx="106424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Hours Worked:</a:t>
            </a:r>
            <a:endParaRPr lang="en-US" sz="1050" dirty="0"/>
          </a:p>
        </p:txBody>
      </p:sp>
      <p:sp>
        <p:nvSpPr>
          <p:cNvPr id="52" name="Text 3"/>
          <p:cNvSpPr/>
          <p:nvPr/>
        </p:nvSpPr>
        <p:spPr>
          <a:xfrm>
            <a:off x="647700" y="1752600"/>
            <a:ext cx="523875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15.5</a:t>
            </a:r>
            <a:endParaRPr lang="en-US" sz="1200" dirty="0"/>
          </a:p>
        </p:txBody>
      </p:sp>
      <p:sp>
        <p:nvSpPr>
          <p:cNvPr id="53" name="Text 4"/>
          <p:cNvSpPr/>
          <p:nvPr/>
        </p:nvSpPr>
        <p:spPr>
          <a:xfrm>
            <a:off x="533400" y="2162175"/>
            <a:ext cx="889397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Hourly Rate:</a:t>
            </a:r>
            <a:endParaRPr lang="en-US" sz="1050" dirty="0"/>
          </a:p>
        </p:txBody>
      </p:sp>
      <p:sp>
        <p:nvSpPr>
          <p:cNvPr id="54" name="Text 5"/>
          <p:cNvSpPr/>
          <p:nvPr/>
        </p:nvSpPr>
        <p:spPr>
          <a:xfrm>
            <a:off x="647700" y="2362200"/>
            <a:ext cx="523875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R450</a:t>
            </a:r>
            <a:endParaRPr lang="en-US" sz="1200" dirty="0"/>
          </a:p>
        </p:txBody>
      </p:sp>
      <p:sp>
        <p:nvSpPr>
          <p:cNvPr id="55" name="Text 6"/>
          <p:cNvSpPr/>
          <p:nvPr/>
        </p:nvSpPr>
        <p:spPr>
          <a:xfrm>
            <a:off x="866775" y="2781300"/>
            <a:ext cx="84403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R6,975.00</a:t>
            </a:r>
            <a:endParaRPr lang="en-US" sz="1200" dirty="0"/>
          </a:p>
        </p:txBody>
      </p:sp>
      <p:sp>
        <p:nvSpPr>
          <p:cNvPr id="56" name="Text 7"/>
          <p:cNvSpPr/>
          <p:nvPr/>
        </p:nvSpPr>
        <p:spPr>
          <a:xfrm>
            <a:off x="4738539" y="2800350"/>
            <a:ext cx="1103174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1580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Auto-calculated</a:t>
            </a:r>
            <a:endParaRPr lang="en-US" sz="1050" dirty="0"/>
          </a:p>
        </p:txBody>
      </p:sp>
      <p:sp>
        <p:nvSpPr>
          <p:cNvPr id="57" name="Text 8"/>
          <p:cNvSpPr/>
          <p:nvPr/>
        </p:nvSpPr>
        <p:spPr>
          <a:xfrm>
            <a:off x="5051346" y="3190875"/>
            <a:ext cx="620078" cy="1619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Submit</a:t>
            </a:r>
            <a:endParaRPr lang="en-US" sz="1200" dirty="0"/>
          </a:p>
        </p:txBody>
      </p:sp>
      <p:sp>
        <p:nvSpPr>
          <p:cNvPr id="58" name="Text 9"/>
          <p:cNvSpPr/>
          <p:nvPr/>
        </p:nvSpPr>
        <p:spPr>
          <a:xfrm>
            <a:off x="2286000" y="1962150"/>
            <a:ext cx="1910953" cy="3143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Auto-calculates total</a:t>
            </a:r>
            <a:endParaRPr lang="en-US" sz="1050" dirty="0"/>
          </a:p>
        </p:txBody>
      </p:sp>
      <p:sp>
        <p:nvSpPr>
          <p:cNvPr id="59" name="Text 10"/>
          <p:cNvSpPr/>
          <p:nvPr/>
        </p:nvSpPr>
        <p:spPr>
          <a:xfrm>
            <a:off x="6629400" y="1104900"/>
            <a:ext cx="1910596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My Claims Dashboard</a:t>
            </a:r>
            <a:endParaRPr lang="en-US" sz="1200" dirty="0"/>
          </a:p>
        </p:txBody>
      </p:sp>
      <p:sp>
        <p:nvSpPr>
          <p:cNvPr id="60" name="Text 11"/>
          <p:cNvSpPr/>
          <p:nvPr/>
        </p:nvSpPr>
        <p:spPr>
          <a:xfrm>
            <a:off x="6419850" y="1524000"/>
            <a:ext cx="1556623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Showing 3 of 5 claims</a:t>
            </a:r>
            <a:endParaRPr lang="en-US" sz="1050" dirty="0"/>
          </a:p>
        </p:txBody>
      </p:sp>
      <p:sp>
        <p:nvSpPr>
          <p:cNvPr id="61" name="Text 12"/>
          <p:cNvSpPr/>
          <p:nvPr/>
        </p:nvSpPr>
        <p:spPr>
          <a:xfrm>
            <a:off x="11291888" y="1543050"/>
            <a:ext cx="40005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Filter</a:t>
            </a:r>
            <a:endParaRPr lang="en-US" sz="1050" dirty="0"/>
          </a:p>
        </p:txBody>
      </p:sp>
      <p:sp>
        <p:nvSpPr>
          <p:cNvPr id="62" name="Text 13"/>
          <p:cNvSpPr/>
          <p:nvPr/>
        </p:nvSpPr>
        <p:spPr>
          <a:xfrm>
            <a:off x="6457950" y="1866900"/>
            <a:ext cx="129063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Claim #</a:t>
            </a:r>
            <a:endParaRPr lang="en-US" sz="1050" dirty="0"/>
          </a:p>
        </p:txBody>
      </p:sp>
      <p:sp>
        <p:nvSpPr>
          <p:cNvPr id="63" name="Text 14"/>
          <p:cNvSpPr/>
          <p:nvPr/>
        </p:nvSpPr>
        <p:spPr>
          <a:xfrm>
            <a:off x="7748588" y="1866900"/>
            <a:ext cx="129063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Date</a:t>
            </a:r>
            <a:endParaRPr lang="en-US" sz="1050" dirty="0"/>
          </a:p>
        </p:txBody>
      </p:sp>
      <p:sp>
        <p:nvSpPr>
          <p:cNvPr id="64" name="Text 15"/>
          <p:cNvSpPr/>
          <p:nvPr/>
        </p:nvSpPr>
        <p:spPr>
          <a:xfrm>
            <a:off x="9039225" y="1866900"/>
            <a:ext cx="129063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Hours</a:t>
            </a:r>
            <a:endParaRPr lang="en-US" sz="1050" dirty="0"/>
          </a:p>
        </p:txBody>
      </p:sp>
      <p:sp>
        <p:nvSpPr>
          <p:cNvPr id="65" name="Text 16"/>
          <p:cNvSpPr/>
          <p:nvPr/>
        </p:nvSpPr>
        <p:spPr>
          <a:xfrm>
            <a:off x="10329863" y="1866900"/>
            <a:ext cx="129063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Status</a:t>
            </a:r>
            <a:endParaRPr lang="en-US" sz="1050" dirty="0"/>
          </a:p>
        </p:txBody>
      </p:sp>
      <p:sp>
        <p:nvSpPr>
          <p:cNvPr id="66" name="Text 17"/>
          <p:cNvSpPr/>
          <p:nvPr/>
        </p:nvSpPr>
        <p:spPr>
          <a:xfrm>
            <a:off x="6457950" y="2133600"/>
            <a:ext cx="129063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#123</a:t>
            </a:r>
            <a:endParaRPr lang="en-US" sz="1050" dirty="0"/>
          </a:p>
        </p:txBody>
      </p:sp>
      <p:sp>
        <p:nvSpPr>
          <p:cNvPr id="67" name="Text 18"/>
          <p:cNvSpPr/>
          <p:nvPr/>
        </p:nvSpPr>
        <p:spPr>
          <a:xfrm>
            <a:off x="7748588" y="2133600"/>
            <a:ext cx="154876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01/05/2023</a:t>
            </a:r>
            <a:endParaRPr lang="en-US" sz="1050" dirty="0"/>
          </a:p>
        </p:txBody>
      </p:sp>
      <p:sp>
        <p:nvSpPr>
          <p:cNvPr id="68" name="Text 19"/>
          <p:cNvSpPr/>
          <p:nvPr/>
        </p:nvSpPr>
        <p:spPr>
          <a:xfrm>
            <a:off x="9039225" y="2133600"/>
            <a:ext cx="129063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15.5</a:t>
            </a:r>
            <a:endParaRPr lang="en-US" sz="1050" dirty="0"/>
          </a:p>
        </p:txBody>
      </p:sp>
      <p:sp>
        <p:nvSpPr>
          <p:cNvPr id="69" name="Text 20"/>
          <p:cNvSpPr/>
          <p:nvPr/>
        </p:nvSpPr>
        <p:spPr>
          <a:xfrm>
            <a:off x="10406063" y="2171700"/>
            <a:ext cx="686336" cy="1333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854D0E"/>
                </a:solidFill>
                <a:highlight>
                  <a:srgbClr val="FEF9C3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Pending</a:t>
            </a:r>
            <a:endParaRPr lang="en-US" sz="900" dirty="0"/>
          </a:p>
        </p:txBody>
      </p:sp>
      <p:sp>
        <p:nvSpPr>
          <p:cNvPr id="70" name="Text 21"/>
          <p:cNvSpPr/>
          <p:nvPr/>
        </p:nvSpPr>
        <p:spPr>
          <a:xfrm>
            <a:off x="6513597" y="2457450"/>
            <a:ext cx="818138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New Claim</a:t>
            </a:r>
            <a:endParaRPr lang="en-US" sz="1050" dirty="0"/>
          </a:p>
        </p:txBody>
      </p:sp>
      <p:sp>
        <p:nvSpPr>
          <p:cNvPr id="71" name="Text 22"/>
          <p:cNvSpPr/>
          <p:nvPr/>
        </p:nvSpPr>
        <p:spPr>
          <a:xfrm>
            <a:off x="10655052" y="1962150"/>
            <a:ext cx="1341418" cy="3143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Track status</a:t>
            </a:r>
            <a:endParaRPr lang="en-US" sz="1050" dirty="0"/>
          </a:p>
        </p:txBody>
      </p:sp>
      <p:sp>
        <p:nvSpPr>
          <p:cNvPr id="72" name="Text 23"/>
          <p:cNvSpPr/>
          <p:nvPr/>
        </p:nvSpPr>
        <p:spPr>
          <a:xfrm>
            <a:off x="685800" y="4419600"/>
            <a:ext cx="1148536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Claim Details</a:t>
            </a:r>
            <a:endParaRPr lang="en-US" sz="1200" dirty="0"/>
          </a:p>
        </p:txBody>
      </p:sp>
      <p:sp>
        <p:nvSpPr>
          <p:cNvPr id="73" name="Text 24"/>
          <p:cNvSpPr/>
          <p:nvPr/>
        </p:nvSpPr>
        <p:spPr>
          <a:xfrm>
            <a:off x="533400" y="4838700"/>
            <a:ext cx="95565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Claim #123</a:t>
            </a:r>
            <a:endParaRPr lang="en-US" sz="1200" dirty="0"/>
          </a:p>
        </p:txBody>
      </p:sp>
      <p:sp>
        <p:nvSpPr>
          <p:cNvPr id="74" name="Text 25"/>
          <p:cNvSpPr/>
          <p:nvPr/>
        </p:nvSpPr>
        <p:spPr>
          <a:xfrm>
            <a:off x="5206603" y="4876800"/>
            <a:ext cx="770096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1665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Approved</a:t>
            </a:r>
            <a:endParaRPr lang="en-US" sz="900" dirty="0"/>
          </a:p>
        </p:txBody>
      </p:sp>
      <p:sp>
        <p:nvSpPr>
          <p:cNvPr id="75" name="Text 26"/>
          <p:cNvSpPr/>
          <p:nvPr/>
        </p:nvSpPr>
        <p:spPr>
          <a:xfrm>
            <a:off x="571500" y="5219700"/>
            <a:ext cx="2505075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Hours Worked</a:t>
            </a:r>
            <a:endParaRPr lang="en-US" sz="900" dirty="0"/>
          </a:p>
        </p:txBody>
      </p:sp>
      <p:sp>
        <p:nvSpPr>
          <p:cNvPr id="76" name="Text 27"/>
          <p:cNvSpPr/>
          <p:nvPr/>
        </p:nvSpPr>
        <p:spPr>
          <a:xfrm>
            <a:off x="571500" y="5372100"/>
            <a:ext cx="250507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15.5</a:t>
            </a:r>
            <a:endParaRPr lang="en-US" sz="1200" dirty="0"/>
          </a:p>
        </p:txBody>
      </p:sp>
      <p:sp>
        <p:nvSpPr>
          <p:cNvPr id="77" name="Text 28"/>
          <p:cNvSpPr/>
          <p:nvPr/>
        </p:nvSpPr>
        <p:spPr>
          <a:xfrm>
            <a:off x="3228975" y="5219700"/>
            <a:ext cx="2505075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Hourly Rate</a:t>
            </a:r>
            <a:endParaRPr lang="en-US" sz="900" dirty="0"/>
          </a:p>
        </p:txBody>
      </p:sp>
      <p:sp>
        <p:nvSpPr>
          <p:cNvPr id="78" name="Text 29"/>
          <p:cNvSpPr/>
          <p:nvPr/>
        </p:nvSpPr>
        <p:spPr>
          <a:xfrm>
            <a:off x="3228975" y="5372100"/>
            <a:ext cx="250507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R450</a:t>
            </a:r>
            <a:endParaRPr lang="en-US" sz="1200" dirty="0"/>
          </a:p>
        </p:txBody>
      </p:sp>
      <p:sp>
        <p:nvSpPr>
          <p:cNvPr id="79" name="Text 30"/>
          <p:cNvSpPr/>
          <p:nvPr/>
        </p:nvSpPr>
        <p:spPr>
          <a:xfrm>
            <a:off x="571500" y="5791200"/>
            <a:ext cx="516255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</a:t>
            </a:r>
            <a:endParaRPr lang="en-US" sz="900" dirty="0"/>
          </a:p>
        </p:txBody>
      </p:sp>
      <p:sp>
        <p:nvSpPr>
          <p:cNvPr id="80" name="Text 31"/>
          <p:cNvSpPr/>
          <p:nvPr/>
        </p:nvSpPr>
        <p:spPr>
          <a:xfrm>
            <a:off x="762000" y="5943600"/>
            <a:ext cx="90743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claim123.pdf</a:t>
            </a:r>
            <a:endParaRPr lang="en-US" sz="1050" dirty="0"/>
          </a:p>
        </p:txBody>
      </p:sp>
      <p:sp>
        <p:nvSpPr>
          <p:cNvPr id="81" name="Text 32"/>
          <p:cNvSpPr/>
          <p:nvPr/>
        </p:nvSpPr>
        <p:spPr>
          <a:xfrm>
            <a:off x="5139943" y="5972175"/>
            <a:ext cx="648117" cy="1333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Download</a:t>
            </a:r>
            <a:endParaRPr lang="en-US" sz="900" dirty="0"/>
          </a:p>
        </p:txBody>
      </p:sp>
      <p:sp>
        <p:nvSpPr>
          <p:cNvPr id="82" name="Text 33"/>
          <p:cNvSpPr/>
          <p:nvPr/>
        </p:nvSpPr>
        <p:spPr>
          <a:xfrm>
            <a:off x="923925" y="6257925"/>
            <a:ext cx="1805404" cy="3143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Document required</a:t>
            </a:r>
            <a:endParaRPr lang="en-US" sz="1050" dirty="0"/>
          </a:p>
        </p:txBody>
      </p:sp>
      <p:sp>
        <p:nvSpPr>
          <p:cNvPr id="83" name="Text 34"/>
          <p:cNvSpPr/>
          <p:nvPr/>
        </p:nvSpPr>
        <p:spPr>
          <a:xfrm>
            <a:off x="6648450" y="4419600"/>
            <a:ext cx="98565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File Upload</a:t>
            </a:r>
            <a:endParaRPr lang="en-US" sz="1200" dirty="0"/>
          </a:p>
        </p:txBody>
      </p:sp>
      <p:sp>
        <p:nvSpPr>
          <p:cNvPr id="84" name="Text 35"/>
          <p:cNvSpPr/>
          <p:nvPr/>
        </p:nvSpPr>
        <p:spPr>
          <a:xfrm>
            <a:off x="6078855" y="5334000"/>
            <a:ext cx="592074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Drop files here or click to upload</a:t>
            </a:r>
            <a:endParaRPr lang="en-US" sz="1050" dirty="0"/>
          </a:p>
        </p:txBody>
      </p:sp>
      <p:sp>
        <p:nvSpPr>
          <p:cNvPr id="85" name="Text 36"/>
          <p:cNvSpPr/>
          <p:nvPr/>
        </p:nvSpPr>
        <p:spPr>
          <a:xfrm>
            <a:off x="6572250" y="5524500"/>
            <a:ext cx="493395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Supports PDF, XLSX (Max 5MB)</a:t>
            </a:r>
            <a:endParaRPr lang="en-US" sz="900" dirty="0"/>
          </a:p>
        </p:txBody>
      </p:sp>
      <p:sp>
        <p:nvSpPr>
          <p:cNvPr id="86" name="Text 37"/>
          <p:cNvSpPr/>
          <p:nvPr/>
        </p:nvSpPr>
        <p:spPr>
          <a:xfrm>
            <a:off x="9955232" y="6010275"/>
            <a:ext cx="620078" cy="1619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Cancel</a:t>
            </a:r>
            <a:endParaRPr lang="en-US" sz="1200" dirty="0"/>
          </a:p>
        </p:txBody>
      </p:sp>
      <p:sp>
        <p:nvSpPr>
          <p:cNvPr id="87" name="Text 38"/>
          <p:cNvSpPr/>
          <p:nvPr/>
        </p:nvSpPr>
        <p:spPr>
          <a:xfrm>
            <a:off x="10966400" y="6010275"/>
            <a:ext cx="630436" cy="1619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Upload</a:t>
            </a:r>
            <a:endParaRPr lang="en-US" sz="1200" dirty="0"/>
          </a:p>
        </p:txBody>
      </p:sp>
      <p:sp>
        <p:nvSpPr>
          <p:cNvPr id="88" name="Text 39"/>
          <p:cNvSpPr/>
          <p:nvPr/>
        </p:nvSpPr>
        <p:spPr>
          <a:xfrm>
            <a:off x="10558463" y="6257925"/>
            <a:ext cx="1457325" cy="3143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File validation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876300"/>
            <a:ext cx="5410200" cy="2667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900" y="990600"/>
            <a:ext cx="304800" cy="3048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100" y="1066800"/>
            <a:ext cx="152400" cy="1524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900" y="1371600"/>
            <a:ext cx="5181600" cy="17145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100" y="1676400"/>
            <a:ext cx="1650950" cy="533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89150" y="1676400"/>
            <a:ext cx="1650950" cy="533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78201" y="1676400"/>
            <a:ext cx="1650950" cy="533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0100" y="2514600"/>
            <a:ext cx="5029200" cy="2286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3900" y="3162300"/>
            <a:ext cx="5181600" cy="2667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172200" y="876300"/>
            <a:ext cx="5410200" cy="26670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86500" y="990600"/>
            <a:ext cx="304800" cy="3048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62700" y="1066800"/>
            <a:ext cx="152400" cy="152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0" y="1371600"/>
            <a:ext cx="5181600" cy="17145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277600" y="1695450"/>
            <a:ext cx="114300" cy="1143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362700" y="1866900"/>
            <a:ext cx="5029200" cy="762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362700" y="1866900"/>
            <a:ext cx="2011561" cy="762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080177" y="2028825"/>
            <a:ext cx="1594247" cy="20955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156377" y="2076450"/>
            <a:ext cx="114300" cy="1143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86500" y="3162300"/>
            <a:ext cx="5181600" cy="2667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09600" y="3695700"/>
            <a:ext cx="5410200" cy="28575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23900" y="3810000"/>
            <a:ext cx="304800" cy="3048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19150" y="3886200"/>
            <a:ext cx="114300" cy="1524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23900" y="4191000"/>
            <a:ext cx="5181600" cy="19050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00100" y="5486400"/>
            <a:ext cx="5029200" cy="2286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38200" y="5543550"/>
            <a:ext cx="114300" cy="1143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3900" y="6172200"/>
            <a:ext cx="5181600" cy="2667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172200" y="3695700"/>
            <a:ext cx="5410200" cy="28575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286500" y="3810000"/>
            <a:ext cx="304800" cy="30480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362700" y="3886200"/>
            <a:ext cx="152400" cy="152400"/>
          </a:xfrm>
          <a:prstGeom prst="rect">
            <a:avLst/>
          </a:prstGeom>
        </p:spPr>
      </p:pic>
      <p:pic>
        <p:nvPicPr>
          <p:cNvPr id="33" name="Image 31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286500" y="4191000"/>
            <a:ext cx="5181600" cy="1905000"/>
          </a:xfrm>
          <a:prstGeom prst="rect">
            <a:avLst/>
          </a:prstGeom>
        </p:spPr>
      </p:pic>
      <p:pic>
        <p:nvPicPr>
          <p:cNvPr id="34" name="Image 32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362700" y="4495800"/>
            <a:ext cx="795486" cy="220861"/>
          </a:xfrm>
          <a:prstGeom prst="rect">
            <a:avLst/>
          </a:prstGeom>
        </p:spPr>
      </p:pic>
      <p:pic>
        <p:nvPicPr>
          <p:cNvPr id="35" name="Image 33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438900" y="4552950"/>
            <a:ext cx="123825" cy="121890"/>
          </a:xfrm>
          <a:prstGeom prst="rect">
            <a:avLst/>
          </a:prstGeom>
        </p:spPr>
      </p:pic>
      <p:pic>
        <p:nvPicPr>
          <p:cNvPr id="36" name="Image 34" descr="preencoded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238702" y="4495800"/>
            <a:ext cx="646063" cy="220861"/>
          </a:xfrm>
          <a:prstGeom prst="rect">
            <a:avLst/>
          </a:prstGeom>
        </p:spPr>
      </p:pic>
      <p:pic>
        <p:nvPicPr>
          <p:cNvPr id="37" name="Image 35" descr="preencoded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7314902" y="4552950"/>
            <a:ext cx="76200" cy="121890"/>
          </a:xfrm>
          <a:prstGeom prst="rect">
            <a:avLst/>
          </a:prstGeom>
        </p:spPr>
      </p:pic>
      <p:pic>
        <p:nvPicPr>
          <p:cNvPr id="38" name="Image 36" descr="preencoded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0699552" y="4830961"/>
            <a:ext cx="692348" cy="228600"/>
          </a:xfrm>
          <a:prstGeom prst="rect">
            <a:avLst/>
          </a:prstGeom>
        </p:spPr>
      </p:pic>
      <p:pic>
        <p:nvPicPr>
          <p:cNvPr id="39" name="Image 37" descr="preencoded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10775752" y="4888111"/>
            <a:ext cx="114300" cy="114300"/>
          </a:xfrm>
          <a:prstGeom prst="rect">
            <a:avLst/>
          </a:prstGeom>
        </p:spPr>
      </p:pic>
      <p:pic>
        <p:nvPicPr>
          <p:cNvPr id="40" name="Image 38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86500" y="6172200"/>
            <a:ext cx="5181600" cy="266700"/>
          </a:xfrm>
          <a:prstGeom prst="rect">
            <a:avLst/>
          </a:prstGeom>
        </p:spPr>
      </p:pic>
      <p:pic>
        <p:nvPicPr>
          <p:cNvPr id="41" name="Image 39" descr="preencoded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0" y="6781800"/>
            <a:ext cx="12192000" cy="76200"/>
          </a:xfrm>
          <a:prstGeom prst="rect">
            <a:avLst/>
          </a:prstGeom>
        </p:spPr>
      </p:pic>
      <p:sp>
        <p:nvSpPr>
          <p:cNvPr id="43" name="Text 0"/>
          <p:cNvSpPr/>
          <p:nvPr/>
        </p:nvSpPr>
        <p:spPr>
          <a:xfrm>
            <a:off x="762000" y="304800"/>
            <a:ext cx="128016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COORDINATOR/MANAGER INTERFACE</a:t>
            </a:r>
            <a:endParaRPr lang="en-US" sz="2700" dirty="0"/>
          </a:p>
        </p:txBody>
      </p:sp>
      <p:sp>
        <p:nvSpPr>
          <p:cNvPr id="44" name="Text 1"/>
          <p:cNvSpPr/>
          <p:nvPr/>
        </p:nvSpPr>
        <p:spPr>
          <a:xfrm>
            <a:off x="1104900" y="1009650"/>
            <a:ext cx="2045434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 Dashboard</a:t>
            </a:r>
            <a:endParaRPr lang="en-US" sz="1500" dirty="0"/>
          </a:p>
        </p:txBody>
      </p:sp>
      <p:sp>
        <p:nvSpPr>
          <p:cNvPr id="45" name="Text 2"/>
          <p:cNvSpPr/>
          <p:nvPr/>
        </p:nvSpPr>
        <p:spPr>
          <a:xfrm>
            <a:off x="800100" y="1447800"/>
            <a:ext cx="50292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Claims Overview</a:t>
            </a:r>
            <a:endParaRPr lang="en-US" sz="1050" dirty="0"/>
          </a:p>
        </p:txBody>
      </p:sp>
      <p:sp>
        <p:nvSpPr>
          <p:cNvPr id="46" name="Text 3"/>
          <p:cNvSpPr/>
          <p:nvPr/>
        </p:nvSpPr>
        <p:spPr>
          <a:xfrm>
            <a:off x="857250" y="1733550"/>
            <a:ext cx="15366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1350" dirty="0"/>
          </a:p>
        </p:txBody>
      </p:sp>
      <p:sp>
        <p:nvSpPr>
          <p:cNvPr id="47" name="Text 4"/>
          <p:cNvSpPr/>
          <p:nvPr/>
        </p:nvSpPr>
        <p:spPr>
          <a:xfrm>
            <a:off x="857250" y="2000250"/>
            <a:ext cx="153665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Pending</a:t>
            </a:r>
            <a:endParaRPr lang="en-US" sz="900" dirty="0"/>
          </a:p>
        </p:txBody>
      </p:sp>
      <p:sp>
        <p:nvSpPr>
          <p:cNvPr id="48" name="Text 5"/>
          <p:cNvSpPr/>
          <p:nvPr/>
        </p:nvSpPr>
        <p:spPr>
          <a:xfrm>
            <a:off x="2546300" y="1733550"/>
            <a:ext cx="15366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45</a:t>
            </a:r>
            <a:endParaRPr lang="en-US" sz="1350" dirty="0"/>
          </a:p>
        </p:txBody>
      </p:sp>
      <p:sp>
        <p:nvSpPr>
          <p:cNvPr id="49" name="Text 6"/>
          <p:cNvSpPr/>
          <p:nvPr/>
        </p:nvSpPr>
        <p:spPr>
          <a:xfrm>
            <a:off x="2546300" y="2000250"/>
            <a:ext cx="153665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Approved</a:t>
            </a:r>
            <a:endParaRPr lang="en-US" sz="900" dirty="0"/>
          </a:p>
        </p:txBody>
      </p:sp>
      <p:sp>
        <p:nvSpPr>
          <p:cNvPr id="50" name="Text 7"/>
          <p:cNvSpPr/>
          <p:nvPr/>
        </p:nvSpPr>
        <p:spPr>
          <a:xfrm>
            <a:off x="4235351" y="1733550"/>
            <a:ext cx="15366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1350" dirty="0"/>
          </a:p>
        </p:txBody>
      </p:sp>
      <p:sp>
        <p:nvSpPr>
          <p:cNvPr id="51" name="Text 8"/>
          <p:cNvSpPr/>
          <p:nvPr/>
        </p:nvSpPr>
        <p:spPr>
          <a:xfrm>
            <a:off x="4235351" y="2000250"/>
            <a:ext cx="153665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Rejected</a:t>
            </a:r>
            <a:endParaRPr lang="en-US" sz="900" dirty="0"/>
          </a:p>
        </p:txBody>
      </p:sp>
      <p:sp>
        <p:nvSpPr>
          <p:cNvPr id="52" name="Text 9"/>
          <p:cNvSpPr/>
          <p:nvPr/>
        </p:nvSpPr>
        <p:spPr>
          <a:xfrm>
            <a:off x="800100" y="2286000"/>
            <a:ext cx="50292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Recent Claims</a:t>
            </a:r>
            <a:endParaRPr lang="en-US" sz="1050" dirty="0"/>
          </a:p>
        </p:txBody>
      </p:sp>
      <p:sp>
        <p:nvSpPr>
          <p:cNvPr id="53" name="Text 10"/>
          <p:cNvSpPr/>
          <p:nvPr/>
        </p:nvSpPr>
        <p:spPr>
          <a:xfrm>
            <a:off x="838200" y="2552700"/>
            <a:ext cx="693837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Claim #456</a:t>
            </a:r>
            <a:endParaRPr lang="en-US" sz="900" dirty="0"/>
          </a:p>
        </p:txBody>
      </p:sp>
      <p:sp>
        <p:nvSpPr>
          <p:cNvPr id="54" name="Text 11"/>
          <p:cNvSpPr/>
          <p:nvPr/>
        </p:nvSpPr>
        <p:spPr>
          <a:xfrm>
            <a:off x="2334518" y="2552700"/>
            <a:ext cx="632758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Lecturer X</a:t>
            </a:r>
            <a:endParaRPr lang="en-US" sz="900" dirty="0"/>
          </a:p>
        </p:txBody>
      </p:sp>
      <p:sp>
        <p:nvSpPr>
          <p:cNvPr id="55" name="Text 12"/>
          <p:cNvSpPr/>
          <p:nvPr/>
        </p:nvSpPr>
        <p:spPr>
          <a:xfrm>
            <a:off x="3779937" y="2552700"/>
            <a:ext cx="518636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R12,500</a:t>
            </a:r>
            <a:endParaRPr lang="en-US" sz="900" dirty="0"/>
          </a:p>
        </p:txBody>
      </p:sp>
      <p:sp>
        <p:nvSpPr>
          <p:cNvPr id="56" name="Text 13"/>
          <p:cNvSpPr/>
          <p:nvPr/>
        </p:nvSpPr>
        <p:spPr>
          <a:xfrm>
            <a:off x="5130254" y="2552700"/>
            <a:ext cx="792778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FACC1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 Risk</a:t>
            </a:r>
            <a:endParaRPr lang="en-US" sz="900" dirty="0"/>
          </a:p>
        </p:txBody>
      </p:sp>
      <p:sp>
        <p:nvSpPr>
          <p:cNvPr id="57" name="Text 14"/>
          <p:cNvSpPr/>
          <p:nvPr/>
        </p:nvSpPr>
        <p:spPr>
          <a:xfrm>
            <a:off x="762000" y="3162300"/>
            <a:ext cx="62179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Features:</a:t>
            </a: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Dashboard statistics, claim filtering</a:t>
            </a:r>
            <a:endParaRPr lang="en-US" sz="1050" dirty="0"/>
          </a:p>
        </p:txBody>
      </p:sp>
      <p:sp>
        <p:nvSpPr>
          <p:cNvPr id="58" name="Text 15"/>
          <p:cNvSpPr/>
          <p:nvPr/>
        </p:nvSpPr>
        <p:spPr>
          <a:xfrm>
            <a:off x="6667500" y="1009650"/>
            <a:ext cx="255835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 Assessment Panel</a:t>
            </a:r>
            <a:endParaRPr lang="en-US" sz="1500" dirty="0"/>
          </a:p>
        </p:txBody>
      </p:sp>
      <p:sp>
        <p:nvSpPr>
          <p:cNvPr id="59" name="Text 16"/>
          <p:cNvSpPr/>
          <p:nvPr/>
        </p:nvSpPr>
        <p:spPr>
          <a:xfrm>
            <a:off x="6362700" y="1447800"/>
            <a:ext cx="50292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Claim Analysis</a:t>
            </a:r>
            <a:endParaRPr lang="en-US" sz="1050" dirty="0"/>
          </a:p>
        </p:txBody>
      </p:sp>
      <p:sp>
        <p:nvSpPr>
          <p:cNvPr id="60" name="Text 17"/>
          <p:cNvSpPr/>
          <p:nvPr/>
        </p:nvSpPr>
        <p:spPr>
          <a:xfrm>
            <a:off x="6362700" y="1676400"/>
            <a:ext cx="403979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Hours:</a:t>
            </a:r>
            <a:endParaRPr lang="en-US" sz="900" dirty="0"/>
          </a:p>
        </p:txBody>
      </p:sp>
      <p:sp>
        <p:nvSpPr>
          <p:cNvPr id="61" name="Text 18"/>
          <p:cNvSpPr/>
          <p:nvPr/>
        </p:nvSpPr>
        <p:spPr>
          <a:xfrm>
            <a:off x="10832604" y="1676400"/>
            <a:ext cx="671155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180/160 </a:t>
            </a:r>
            <a:endParaRPr lang="en-US" sz="900" dirty="0"/>
          </a:p>
        </p:txBody>
      </p:sp>
      <p:sp>
        <p:nvSpPr>
          <p:cNvPr id="62" name="Text 19"/>
          <p:cNvSpPr/>
          <p:nvPr/>
        </p:nvSpPr>
        <p:spPr>
          <a:xfrm>
            <a:off x="7920752" y="2028825"/>
            <a:ext cx="1913096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Risk Score: 40 (Medium)</a:t>
            </a:r>
            <a:endParaRPr lang="en-US" sz="900" dirty="0"/>
          </a:p>
        </p:txBody>
      </p:sp>
      <p:sp>
        <p:nvSpPr>
          <p:cNvPr id="63" name="Text 20"/>
          <p:cNvSpPr/>
          <p:nvPr/>
        </p:nvSpPr>
        <p:spPr>
          <a:xfrm>
            <a:off x="6324600" y="3162300"/>
            <a:ext cx="62179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Features:</a:t>
            </a: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Automated risk calculation, visual indicators</a:t>
            </a:r>
            <a:endParaRPr lang="en-US" sz="1050" dirty="0"/>
          </a:p>
        </p:txBody>
      </p:sp>
      <p:sp>
        <p:nvSpPr>
          <p:cNvPr id="64" name="Text 21"/>
          <p:cNvSpPr/>
          <p:nvPr/>
        </p:nvSpPr>
        <p:spPr>
          <a:xfrm>
            <a:off x="1104900" y="3829050"/>
            <a:ext cx="143571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Claim Details</a:t>
            </a:r>
            <a:endParaRPr lang="en-US" sz="1500" dirty="0"/>
          </a:p>
        </p:txBody>
      </p:sp>
      <p:sp>
        <p:nvSpPr>
          <p:cNvPr id="65" name="Text 22"/>
          <p:cNvSpPr/>
          <p:nvPr/>
        </p:nvSpPr>
        <p:spPr>
          <a:xfrm>
            <a:off x="800100" y="4267200"/>
            <a:ext cx="50292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Claim #123 Details</a:t>
            </a:r>
            <a:endParaRPr lang="en-US" sz="1050" dirty="0"/>
          </a:p>
        </p:txBody>
      </p:sp>
      <p:sp>
        <p:nvSpPr>
          <p:cNvPr id="66" name="Text 23"/>
          <p:cNvSpPr/>
          <p:nvPr/>
        </p:nvSpPr>
        <p:spPr>
          <a:xfrm>
            <a:off x="800100" y="4495800"/>
            <a:ext cx="249555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Lecturer:</a:t>
            </a:r>
            <a:endParaRPr lang="en-US" sz="900" dirty="0"/>
          </a:p>
        </p:txBody>
      </p:sp>
      <p:sp>
        <p:nvSpPr>
          <p:cNvPr id="67" name="Text 24"/>
          <p:cNvSpPr/>
          <p:nvPr/>
        </p:nvSpPr>
        <p:spPr>
          <a:xfrm>
            <a:off x="3333750" y="4495800"/>
            <a:ext cx="249555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Mr. Smith</a:t>
            </a:r>
            <a:endParaRPr lang="en-US" sz="900" dirty="0"/>
          </a:p>
        </p:txBody>
      </p:sp>
      <p:sp>
        <p:nvSpPr>
          <p:cNvPr id="68" name="Text 25"/>
          <p:cNvSpPr/>
          <p:nvPr/>
        </p:nvSpPr>
        <p:spPr>
          <a:xfrm>
            <a:off x="800100" y="4686300"/>
            <a:ext cx="249555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Hours:</a:t>
            </a:r>
            <a:endParaRPr lang="en-US" sz="900" dirty="0"/>
          </a:p>
        </p:txBody>
      </p:sp>
      <p:sp>
        <p:nvSpPr>
          <p:cNvPr id="69" name="Text 26"/>
          <p:cNvSpPr/>
          <p:nvPr/>
        </p:nvSpPr>
        <p:spPr>
          <a:xfrm>
            <a:off x="3333750" y="4686300"/>
            <a:ext cx="249555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180</a:t>
            </a:r>
            <a:endParaRPr lang="en-US" sz="900" dirty="0"/>
          </a:p>
        </p:txBody>
      </p:sp>
      <p:sp>
        <p:nvSpPr>
          <p:cNvPr id="70" name="Text 27"/>
          <p:cNvSpPr/>
          <p:nvPr/>
        </p:nvSpPr>
        <p:spPr>
          <a:xfrm>
            <a:off x="800100" y="4876800"/>
            <a:ext cx="249555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Rate:</a:t>
            </a:r>
            <a:endParaRPr lang="en-US" sz="900" dirty="0"/>
          </a:p>
        </p:txBody>
      </p:sp>
      <p:sp>
        <p:nvSpPr>
          <p:cNvPr id="71" name="Text 28"/>
          <p:cNvSpPr/>
          <p:nvPr/>
        </p:nvSpPr>
        <p:spPr>
          <a:xfrm>
            <a:off x="3333750" y="4876800"/>
            <a:ext cx="249555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R500</a:t>
            </a:r>
            <a:endParaRPr lang="en-US" sz="900" dirty="0"/>
          </a:p>
        </p:txBody>
      </p:sp>
      <p:sp>
        <p:nvSpPr>
          <p:cNvPr id="72" name="Text 29"/>
          <p:cNvSpPr/>
          <p:nvPr/>
        </p:nvSpPr>
        <p:spPr>
          <a:xfrm>
            <a:off x="800100" y="5067300"/>
            <a:ext cx="249555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Total:</a:t>
            </a:r>
            <a:endParaRPr lang="en-US" sz="900" dirty="0"/>
          </a:p>
        </p:txBody>
      </p:sp>
      <p:sp>
        <p:nvSpPr>
          <p:cNvPr id="73" name="Text 30"/>
          <p:cNvSpPr/>
          <p:nvPr/>
        </p:nvSpPr>
        <p:spPr>
          <a:xfrm>
            <a:off x="3333750" y="5067300"/>
            <a:ext cx="249555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R90,000</a:t>
            </a:r>
            <a:endParaRPr lang="en-US" sz="900" dirty="0"/>
          </a:p>
        </p:txBody>
      </p:sp>
      <p:sp>
        <p:nvSpPr>
          <p:cNvPr id="74" name="Text 31"/>
          <p:cNvSpPr/>
          <p:nvPr/>
        </p:nvSpPr>
        <p:spPr>
          <a:xfrm>
            <a:off x="800100" y="5257800"/>
            <a:ext cx="50292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Validation Warnings:</a:t>
            </a:r>
            <a:endParaRPr lang="en-US" sz="1050" dirty="0"/>
          </a:p>
        </p:txBody>
      </p:sp>
      <p:sp>
        <p:nvSpPr>
          <p:cNvPr id="75" name="Text 32"/>
          <p:cNvSpPr/>
          <p:nvPr/>
        </p:nvSpPr>
        <p:spPr>
          <a:xfrm>
            <a:off x="990600" y="5486400"/>
            <a:ext cx="60350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Hours exceed 160 - requires approval</a:t>
            </a:r>
            <a:endParaRPr lang="en-US" sz="900" dirty="0"/>
          </a:p>
        </p:txBody>
      </p:sp>
      <p:sp>
        <p:nvSpPr>
          <p:cNvPr id="76" name="Text 33"/>
          <p:cNvSpPr/>
          <p:nvPr/>
        </p:nvSpPr>
        <p:spPr>
          <a:xfrm>
            <a:off x="762000" y="6172200"/>
            <a:ext cx="62179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Features:</a:t>
            </a: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Detailed claim info, validation feedback</a:t>
            </a:r>
            <a:endParaRPr lang="en-US" sz="1050" dirty="0"/>
          </a:p>
        </p:txBody>
      </p:sp>
      <p:sp>
        <p:nvSpPr>
          <p:cNvPr id="77" name="Text 34"/>
          <p:cNvSpPr/>
          <p:nvPr/>
        </p:nvSpPr>
        <p:spPr>
          <a:xfrm>
            <a:off x="6667500" y="3829050"/>
            <a:ext cx="200721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Approval Interface</a:t>
            </a:r>
            <a:endParaRPr lang="en-US" sz="1500" dirty="0"/>
          </a:p>
        </p:txBody>
      </p:sp>
      <p:sp>
        <p:nvSpPr>
          <p:cNvPr id="78" name="Text 35"/>
          <p:cNvSpPr/>
          <p:nvPr/>
        </p:nvSpPr>
        <p:spPr>
          <a:xfrm>
            <a:off x="6362700" y="4267200"/>
            <a:ext cx="50292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Approve/Reject Claim #123</a:t>
            </a:r>
            <a:endParaRPr lang="en-US" sz="1050" dirty="0"/>
          </a:p>
        </p:txBody>
      </p:sp>
      <p:sp>
        <p:nvSpPr>
          <p:cNvPr id="79" name="Text 36"/>
          <p:cNvSpPr/>
          <p:nvPr/>
        </p:nvSpPr>
        <p:spPr>
          <a:xfrm>
            <a:off x="6600825" y="4495800"/>
            <a:ext cx="954584" cy="22086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96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Approve</a:t>
            </a:r>
            <a:endParaRPr lang="en-US" sz="960" dirty="0"/>
          </a:p>
        </p:txBody>
      </p:sp>
      <p:sp>
        <p:nvSpPr>
          <p:cNvPr id="80" name="Text 37"/>
          <p:cNvSpPr/>
          <p:nvPr/>
        </p:nvSpPr>
        <p:spPr>
          <a:xfrm>
            <a:off x="7429202" y="4495800"/>
            <a:ext cx="775275" cy="22086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96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Reject</a:t>
            </a:r>
            <a:endParaRPr lang="en-US" sz="960" dirty="0"/>
          </a:p>
        </p:txBody>
      </p:sp>
      <p:sp>
        <p:nvSpPr>
          <p:cNvPr id="81" name="Text 38"/>
          <p:cNvSpPr/>
          <p:nvPr/>
        </p:nvSpPr>
        <p:spPr>
          <a:xfrm>
            <a:off x="10889397" y="4878586"/>
            <a:ext cx="465058" cy="1333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Submit</a:t>
            </a:r>
            <a:endParaRPr lang="en-US" sz="900" dirty="0"/>
          </a:p>
        </p:txBody>
      </p:sp>
      <p:sp>
        <p:nvSpPr>
          <p:cNvPr id="82" name="Text 39"/>
          <p:cNvSpPr/>
          <p:nvPr/>
        </p:nvSpPr>
        <p:spPr>
          <a:xfrm>
            <a:off x="6324600" y="6172200"/>
            <a:ext cx="62179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Features:</a:t>
            </a: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One-click approval, rejection reasons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914400"/>
            <a:ext cx="5410200" cy="27813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914400"/>
            <a:ext cx="5410200" cy="3810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900" y="1409700"/>
            <a:ext cx="1676400" cy="6477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90663" y="1485900"/>
            <a:ext cx="142875" cy="2667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76500" y="1409700"/>
            <a:ext cx="1676400" cy="6477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19450" y="1485900"/>
            <a:ext cx="190500" cy="2667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29100" y="1409700"/>
            <a:ext cx="1676400" cy="6477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48238" y="1485900"/>
            <a:ext cx="238125" cy="2667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3900" y="2171700"/>
            <a:ext cx="5181600" cy="4572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13202" y="2247900"/>
            <a:ext cx="216098" cy="1905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0100" y="2476500"/>
            <a:ext cx="5029200" cy="762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0100" y="2476500"/>
            <a:ext cx="2011561" cy="762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3900" y="2705100"/>
            <a:ext cx="5181600" cy="4572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549652" y="2781300"/>
            <a:ext cx="279648" cy="1905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0100" y="3009900"/>
            <a:ext cx="5029200" cy="762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00100" y="3009900"/>
            <a:ext cx="4677073" cy="762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914400"/>
            <a:ext cx="5410200" cy="27813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172200" y="914400"/>
            <a:ext cx="5410200" cy="3810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248400" y="1028700"/>
            <a:ext cx="152400" cy="1524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248400" y="1390650"/>
            <a:ext cx="2667000" cy="7620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286500" y="2286000"/>
            <a:ext cx="2552700" cy="9525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362700" y="2781300"/>
            <a:ext cx="2400300" cy="5715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362700" y="2781300"/>
            <a:ext cx="1800225" cy="5715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362700" y="3067050"/>
            <a:ext cx="2400300" cy="5715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362700" y="3067050"/>
            <a:ext cx="360015" cy="5715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915400" y="2286000"/>
            <a:ext cx="2552700" cy="9525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991600" y="2628900"/>
            <a:ext cx="171450" cy="15240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991600" y="2819400"/>
            <a:ext cx="114300" cy="152400"/>
          </a:xfrm>
          <a:prstGeom prst="rect">
            <a:avLst/>
          </a:prstGeom>
        </p:spPr>
      </p:pic>
      <p:pic>
        <p:nvPicPr>
          <p:cNvPr id="33" name="Image 31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991600" y="3009900"/>
            <a:ext cx="152400" cy="152400"/>
          </a:xfrm>
          <a:prstGeom prst="rect">
            <a:avLst/>
          </a:prstGeom>
        </p:spPr>
      </p:pic>
      <p:pic>
        <p:nvPicPr>
          <p:cNvPr id="34" name="Image 32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09600" y="3848100"/>
            <a:ext cx="5410200" cy="2781300"/>
          </a:xfrm>
          <a:prstGeom prst="rect">
            <a:avLst/>
          </a:prstGeom>
        </p:spPr>
      </p:pic>
      <p:pic>
        <p:nvPicPr>
          <p:cNvPr id="35" name="Image 33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09600" y="3848100"/>
            <a:ext cx="5410200" cy="381000"/>
          </a:xfrm>
          <a:prstGeom prst="rect">
            <a:avLst/>
          </a:prstGeom>
        </p:spPr>
      </p:pic>
      <p:pic>
        <p:nvPicPr>
          <p:cNvPr id="36" name="Image 34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85800" y="3962400"/>
            <a:ext cx="114300" cy="152400"/>
          </a:xfrm>
          <a:prstGeom prst="rect">
            <a:avLst/>
          </a:prstGeom>
        </p:spPr>
      </p:pic>
      <p:pic>
        <p:nvPicPr>
          <p:cNvPr id="37" name="Image 35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23900" y="4343400"/>
            <a:ext cx="5181600" cy="1828800"/>
          </a:xfrm>
          <a:prstGeom prst="rect">
            <a:avLst/>
          </a:prstGeom>
        </p:spPr>
      </p:pic>
      <p:pic>
        <p:nvPicPr>
          <p:cNvPr id="38" name="Image 36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838200" y="4743450"/>
            <a:ext cx="133350" cy="152400"/>
          </a:xfrm>
          <a:prstGeom prst="rect">
            <a:avLst/>
          </a:prstGeom>
        </p:spPr>
      </p:pic>
      <p:pic>
        <p:nvPicPr>
          <p:cNvPr id="39" name="Image 37" descr="preencoded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4769197" y="4743450"/>
            <a:ext cx="152400" cy="152400"/>
          </a:xfrm>
          <a:prstGeom prst="rect">
            <a:avLst/>
          </a:prstGeom>
        </p:spPr>
      </p:pic>
      <p:pic>
        <p:nvPicPr>
          <p:cNvPr id="40" name="Image 38" descr="preencoded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838200" y="4991100"/>
            <a:ext cx="4953000" cy="266700"/>
          </a:xfrm>
          <a:prstGeom prst="rect">
            <a:avLst/>
          </a:prstGeom>
        </p:spPr>
      </p:pic>
      <p:pic>
        <p:nvPicPr>
          <p:cNvPr id="41" name="Image 39" descr="preencoded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6172200" y="3848100"/>
            <a:ext cx="5410200" cy="2781300"/>
          </a:xfrm>
          <a:prstGeom prst="rect">
            <a:avLst/>
          </a:prstGeom>
        </p:spPr>
      </p:pic>
      <p:pic>
        <p:nvPicPr>
          <p:cNvPr id="42" name="Image 40" descr="preencoded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6172200" y="3848100"/>
            <a:ext cx="5410200" cy="381000"/>
          </a:xfrm>
          <a:prstGeom prst="rect">
            <a:avLst/>
          </a:prstGeom>
        </p:spPr>
      </p:pic>
      <p:pic>
        <p:nvPicPr>
          <p:cNvPr id="43" name="Image 41" descr="preencoded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6248400" y="3962400"/>
            <a:ext cx="190500" cy="152400"/>
          </a:xfrm>
          <a:prstGeom prst="rect">
            <a:avLst/>
          </a:prstGeom>
        </p:spPr>
      </p:pic>
      <p:pic>
        <p:nvPicPr>
          <p:cNvPr id="44" name="Image 42" descr="preencoded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6286500" y="4343400"/>
            <a:ext cx="476250" cy="342900"/>
          </a:xfrm>
          <a:prstGeom prst="rect">
            <a:avLst/>
          </a:prstGeom>
        </p:spPr>
      </p:pic>
      <p:pic>
        <p:nvPicPr>
          <p:cNvPr id="45" name="Image 43" descr="preencoded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6362700" y="4419600"/>
            <a:ext cx="133350" cy="190500"/>
          </a:xfrm>
          <a:prstGeom prst="rect">
            <a:avLst/>
          </a:prstGeom>
        </p:spPr>
      </p:pic>
      <p:pic>
        <p:nvPicPr>
          <p:cNvPr id="46" name="Image 44" descr="preencoded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6572250" y="4438650"/>
            <a:ext cx="114300" cy="152400"/>
          </a:xfrm>
          <a:prstGeom prst="rect">
            <a:avLst/>
          </a:prstGeom>
        </p:spPr>
      </p:pic>
      <p:pic>
        <p:nvPicPr>
          <p:cNvPr id="47" name="Image 45" descr="preencoded.pn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6838950" y="4343400"/>
            <a:ext cx="1116062" cy="342900"/>
          </a:xfrm>
          <a:prstGeom prst="rect">
            <a:avLst/>
          </a:prstGeom>
        </p:spPr>
      </p:pic>
      <p:pic>
        <p:nvPicPr>
          <p:cNvPr id="48" name="Image 46" descr="preencoded.png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6915150" y="4419600"/>
            <a:ext cx="123825" cy="190500"/>
          </a:xfrm>
          <a:prstGeom prst="rect">
            <a:avLst/>
          </a:prstGeom>
        </p:spPr>
      </p:pic>
      <p:pic>
        <p:nvPicPr>
          <p:cNvPr id="49" name="Image 47" descr="preencoded.png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6286500" y="4762500"/>
            <a:ext cx="5181600" cy="266700"/>
          </a:xfrm>
          <a:prstGeom prst="rect">
            <a:avLst/>
          </a:prstGeom>
        </p:spPr>
      </p:pic>
      <p:pic>
        <p:nvPicPr>
          <p:cNvPr id="50" name="Image 48" descr="preencoded.png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6286500" y="5029200"/>
            <a:ext cx="5181600" cy="266700"/>
          </a:xfrm>
          <a:prstGeom prst="rect">
            <a:avLst/>
          </a:prstGeom>
        </p:spPr>
      </p:pic>
      <p:pic>
        <p:nvPicPr>
          <p:cNvPr id="51" name="Image 49" descr="preencoded.png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6286500" y="5295900"/>
            <a:ext cx="5181600" cy="266700"/>
          </a:xfrm>
          <a:prstGeom prst="rect">
            <a:avLst/>
          </a:prstGeom>
        </p:spPr>
      </p:pic>
      <p:pic>
        <p:nvPicPr>
          <p:cNvPr id="52" name="Image 50" descr="preencoded.png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0" y="6781800"/>
            <a:ext cx="12192000" cy="76200"/>
          </a:xfrm>
          <a:prstGeom prst="rect">
            <a:avLst/>
          </a:prstGeom>
        </p:spPr>
      </p:pic>
      <p:sp>
        <p:nvSpPr>
          <p:cNvPr id="54" name="Text 0"/>
          <p:cNvSpPr/>
          <p:nvPr/>
        </p:nvSpPr>
        <p:spPr>
          <a:xfrm>
            <a:off x="609600" y="304800"/>
            <a:ext cx="109728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HR DASHBOARD</a:t>
            </a:r>
            <a:endParaRPr lang="en-US" sz="2700" dirty="0"/>
          </a:p>
        </p:txBody>
      </p:sp>
      <p:sp>
        <p:nvSpPr>
          <p:cNvPr id="55" name="Text 1"/>
          <p:cNvSpPr/>
          <p:nvPr/>
        </p:nvSpPr>
        <p:spPr>
          <a:xfrm>
            <a:off x="971550" y="990600"/>
            <a:ext cx="237761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HR Dashboard - Main Menu</a:t>
            </a:r>
            <a:endParaRPr lang="en-US" sz="1200" dirty="0"/>
          </a:p>
        </p:txBody>
      </p:sp>
      <p:sp>
        <p:nvSpPr>
          <p:cNvPr id="56" name="Text 2"/>
          <p:cNvSpPr/>
          <p:nvPr/>
        </p:nvSpPr>
        <p:spPr>
          <a:xfrm>
            <a:off x="1317427" y="1790700"/>
            <a:ext cx="58703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Invoices</a:t>
            </a:r>
            <a:endParaRPr lang="en-US" sz="1050" dirty="0"/>
          </a:p>
        </p:txBody>
      </p:sp>
      <p:sp>
        <p:nvSpPr>
          <p:cNvPr id="57" name="Text 3"/>
          <p:cNvSpPr/>
          <p:nvPr/>
        </p:nvSpPr>
        <p:spPr>
          <a:xfrm>
            <a:off x="3081189" y="1790700"/>
            <a:ext cx="560427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Reports</a:t>
            </a:r>
            <a:endParaRPr lang="en-US" sz="1050" dirty="0"/>
          </a:p>
        </p:txBody>
      </p:sp>
      <p:sp>
        <p:nvSpPr>
          <p:cNvPr id="58" name="Text 4"/>
          <p:cNvSpPr/>
          <p:nvPr/>
        </p:nvSpPr>
        <p:spPr>
          <a:xfrm>
            <a:off x="4789289" y="1790700"/>
            <a:ext cx="66704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Lecturers</a:t>
            </a:r>
            <a:endParaRPr lang="en-US" sz="1050" dirty="0"/>
          </a:p>
        </p:txBody>
      </p:sp>
      <p:sp>
        <p:nvSpPr>
          <p:cNvPr id="59" name="Text 5"/>
          <p:cNvSpPr/>
          <p:nvPr/>
        </p:nvSpPr>
        <p:spPr>
          <a:xfrm>
            <a:off x="800100" y="2247900"/>
            <a:ext cx="1200507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Pending Claims</a:t>
            </a:r>
            <a:endParaRPr lang="en-US" sz="1050" dirty="0"/>
          </a:p>
        </p:txBody>
      </p:sp>
      <p:sp>
        <p:nvSpPr>
          <p:cNvPr id="60" name="Text 6"/>
          <p:cNvSpPr/>
          <p:nvPr/>
        </p:nvSpPr>
        <p:spPr>
          <a:xfrm>
            <a:off x="5689402" y="2247900"/>
            <a:ext cx="25931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900" dirty="0"/>
          </a:p>
        </p:txBody>
      </p:sp>
      <p:sp>
        <p:nvSpPr>
          <p:cNvPr id="61" name="Text 7"/>
          <p:cNvSpPr/>
          <p:nvPr/>
        </p:nvSpPr>
        <p:spPr>
          <a:xfrm>
            <a:off x="800100" y="2781300"/>
            <a:ext cx="170717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Processed This Month</a:t>
            </a:r>
            <a:endParaRPr lang="en-US" sz="1050" dirty="0"/>
          </a:p>
        </p:txBody>
      </p:sp>
      <p:sp>
        <p:nvSpPr>
          <p:cNvPr id="62" name="Text 8"/>
          <p:cNvSpPr/>
          <p:nvPr/>
        </p:nvSpPr>
        <p:spPr>
          <a:xfrm>
            <a:off x="5625852" y="2781300"/>
            <a:ext cx="33557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28</a:t>
            </a:r>
            <a:endParaRPr lang="en-US" sz="900" dirty="0"/>
          </a:p>
        </p:txBody>
      </p:sp>
      <p:sp>
        <p:nvSpPr>
          <p:cNvPr id="63" name="Text 9"/>
          <p:cNvSpPr/>
          <p:nvPr/>
        </p:nvSpPr>
        <p:spPr>
          <a:xfrm>
            <a:off x="6515100" y="990600"/>
            <a:ext cx="173110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Reports &amp; Analytics</a:t>
            </a:r>
            <a:endParaRPr lang="en-US" sz="1200" dirty="0"/>
          </a:p>
        </p:txBody>
      </p:sp>
      <p:sp>
        <p:nvSpPr>
          <p:cNvPr id="64" name="Text 10"/>
          <p:cNvSpPr/>
          <p:nvPr/>
        </p:nvSpPr>
        <p:spPr>
          <a:xfrm>
            <a:off x="6362700" y="2390775"/>
            <a:ext cx="1289625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Claims by Status</a:t>
            </a:r>
            <a:endParaRPr lang="en-US" sz="1050" dirty="0"/>
          </a:p>
        </p:txBody>
      </p:sp>
      <p:sp>
        <p:nvSpPr>
          <p:cNvPr id="65" name="Text 11"/>
          <p:cNvSpPr/>
          <p:nvPr/>
        </p:nvSpPr>
        <p:spPr>
          <a:xfrm>
            <a:off x="6362700" y="2628900"/>
            <a:ext cx="587216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Approved</a:t>
            </a:r>
            <a:endParaRPr lang="en-US" sz="900" dirty="0"/>
          </a:p>
        </p:txBody>
      </p:sp>
      <p:sp>
        <p:nvSpPr>
          <p:cNvPr id="66" name="Text 12"/>
          <p:cNvSpPr/>
          <p:nvPr/>
        </p:nvSpPr>
        <p:spPr>
          <a:xfrm>
            <a:off x="8635752" y="2628900"/>
            <a:ext cx="152698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22</a:t>
            </a:r>
            <a:endParaRPr lang="en-US" sz="900" dirty="0"/>
          </a:p>
        </p:txBody>
      </p:sp>
      <p:sp>
        <p:nvSpPr>
          <p:cNvPr id="67" name="Text 13"/>
          <p:cNvSpPr/>
          <p:nvPr/>
        </p:nvSpPr>
        <p:spPr>
          <a:xfrm>
            <a:off x="6362700" y="2914650"/>
            <a:ext cx="503456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Pending</a:t>
            </a:r>
            <a:endParaRPr lang="en-US" sz="900" dirty="0"/>
          </a:p>
        </p:txBody>
      </p:sp>
      <p:sp>
        <p:nvSpPr>
          <p:cNvPr id="68" name="Text 14"/>
          <p:cNvSpPr/>
          <p:nvPr/>
        </p:nvSpPr>
        <p:spPr>
          <a:xfrm>
            <a:off x="8699302" y="2914650"/>
            <a:ext cx="76438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900" dirty="0"/>
          </a:p>
        </p:txBody>
      </p:sp>
      <p:sp>
        <p:nvSpPr>
          <p:cNvPr id="69" name="Text 15"/>
          <p:cNvSpPr/>
          <p:nvPr/>
        </p:nvSpPr>
        <p:spPr>
          <a:xfrm>
            <a:off x="8991600" y="2390775"/>
            <a:ext cx="1467505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Financial Summary</a:t>
            </a:r>
            <a:endParaRPr lang="en-US" sz="1050" dirty="0"/>
          </a:p>
        </p:txBody>
      </p:sp>
      <p:sp>
        <p:nvSpPr>
          <p:cNvPr id="70" name="Text 16"/>
          <p:cNvSpPr/>
          <p:nvPr/>
        </p:nvSpPr>
        <p:spPr>
          <a:xfrm>
            <a:off x="9239250" y="2628900"/>
            <a:ext cx="1242834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Processed: R25,480</a:t>
            </a:r>
            <a:endParaRPr lang="en-US" sz="900" dirty="0"/>
          </a:p>
        </p:txBody>
      </p:sp>
      <p:sp>
        <p:nvSpPr>
          <p:cNvPr id="71" name="Text 17"/>
          <p:cNvSpPr/>
          <p:nvPr/>
        </p:nvSpPr>
        <p:spPr>
          <a:xfrm>
            <a:off x="9182100" y="2819400"/>
            <a:ext cx="1105674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Invoiced: R22,750</a:t>
            </a:r>
            <a:endParaRPr lang="en-US" sz="900" dirty="0"/>
          </a:p>
        </p:txBody>
      </p:sp>
      <p:sp>
        <p:nvSpPr>
          <p:cNvPr id="72" name="Text 18"/>
          <p:cNvSpPr/>
          <p:nvPr/>
        </p:nvSpPr>
        <p:spPr>
          <a:xfrm>
            <a:off x="9220200" y="3009900"/>
            <a:ext cx="1331774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Avg. Processing: 2.5d</a:t>
            </a:r>
            <a:endParaRPr lang="en-US" sz="900" dirty="0"/>
          </a:p>
        </p:txBody>
      </p:sp>
      <p:sp>
        <p:nvSpPr>
          <p:cNvPr id="73" name="Text 19"/>
          <p:cNvSpPr/>
          <p:nvPr/>
        </p:nvSpPr>
        <p:spPr>
          <a:xfrm>
            <a:off x="914400" y="3924300"/>
            <a:ext cx="158555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Generated Invoice</a:t>
            </a:r>
            <a:endParaRPr lang="en-US" sz="1200" dirty="0"/>
          </a:p>
        </p:txBody>
      </p:sp>
      <p:sp>
        <p:nvSpPr>
          <p:cNvPr id="74" name="Text 20"/>
          <p:cNvSpPr/>
          <p:nvPr/>
        </p:nvSpPr>
        <p:spPr>
          <a:xfrm>
            <a:off x="838200" y="4505325"/>
            <a:ext cx="1448752" cy="1333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Invoice #HR-2023-0847</a:t>
            </a:r>
            <a:endParaRPr lang="en-US" sz="900" dirty="0"/>
          </a:p>
        </p:txBody>
      </p:sp>
      <p:sp>
        <p:nvSpPr>
          <p:cNvPr id="75" name="Text 21"/>
          <p:cNvSpPr/>
          <p:nvPr/>
        </p:nvSpPr>
        <p:spPr>
          <a:xfrm>
            <a:off x="1047750" y="4724400"/>
            <a:ext cx="952083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Aug 15, 2023</a:t>
            </a:r>
            <a:endParaRPr lang="en-US" sz="1050" dirty="0"/>
          </a:p>
        </p:txBody>
      </p:sp>
      <p:sp>
        <p:nvSpPr>
          <p:cNvPr id="76" name="Text 22"/>
          <p:cNvSpPr/>
          <p:nvPr/>
        </p:nvSpPr>
        <p:spPr>
          <a:xfrm>
            <a:off x="5051465" y="4505325"/>
            <a:ext cx="739735" cy="1333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2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Status: Paid</a:t>
            </a:r>
            <a:endParaRPr lang="en-US" sz="900" dirty="0"/>
          </a:p>
        </p:txBody>
      </p:sp>
      <p:sp>
        <p:nvSpPr>
          <p:cNvPr id="77" name="Text 23"/>
          <p:cNvSpPr/>
          <p:nvPr/>
        </p:nvSpPr>
        <p:spPr>
          <a:xfrm>
            <a:off x="4839117" y="4724400"/>
            <a:ext cx="952083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Aug 15, 2023</a:t>
            </a:r>
            <a:endParaRPr lang="en-US" sz="1050" dirty="0"/>
          </a:p>
        </p:txBody>
      </p:sp>
      <p:sp>
        <p:nvSpPr>
          <p:cNvPr id="78" name="Text 24"/>
          <p:cNvSpPr/>
          <p:nvPr/>
        </p:nvSpPr>
        <p:spPr>
          <a:xfrm>
            <a:off x="847725" y="4991100"/>
            <a:ext cx="1840557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Description</a:t>
            </a:r>
            <a:endParaRPr lang="en-US" sz="1050" dirty="0"/>
          </a:p>
        </p:txBody>
      </p:sp>
      <p:sp>
        <p:nvSpPr>
          <p:cNvPr id="79" name="Text 25"/>
          <p:cNvSpPr/>
          <p:nvPr/>
        </p:nvSpPr>
        <p:spPr>
          <a:xfrm>
            <a:off x="2524958" y="4991100"/>
            <a:ext cx="922794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Hours</a:t>
            </a:r>
            <a:endParaRPr lang="en-US" sz="1050" dirty="0"/>
          </a:p>
        </p:txBody>
      </p:sp>
      <p:sp>
        <p:nvSpPr>
          <p:cNvPr id="80" name="Text 26"/>
          <p:cNvSpPr/>
          <p:nvPr/>
        </p:nvSpPr>
        <p:spPr>
          <a:xfrm>
            <a:off x="3447752" y="4991100"/>
            <a:ext cx="995214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Rate</a:t>
            </a:r>
            <a:endParaRPr lang="en-US" sz="1050" dirty="0"/>
          </a:p>
        </p:txBody>
      </p:sp>
      <p:sp>
        <p:nvSpPr>
          <p:cNvPr id="81" name="Text 27"/>
          <p:cNvSpPr/>
          <p:nvPr/>
        </p:nvSpPr>
        <p:spPr>
          <a:xfrm>
            <a:off x="4442966" y="4991100"/>
            <a:ext cx="1348234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Amount</a:t>
            </a:r>
            <a:endParaRPr lang="en-US" sz="1050" dirty="0"/>
          </a:p>
        </p:txBody>
      </p:sp>
      <p:sp>
        <p:nvSpPr>
          <p:cNvPr id="82" name="Text 28"/>
          <p:cNvSpPr/>
          <p:nvPr/>
        </p:nvSpPr>
        <p:spPr>
          <a:xfrm>
            <a:off x="847725" y="5257800"/>
            <a:ext cx="220866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Contract Claims</a:t>
            </a:r>
            <a:endParaRPr lang="en-US" sz="1050" dirty="0"/>
          </a:p>
        </p:txBody>
      </p:sp>
      <p:sp>
        <p:nvSpPr>
          <p:cNvPr id="83" name="Text 29"/>
          <p:cNvSpPr/>
          <p:nvPr/>
        </p:nvSpPr>
        <p:spPr>
          <a:xfrm>
            <a:off x="2524958" y="5257800"/>
            <a:ext cx="922794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42.5</a:t>
            </a:r>
            <a:endParaRPr lang="en-US" sz="1050" dirty="0"/>
          </a:p>
        </p:txBody>
      </p:sp>
      <p:sp>
        <p:nvSpPr>
          <p:cNvPr id="84" name="Text 30"/>
          <p:cNvSpPr/>
          <p:nvPr/>
        </p:nvSpPr>
        <p:spPr>
          <a:xfrm>
            <a:off x="3248710" y="5257800"/>
            <a:ext cx="119425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R450.00</a:t>
            </a:r>
            <a:endParaRPr lang="en-US" sz="1050" dirty="0"/>
          </a:p>
        </p:txBody>
      </p:sp>
      <p:sp>
        <p:nvSpPr>
          <p:cNvPr id="85" name="Text 31"/>
          <p:cNvSpPr/>
          <p:nvPr/>
        </p:nvSpPr>
        <p:spPr>
          <a:xfrm>
            <a:off x="4173319" y="5257800"/>
            <a:ext cx="161788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R19,125.00</a:t>
            </a:r>
            <a:endParaRPr lang="en-US" sz="1050" dirty="0"/>
          </a:p>
        </p:txBody>
      </p:sp>
      <p:sp>
        <p:nvSpPr>
          <p:cNvPr id="86" name="Text 32"/>
          <p:cNvSpPr/>
          <p:nvPr/>
        </p:nvSpPr>
        <p:spPr>
          <a:xfrm>
            <a:off x="847725" y="5524500"/>
            <a:ext cx="1840557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Overtime</a:t>
            </a:r>
            <a:endParaRPr lang="en-US" sz="1050" dirty="0"/>
          </a:p>
        </p:txBody>
      </p:sp>
      <p:sp>
        <p:nvSpPr>
          <p:cNvPr id="87" name="Text 33"/>
          <p:cNvSpPr/>
          <p:nvPr/>
        </p:nvSpPr>
        <p:spPr>
          <a:xfrm>
            <a:off x="2678757" y="5524500"/>
            <a:ext cx="76899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5.0</a:t>
            </a:r>
            <a:endParaRPr lang="en-US" sz="1050" dirty="0"/>
          </a:p>
        </p:txBody>
      </p:sp>
      <p:sp>
        <p:nvSpPr>
          <p:cNvPr id="88" name="Text 34"/>
          <p:cNvSpPr/>
          <p:nvPr/>
        </p:nvSpPr>
        <p:spPr>
          <a:xfrm>
            <a:off x="3248710" y="5524500"/>
            <a:ext cx="119425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R675.00</a:t>
            </a:r>
            <a:endParaRPr lang="en-US" sz="1050" dirty="0"/>
          </a:p>
        </p:txBody>
      </p:sp>
      <p:sp>
        <p:nvSpPr>
          <p:cNvPr id="89" name="Text 35"/>
          <p:cNvSpPr/>
          <p:nvPr/>
        </p:nvSpPr>
        <p:spPr>
          <a:xfrm>
            <a:off x="4173319" y="5524500"/>
            <a:ext cx="161788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R3,375.00</a:t>
            </a:r>
            <a:endParaRPr lang="en-US" sz="1050" dirty="0"/>
          </a:p>
        </p:txBody>
      </p:sp>
      <p:sp>
        <p:nvSpPr>
          <p:cNvPr id="90" name="Text 36"/>
          <p:cNvSpPr/>
          <p:nvPr/>
        </p:nvSpPr>
        <p:spPr>
          <a:xfrm>
            <a:off x="4715887" y="5876925"/>
            <a:ext cx="1075313" cy="1333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2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Total: </a:t>
            </a: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R22,500.00</a:t>
            </a:r>
            <a:endParaRPr lang="en-US" sz="900" dirty="0"/>
          </a:p>
        </p:txBody>
      </p:sp>
      <p:sp>
        <p:nvSpPr>
          <p:cNvPr id="91" name="Text 37"/>
          <p:cNvSpPr/>
          <p:nvPr/>
        </p:nvSpPr>
        <p:spPr>
          <a:xfrm>
            <a:off x="6553200" y="3924300"/>
            <a:ext cx="1900416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Lecturer Management</a:t>
            </a:r>
            <a:endParaRPr lang="en-US" sz="1200" dirty="0"/>
          </a:p>
        </p:txBody>
      </p:sp>
      <p:sp>
        <p:nvSpPr>
          <p:cNvPr id="92" name="Text 38"/>
          <p:cNvSpPr/>
          <p:nvPr/>
        </p:nvSpPr>
        <p:spPr>
          <a:xfrm>
            <a:off x="7115175" y="4419600"/>
            <a:ext cx="91636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Lecturer</a:t>
            </a:r>
            <a:endParaRPr lang="en-US" sz="1050" dirty="0"/>
          </a:p>
        </p:txBody>
      </p:sp>
      <p:sp>
        <p:nvSpPr>
          <p:cNvPr id="93" name="Text 39"/>
          <p:cNvSpPr/>
          <p:nvPr/>
        </p:nvSpPr>
        <p:spPr>
          <a:xfrm>
            <a:off x="6296025" y="4762500"/>
            <a:ext cx="138038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Name</a:t>
            </a:r>
            <a:endParaRPr lang="en-US" sz="1050" dirty="0"/>
          </a:p>
        </p:txBody>
      </p:sp>
      <p:sp>
        <p:nvSpPr>
          <p:cNvPr id="94" name="Text 40"/>
          <p:cNvSpPr/>
          <p:nvPr/>
        </p:nvSpPr>
        <p:spPr>
          <a:xfrm>
            <a:off x="7676406" y="4762500"/>
            <a:ext cx="2261592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Email</a:t>
            </a:r>
            <a:endParaRPr lang="en-US" sz="1050" dirty="0"/>
          </a:p>
        </p:txBody>
      </p:sp>
      <p:sp>
        <p:nvSpPr>
          <p:cNvPr id="95" name="Text 41"/>
          <p:cNvSpPr/>
          <p:nvPr/>
        </p:nvSpPr>
        <p:spPr>
          <a:xfrm>
            <a:off x="9937998" y="4762500"/>
            <a:ext cx="1022092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Status</a:t>
            </a:r>
            <a:endParaRPr lang="en-US" sz="1050" dirty="0"/>
          </a:p>
        </p:txBody>
      </p:sp>
      <p:sp>
        <p:nvSpPr>
          <p:cNvPr id="96" name="Text 42"/>
          <p:cNvSpPr/>
          <p:nvPr/>
        </p:nvSpPr>
        <p:spPr>
          <a:xfrm>
            <a:off x="10642640" y="4762500"/>
            <a:ext cx="8254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Claims</a:t>
            </a:r>
            <a:endParaRPr lang="en-US" sz="1050" dirty="0"/>
          </a:p>
        </p:txBody>
      </p:sp>
      <p:sp>
        <p:nvSpPr>
          <p:cNvPr id="97" name="Text 43"/>
          <p:cNvSpPr/>
          <p:nvPr/>
        </p:nvSpPr>
        <p:spPr>
          <a:xfrm>
            <a:off x="6296025" y="5029200"/>
            <a:ext cx="1656457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John Smith</a:t>
            </a:r>
            <a:endParaRPr lang="en-US" sz="1050" dirty="0"/>
          </a:p>
        </p:txBody>
      </p:sp>
      <p:sp>
        <p:nvSpPr>
          <p:cNvPr id="98" name="Text 44"/>
          <p:cNvSpPr/>
          <p:nvPr/>
        </p:nvSpPr>
        <p:spPr>
          <a:xfrm>
            <a:off x="7676406" y="5029200"/>
            <a:ext cx="271391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jsmith@university.edu</a:t>
            </a:r>
            <a:endParaRPr lang="en-US" sz="1050" dirty="0"/>
          </a:p>
        </p:txBody>
      </p:sp>
      <p:sp>
        <p:nvSpPr>
          <p:cNvPr id="99" name="Text 45"/>
          <p:cNvSpPr/>
          <p:nvPr/>
        </p:nvSpPr>
        <p:spPr>
          <a:xfrm>
            <a:off x="10014198" y="5086350"/>
            <a:ext cx="556498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86EFAC"/>
                </a:solidFill>
                <a:highlight>
                  <a:srgbClr val="22C55E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Active</a:t>
            </a:r>
            <a:endParaRPr lang="en-US" sz="900" dirty="0"/>
          </a:p>
        </p:txBody>
      </p:sp>
      <p:sp>
        <p:nvSpPr>
          <p:cNvPr id="100" name="Text 46"/>
          <p:cNvSpPr/>
          <p:nvPr/>
        </p:nvSpPr>
        <p:spPr>
          <a:xfrm>
            <a:off x="10780216" y="5029200"/>
            <a:ext cx="687884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050" dirty="0"/>
          </a:p>
        </p:txBody>
      </p:sp>
      <p:sp>
        <p:nvSpPr>
          <p:cNvPr id="101" name="Text 47"/>
          <p:cNvSpPr/>
          <p:nvPr/>
        </p:nvSpPr>
        <p:spPr>
          <a:xfrm>
            <a:off x="6296025" y="5295900"/>
            <a:ext cx="1656457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Sarah Johnson</a:t>
            </a:r>
            <a:endParaRPr lang="en-US" sz="1050" dirty="0"/>
          </a:p>
        </p:txBody>
      </p:sp>
      <p:sp>
        <p:nvSpPr>
          <p:cNvPr id="102" name="Text 48"/>
          <p:cNvSpPr/>
          <p:nvPr/>
        </p:nvSpPr>
        <p:spPr>
          <a:xfrm>
            <a:off x="7676406" y="5295900"/>
            <a:ext cx="271391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sjohnson@university.edu</a:t>
            </a:r>
            <a:endParaRPr lang="en-US" sz="1050" dirty="0"/>
          </a:p>
        </p:txBody>
      </p:sp>
      <p:sp>
        <p:nvSpPr>
          <p:cNvPr id="103" name="Text 49"/>
          <p:cNvSpPr/>
          <p:nvPr/>
        </p:nvSpPr>
        <p:spPr>
          <a:xfrm>
            <a:off x="10014198" y="5353050"/>
            <a:ext cx="556498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86EFAC"/>
                </a:solidFill>
                <a:highlight>
                  <a:srgbClr val="22C55E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Active</a:t>
            </a:r>
            <a:endParaRPr lang="en-US" sz="900" dirty="0"/>
          </a:p>
        </p:txBody>
      </p:sp>
      <p:sp>
        <p:nvSpPr>
          <p:cNvPr id="104" name="Text 50"/>
          <p:cNvSpPr/>
          <p:nvPr/>
        </p:nvSpPr>
        <p:spPr>
          <a:xfrm>
            <a:off x="10780216" y="5295900"/>
            <a:ext cx="687884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050" dirty="0"/>
          </a:p>
        </p:txBody>
      </p:sp>
      <p:sp>
        <p:nvSpPr>
          <p:cNvPr id="105" name="Text 51"/>
          <p:cNvSpPr/>
          <p:nvPr/>
        </p:nvSpPr>
        <p:spPr>
          <a:xfrm>
            <a:off x="6296025" y="5562600"/>
            <a:ext cx="1656457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Michael Chen</a:t>
            </a:r>
            <a:endParaRPr lang="en-US" sz="1050" dirty="0"/>
          </a:p>
        </p:txBody>
      </p:sp>
      <p:sp>
        <p:nvSpPr>
          <p:cNvPr id="106" name="Text 52"/>
          <p:cNvSpPr/>
          <p:nvPr/>
        </p:nvSpPr>
        <p:spPr>
          <a:xfrm>
            <a:off x="7676406" y="5562600"/>
            <a:ext cx="271391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mchen@university.edu</a:t>
            </a:r>
            <a:endParaRPr lang="en-US" sz="1050" dirty="0"/>
          </a:p>
        </p:txBody>
      </p:sp>
      <p:sp>
        <p:nvSpPr>
          <p:cNvPr id="107" name="Text 53"/>
          <p:cNvSpPr/>
          <p:nvPr/>
        </p:nvSpPr>
        <p:spPr>
          <a:xfrm>
            <a:off x="10014198" y="5619750"/>
            <a:ext cx="655618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FDE047"/>
                </a:solidFill>
                <a:highlight>
                  <a:srgbClr val="EAB308"/>
                </a:highlight>
                <a:latin typeface="Segoe UI" pitchFamily="34" charset="0"/>
                <a:ea typeface="Segoe UI" pitchFamily="34" charset="-122"/>
                <a:cs typeface="Segoe UI" pitchFamily="34" charset="-120"/>
              </a:rPr>
              <a:t>Inactive</a:t>
            </a:r>
            <a:endParaRPr lang="en-US" sz="900" dirty="0"/>
          </a:p>
        </p:txBody>
      </p:sp>
      <p:sp>
        <p:nvSpPr>
          <p:cNvPr id="108" name="Text 54"/>
          <p:cNvSpPr/>
          <p:nvPr/>
        </p:nvSpPr>
        <p:spPr>
          <a:xfrm>
            <a:off x="10780216" y="5562600"/>
            <a:ext cx="687884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1676400"/>
            <a:ext cx="257175" cy="2286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114550"/>
            <a:ext cx="381000" cy="381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6300" y="2228850"/>
            <a:ext cx="152400" cy="152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2950" y="2743919"/>
            <a:ext cx="381000" cy="3810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7250" y="2858219"/>
            <a:ext cx="152400" cy="152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0" y="2057400"/>
            <a:ext cx="5029200" cy="7239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0" y="2857500"/>
            <a:ext cx="5029200" cy="7239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0" y="3648075"/>
            <a:ext cx="5029200" cy="7239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2000" y="6286500"/>
            <a:ext cx="381000" cy="3810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7250" y="6400800"/>
            <a:ext cx="190500" cy="1524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6781800"/>
            <a:ext cx="12192000" cy="76200"/>
          </a:xfrm>
          <a:prstGeom prst="rect">
            <a:avLst/>
          </a:prstGeom>
        </p:spPr>
      </p:pic>
      <p:sp>
        <p:nvSpPr>
          <p:cNvPr id="24" name="Text 0"/>
          <p:cNvSpPr/>
          <p:nvPr/>
        </p:nvSpPr>
        <p:spPr>
          <a:xfrm>
            <a:off x="762000" y="381000"/>
            <a:ext cx="10668000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4500"/>
              </a:lnSpc>
              <a:buNone/>
            </a:pPr>
            <a:r>
              <a:rPr lang="en-US" sz="4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</a:t>
            </a:r>
            <a:endParaRPr lang="en-US" sz="4500" dirty="0"/>
          </a:p>
        </p:txBody>
      </p:sp>
      <p:sp>
        <p:nvSpPr>
          <p:cNvPr id="25" name="Text 1"/>
          <p:cNvSpPr/>
          <p:nvPr/>
        </p:nvSpPr>
        <p:spPr>
          <a:xfrm>
            <a:off x="762000" y="1028700"/>
            <a:ext cx="106680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endParaRPr lang="en-US" sz="2250" dirty="0"/>
          </a:p>
        </p:txBody>
      </p:sp>
      <p:sp>
        <p:nvSpPr>
          <p:cNvPr id="26" name="Text 2"/>
          <p:cNvSpPr/>
          <p:nvPr/>
        </p:nvSpPr>
        <p:spPr>
          <a:xfrm>
            <a:off x="1133475" y="1638300"/>
            <a:ext cx="603504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Contact Information</a:t>
            </a:r>
            <a:endParaRPr lang="en-US" sz="1800" dirty="0"/>
          </a:p>
        </p:txBody>
      </p:sp>
      <p:sp>
        <p:nvSpPr>
          <p:cNvPr id="27" name="Text 3"/>
          <p:cNvSpPr/>
          <p:nvPr/>
        </p:nvSpPr>
        <p:spPr>
          <a:xfrm>
            <a:off x="1295400" y="2057400"/>
            <a:ext cx="183222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Email</a:t>
            </a:r>
            <a:endParaRPr lang="en-US" sz="1500" dirty="0"/>
          </a:p>
        </p:txBody>
      </p:sp>
      <p:sp>
        <p:nvSpPr>
          <p:cNvPr id="28" name="Text 4"/>
          <p:cNvSpPr/>
          <p:nvPr/>
        </p:nvSpPr>
        <p:spPr>
          <a:xfrm>
            <a:off x="1295400" y="2324100"/>
            <a:ext cx="219866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ST10435330@vcconnect.edu.za</a:t>
            </a:r>
            <a:endParaRPr lang="en-US" sz="1200" dirty="0"/>
          </a:p>
        </p:txBody>
      </p:sp>
      <p:sp>
        <p:nvSpPr>
          <p:cNvPr id="31" name="Text 7"/>
          <p:cNvSpPr/>
          <p:nvPr/>
        </p:nvSpPr>
        <p:spPr>
          <a:xfrm>
            <a:off x="1295400" y="2675986"/>
            <a:ext cx="3040707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</a:t>
            </a:r>
            <a:endParaRPr lang="en-US" sz="1500" dirty="0"/>
          </a:p>
        </p:txBody>
      </p:sp>
      <p:sp>
        <p:nvSpPr>
          <p:cNvPr id="32" name="Text 8"/>
          <p:cNvSpPr/>
          <p:nvPr/>
        </p:nvSpPr>
        <p:spPr>
          <a:xfrm>
            <a:off x="1295400" y="3026074"/>
            <a:ext cx="4530658" cy="5238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en-US" sz="1200" u="sng" dirty="0">
                <a:solidFill>
                  <a:schemeClr val="bg1"/>
                </a:solidFill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https://github.com/ST10435330/LecturerClaimsSystem.git</a:t>
            </a:r>
            <a:br>
              <a:rPr lang="en-US" sz="1200" dirty="0">
                <a:solidFill>
                  <a:schemeClr val="bg1"/>
                </a:solidFill>
              </a:rPr>
            </a:b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34" name="Text 10"/>
          <p:cNvSpPr/>
          <p:nvPr/>
        </p:nvSpPr>
        <p:spPr>
          <a:xfrm>
            <a:off x="6743700" y="1638300"/>
            <a:ext cx="603504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 Login Credentials</a:t>
            </a:r>
            <a:endParaRPr lang="en-US" sz="1800" dirty="0"/>
          </a:p>
        </p:txBody>
      </p:sp>
      <p:sp>
        <p:nvSpPr>
          <p:cNvPr id="35" name="Text 11"/>
          <p:cNvSpPr/>
          <p:nvPr/>
        </p:nvSpPr>
        <p:spPr>
          <a:xfrm>
            <a:off x="6515100" y="2171700"/>
            <a:ext cx="4800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86EF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Lecturer</a:t>
            </a:r>
            <a:endParaRPr lang="en-US" sz="1350" dirty="0"/>
          </a:p>
        </p:txBody>
      </p:sp>
      <p:sp>
        <p:nvSpPr>
          <p:cNvPr id="36" name="Text 12"/>
          <p:cNvSpPr/>
          <p:nvPr/>
        </p:nvSpPr>
        <p:spPr>
          <a:xfrm>
            <a:off x="6515100" y="2438400"/>
            <a:ext cx="48006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lecturer1 / password123</a:t>
            </a:r>
            <a:endParaRPr lang="en-US" sz="1200" dirty="0"/>
          </a:p>
        </p:txBody>
      </p:sp>
      <p:sp>
        <p:nvSpPr>
          <p:cNvPr id="37" name="Text 13"/>
          <p:cNvSpPr/>
          <p:nvPr/>
        </p:nvSpPr>
        <p:spPr>
          <a:xfrm>
            <a:off x="6515100" y="2971800"/>
            <a:ext cx="4800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Coordinator</a:t>
            </a:r>
            <a:endParaRPr lang="en-US" sz="1350" dirty="0"/>
          </a:p>
        </p:txBody>
      </p:sp>
      <p:sp>
        <p:nvSpPr>
          <p:cNvPr id="38" name="Text 14"/>
          <p:cNvSpPr/>
          <p:nvPr/>
        </p:nvSpPr>
        <p:spPr>
          <a:xfrm>
            <a:off x="6515100" y="3238500"/>
            <a:ext cx="57607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coordinator1 / password123</a:t>
            </a:r>
            <a:endParaRPr lang="en-US" sz="1200" dirty="0"/>
          </a:p>
        </p:txBody>
      </p:sp>
      <p:sp>
        <p:nvSpPr>
          <p:cNvPr id="39" name="Text 15"/>
          <p:cNvSpPr/>
          <p:nvPr/>
        </p:nvSpPr>
        <p:spPr>
          <a:xfrm>
            <a:off x="6515100" y="3800475"/>
            <a:ext cx="4800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100"/>
              </a:lnSpc>
            </a:pPr>
            <a:r>
              <a:rPr lang="en-US" sz="1350" dirty="0">
                <a:solidFill>
                  <a:srgbClr val="D8B4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Manager</a:t>
            </a:r>
            <a:endParaRPr lang="en-US" sz="1350" dirty="0"/>
          </a:p>
        </p:txBody>
      </p:sp>
      <p:sp>
        <p:nvSpPr>
          <p:cNvPr id="40" name="Text 16"/>
          <p:cNvSpPr/>
          <p:nvPr/>
        </p:nvSpPr>
        <p:spPr>
          <a:xfrm>
            <a:off x="6515100" y="4078138"/>
            <a:ext cx="48006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en-US" sz="12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manager1 / password123</a:t>
            </a:r>
            <a:endParaRPr lang="en-US" sz="1200" dirty="0"/>
          </a:p>
        </p:txBody>
      </p:sp>
      <p:sp>
        <p:nvSpPr>
          <p:cNvPr id="41" name="Text 17"/>
          <p:cNvSpPr/>
          <p:nvPr/>
        </p:nvSpPr>
        <p:spPr>
          <a:xfrm>
            <a:off x="7010400" y="4610100"/>
            <a:ext cx="124515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endParaRPr lang="en-US" sz="1500" dirty="0"/>
          </a:p>
        </p:txBody>
      </p:sp>
      <p:sp>
        <p:nvSpPr>
          <p:cNvPr id="42" name="Text 18"/>
          <p:cNvSpPr/>
          <p:nvPr/>
        </p:nvSpPr>
        <p:spPr>
          <a:xfrm>
            <a:off x="7010400" y="4876800"/>
            <a:ext cx="1245156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endParaRPr lang="en-US" sz="1200" dirty="0"/>
          </a:p>
        </p:txBody>
      </p:sp>
      <p:sp>
        <p:nvSpPr>
          <p:cNvPr id="43" name="Text 19"/>
          <p:cNvSpPr/>
          <p:nvPr/>
        </p:nvSpPr>
        <p:spPr>
          <a:xfrm>
            <a:off x="1257300" y="6343650"/>
            <a:ext cx="429089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 welcome your questions and feedback</a:t>
            </a:r>
            <a:endParaRPr lang="en-US" sz="1500" dirty="0"/>
          </a:p>
        </p:txBody>
      </p:sp>
      <p:pic>
        <p:nvPicPr>
          <p:cNvPr id="47" name="Image 14" descr="preencoded.png">
            <a:extLst>
              <a:ext uri="{FF2B5EF4-FFF2-40B4-BE49-F238E27FC236}">
                <a16:creationId xmlns:a16="http://schemas.microsoft.com/office/drawing/2014/main" id="{546FF12F-924E-2144-6B31-C11AACFFB90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0" y="4457700"/>
            <a:ext cx="5029200" cy="723900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E41C22A0-76A4-82C4-E067-2FB94A2CC899}"/>
              </a:ext>
            </a:extLst>
          </p:cNvPr>
          <p:cNvSpPr txBox="1"/>
          <p:nvPr/>
        </p:nvSpPr>
        <p:spPr>
          <a:xfrm>
            <a:off x="6455192" y="4543425"/>
            <a:ext cx="4301948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50" dirty="0">
                <a:solidFill>
                  <a:srgbClr val="FFFF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HR</a:t>
            </a:r>
            <a:endParaRPr lang="en-US" sz="1350" dirty="0">
              <a:solidFill>
                <a:srgbClr val="FFFF00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F766EF3-A159-0022-729E-69BA5FFAEC30}"/>
              </a:ext>
            </a:extLst>
          </p:cNvPr>
          <p:cNvSpPr txBox="1"/>
          <p:nvPr/>
        </p:nvSpPr>
        <p:spPr>
          <a:xfrm>
            <a:off x="6455192" y="4782773"/>
            <a:ext cx="6418052" cy="304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</a:pPr>
            <a:r>
              <a:rPr lang="en-US" sz="12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hr1 / password123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1579</Words>
  <Application>Microsoft Office PowerPoint</Application>
  <PresentationFormat>Widescreen</PresentationFormat>
  <Paragraphs>564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Aptos</vt:lpstr>
      <vt:lpstr>Arial</vt:lpstr>
      <vt:lpstr>Segoe UI</vt:lpstr>
      <vt:lpstr>ui-sans-serif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Antonio Todor Bechev</cp:lastModifiedBy>
  <cp:revision>7</cp:revision>
  <dcterms:created xsi:type="dcterms:W3CDTF">2025-11-20T22:35:13Z</dcterms:created>
  <dcterms:modified xsi:type="dcterms:W3CDTF">2025-11-21T11:37:12Z</dcterms:modified>
</cp:coreProperties>
</file>